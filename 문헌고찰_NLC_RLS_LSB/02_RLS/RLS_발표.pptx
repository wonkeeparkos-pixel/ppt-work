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1605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BFD3E6"/>
                </a:solidFill>
                <a:latin typeface="NanumGothic"/>
                <a:ea typeface="NanumGothic"/>
              </a:rPr>
              <a:t>하지불안증후군 (Restless Legs Syndrome)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>병태생리 · 주된 호소 ·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>근거 기반 치료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1">
                <a:solidFill>
                  <a:srgbClr val="AFC6DF"/>
                </a:solidFill>
                <a:latin typeface="NanumGothic"/>
                <a:ea typeface="NanumGothic"/>
              </a:rPr>
              <a:t>Pathophysiology, Presentation, and Evidence-based Treatment (ESWT · Injection · Oral drugs)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구성: 병태생리 → 주된 호소 → 치료(ESWT · 주사 · 경구약제) →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NanumGothic"/>
                <a:ea typeface="NanumGothic"/>
              </a:rPr>
              <a:t>교육·연구 참고용. 개별 환자의 진단·처방 결정은 담당 의사의 판단에 따른다.  |  작성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뇌 철분 결핍(핵심): 혈청 철분이 정상이어도 흑질·기저핵 등 뇌 국소 철분이 부족 → 도파민 신호 이상.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도파민 이상: 야간 도파민 기능 저하 가설. 도파민제 단기 효과, 장기 사용 시 augmentation 유발.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아데노신 저하 가설(최근): 뇌 철분 결핍이 아데노신 신호를 낮춰 과흥분 유발 → dipyridamole의 근거.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유전(가족력 흔함)·이차 요인(철결핍·임신·말기신부전·특정 약물).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→ 치료의 기반은 철분 교정, 약물 축은 도파민에서 α2δ 리간드로 이동.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IRLSSG; AASM 2025 지침 방향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환자들의 주된 호소 — IRLSSG 2014 필수 5기준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임상 양상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① 다리를 움직이고 싶은 충동(대개 불쾌한 다리 감각 동반).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② 안정·비활동 시 시작·악화.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③ 움직임(걷기·스트레칭)으로 부분적·일시적 완화.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④ 저녁·밤에 악화되는 뚜렷한 일주기(circadian).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⑤ 다른 질환(다리경련 등)으로 더 잘 설명되지 않음(mimic 배제).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통증보다 이상감각이 주, 촉지되는 근경직 없음. PLMS 동반. 유병률 5~10%.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감별: NLC(통증성 근수축·근경직·족배굴곡 완화)와 구분.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2014(Sleep Med, IRLSSG)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개관 — 3축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총괄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926080"/>
                <a:gridCol w="3383280"/>
                <a:gridCol w="2697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치료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대표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RLS 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위치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ESWT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체외충격파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RLS 표적 연구 없음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권고 불가(비골신경자극 대안)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주사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IV 철분(FCM)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Earley 2024 RCT·메타분석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철결핍 시 강한 권고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보툴리눔 / 정맥경화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Mittal 2018 / Pyne 2023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연구단계 / 정맥질환 동반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경구약제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α2δ 리간드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Allen 2014 등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1차(강한 권고)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경구약제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도파민 작용제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Winkelman 2006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단기효과·augmentation로 후순위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경구약제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dipyridamole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Garcia-Borreguero 2021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조건부(신규)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AASM 2025 지침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① 체외충격파(ESWT)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ESWT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근거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B03A2E"/>
                </a:solidFill>
                <a:latin typeface="NanumGothic"/>
                <a:ea typeface="NanumGothic"/>
              </a:rPr>
              <a:t>RLS를 결과변수로 ESWT를 평가한 RCT·전향연구·증례는 검색되지 않음(직접 근거 없음).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ESWT의 확립된 근거는 근골격계 통증·경직 영역으로 RLS(뇌 철분·도파민·아데노신)와 병태가 다르다.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근거를 창작하지 않는다 → RLS에 ESWT는 권고할 수 없다.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근거 있는 대안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말초 비골신경 자극(TOMAC)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Charlesworth 2023: sham 대조에서 증상 개선·수면 무방해.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AASM 2025 조건부 권고.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→ 비약물이 필요하면 충격파가 아니라 비골신경 자극.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Charlesworth 2023(J Clin Sleep Med); AASM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② 주사 (1) 정맥 철분 — 근거 최강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뇌 철분 결핍을 직접 교정하는, RLS 주사 치료 중 근거 최강.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2E7D32"/>
                </a:solidFill>
                <a:latin typeface="NanumGothic"/>
                <a:ea typeface="NanumGothic"/>
              </a:rPr>
              <a:t>Earley 2024(Sleep) 다기관 RCT(n=209): FCM 750 mg(0·5일) vs 위약 → 42일 IRLS·CGI 유의 개선.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메타분석 2024(537명)도 효과·안전성 확인. AASM 2025 강한 권고.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안전: 일과성 저인산혈증 모니터링.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용량·적응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FCM 1000 mg 단회(또는 750 mg×2)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1시간 이내 점적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적응: ferritin ≤100 또는 경구 부적절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경구는 ferritin ≥75에서 흡수 미미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Earley 2024(Sleep); IRLSSG iron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② 주사 (2) 보툴리눔 · 정맥 경화요법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085272" y="365760"/>
            <a:ext cx="603503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5272" y="365760"/>
            <a:ext cx="60350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제한적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보툴리눔(Mittal 2018 이중맹검 교차 n=24): incoA 100U를 전경골근·비복근·대퇴이두근에 주사 → 4·6주 IRLS·통증(VAS) 유의 개선.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500" b="0" i="0">
                <a:solidFill>
                  <a:srgbClr val="5A6B7B"/>
                </a:solidFill>
                <a:latin typeface="NanumGothic"/>
                <a:ea typeface="NanumGothic"/>
              </a:rPr>
              <a:t>SR/MA(Healthcare 2021): RCT 2편 27명 IRLS SMD −0.819. 표본 매우 작아 확정 불가 → 표준치료 아님.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정맥 경화요법(정맥류/CVI 동반): Pyne 2023·Sundaresan 2019 → 하지정맥 치료 후 IRLS 19.83→7.89(약 63%↓).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두 방법 모두 특정 표현형·연구단계. 특발성 RLS 전반의 표준치료는 아님.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Mittal 2018(Toxins); Pyne 2023(JVIR); Sundaresan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③ 경구약제 (1) α2δ 리간드 — 1차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1차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gabapentin enacarbil·gabapentin·pregabalin. AASM 2025 1차 강한 권고.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2E7D32"/>
                </a:solidFill>
                <a:latin typeface="NanumGothic"/>
                <a:ea typeface="NanumGothic"/>
              </a:rPr>
              <a:t>Allen 2014(NEJM) 52주 RCT: pregabalin 300 mg 효과적, augmentation 1.7% vs pramipexole 9.0%.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Gabapentin enacarbil: Winkelman 2011(PSG) 각성·PLM 감소, Bogan 2010 장기 유지.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부작용: 어지럼·졸림·부종·체중증가. 고령·신기능 저하 시 감량.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왜 1차인가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도파민제보다 augmentation이 유의하게 적음.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수면·감각증상 함께 개선.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철분 교정과 병행이 기반.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2014(NEJM); AASM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치료 ③ 경구약제 (2) 도파민제·신규·요약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약제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090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6629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약물군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위치 · 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도파민 작용제(pramipexole·ropinirole·rotigotine)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단기 효능O(Winkelman 2006) — augmentation(연 7~10%)로 장기 권고 안 함(AASM 2025 against)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Dipyridamole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Garcia-Borreguero 2021 교차 RCT: IRLS 24.1→11.1(위약 18.7). 아데노신 가설, 조건부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오피오이드(서방형 oxycodone·부프레노르핀)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난치성·augmentation에 조건부. 진정·호흡 위험 신중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철분(경구)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ferritin ≤75에서 기반 치료. 흡수 부족 시 정맥 전환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AASM 2025(J Clin Sleep Med)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핵심 메시지 — 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철분 교정이 기반, α2δ 리간드가 1차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뇌 국소 철분 결핍 → 도파민·아데노신 신호 이상.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72384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35808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주된 호소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35808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움직임 충동·안정 시 악화·움직이면 완화·저녁 악화(IRLSSG 5기준). NLC와 감별.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85615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주사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5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IV 철분(FCM)이 근거 최강. 보툴리눔은 연구단계, 정맥경화는 정맥질환 동반 시.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35424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ESWT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35424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RLS 직접근거 없음 → 비약물은 비골신경 자극(근거 있음).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21807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85231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경구약제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85231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α2δ 리간드 1차. 도파민제는 augmentation로 후순위. dipyridamole 조건부.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참고문헌 — 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17175" y="36576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7175" y="365760"/>
            <a:ext cx="1371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Allen RP, et al. RLS/WED diagnostic criteria: updated IRLSSG consensus criteria. Sleep Med. 2014;15(8):860-73. PMID 25023924.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Treatment of RLS/PLMD: AASM clinical practice guideline. J Clin Sleep Med. 2025;21(1):137-52. PMID 39324694.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Allen RP, et al. IRLSSG task force: iron treatment of RLS/WED. Sleep Med. 2018;41:27-44. PMID 29425576.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Earley CJ, et al. IV ferric carboxymaltose for RLS: multicenter RCT. Sleep. 2024;47(7):zsae095. PMID 38625730.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Mittal SO, et al. Botulinum toxin in RLS: crossover RCT. Toxins (Basel). 2018;10(10):401. PMC6215171.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Effectiveness/safety of botulinum toxin A in RLS: SR &amp; meta-analysis. Healthcare. 2021;9(11):1538. PMC8623507.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Pyne R, et al. Varicose veins with RLS and nocturnal leg cramps. J Vasc Interv Radiol. 2023;34(4):534-42. PMID 36526075.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Charlesworth JD, et al. Bilateral high-frequency noninvasive peroneal nerve stimulation for RLS. J Clin Sleep Med. 2023;19(7):1199-209. PMID 36856064.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Allen RP, et al. Comparison of pregabalin with pramipexole for RLS. N Engl J Med. 2014;370(7):621-31. PMID 24521108.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Efficacy and safety of pramipexole in RLS. Neurology. 2006;67(6):1034-9. PMID 16931507.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Randomized PSG study of gabapentin enacarbil in RLS. Mov Disord. 2011;26(11):2065-72. PMID 21611981.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Garcia-Borreguero D, et al. Dipyridamole for RLS: placebo-controlled crossover. Mov Disord. 2021;36(10):2387-92. PMID 34137476.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PubMed/저널 목록 대조 — 조작 인용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