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8229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416052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 i="0">
                <a:solidFill>
                  <a:srgbClr val="BFD3E6"/>
                </a:solidFill>
                <a:latin typeface="NanumGothic"/>
                <a:ea typeface="NanumGothic"/>
              </a:rPr>
              <a:t>요추교감신경차단 (Lumbar Sympathetic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>방법 · 적응증 · 효과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 i="1">
                <a:solidFill>
                  <a:srgbClr val="AFC6DF"/>
                </a:solidFill>
                <a:latin typeface="NanumGothic"/>
                <a:ea typeface="NanumGothic"/>
              </a:rPr>
              <a:t>Lumbar Sympathetic Block / Sympatholysis — Technique, Indications, and Efficacy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구성: 개요/해부 → 방법 → 적응증 → 효과 → 합병증 → 결론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5A6B7B"/>
                </a:solidFill>
                <a:latin typeface="NanumGothic"/>
                <a:ea typeface="NanumGothic"/>
              </a:rPr>
              <a:t>교육·연구 참고용. 개별 환자의 진료 결정은 담당 의사의 판단에 따른다.  |  작성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개요 · 해부 ·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LSB와 교감신경 신경파괴(sympatholysis)는 70년 이상 다양한 하지 통증·허혈 질환에 사용.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표적: 신경절 밀도가 가장 높은 L2–L3(보통 'L2 하 1/3 ~ L3 상 1/3'), 척추체 전외측. 일부 L2/L3/L4 다분절.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①: 교감신경 차단 → 혈관 확장·측부순환 증가 → 조직 산소화 개선.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②: 교감신경 매개 통증(sympathetically-maintained pain) 경로 및 자율신경 동반 침해 구심로 차단.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국소마취제 차단(진단적/치료적)과 화학적/열적 신경파괴로 나뉜다.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NBK431107; Zhang 2022(Ibrain)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방법 (Technique)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1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기법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표준: 방척추(paravertebral) 접근 + 투시(fluoroscopy). CT·초음파도 가능.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바늘 진입: 정중선에서 약 7 cm 외측. 척추체 접촉 후 전내측으로 'walk'하여 척추체 전외측으로 진입.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흡인 후 조영제 주입 → 두미측(craniocaudal) 종방향 확산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성공 지표: 동측 하지 피부온도 ≥2°C 상승.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1F6E70"/>
                </a:solidFill>
                <a:latin typeface="NanumGothic"/>
                <a:ea typeface="NanumGothic"/>
              </a:rPr>
              <a:t>약제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진단/치료: lidocaine 1%,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  bupivacaine 0.25–0.5%, ropivacaine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신경파괴: 무수알코올/phenol, RFA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원칙: 신경파괴는 진단적 차단 양성 시에만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Lumbar Sympatholysis NBK560514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 (Indications)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적응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8641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범주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대표 적응증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통증증후군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복합부위통증증후군(CRPS I/II) — 조기(≤12개월) 시행이 유리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허혈질환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PAD·중증 하지허혈(CLI) 안정통·비재건성, 버거병, 색전, 동상, 혈관연축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신경병증/당뇨발, 대상포진후신경통, 환상지통·단단통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기타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족부 다한증, 레이노 증후군(하지)·홍색사지통증, 암성 골반/하지통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특발성 야간 하지경련(NLC)은 적응증 아님 — '밤 다리증상'이 허혈성 안정통(PAD/CLI)이면 적응. 원인 감별(ABI·도플러) 선행.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① — 통증증후군·허혈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하지 CRPS I/II (복합부위통증증후군) — 교감신경 매개 통증의 전형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작열통·이질통(옷·바람 스침에도 통증)·통각과민 · 부종 · 피부색(발적↔창백)·좌우 온도차 · 발한 이상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타는 듯 화끈거려요” · “이불만 스쳐도 아파요” · “붓고 색이 자꾸 변해요”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허혈질환 — PAD·중증 하지허혈(CLI)·버거병 (동맥성 허혈)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간헐적 파행(걷다 종아리 통증→쉬면 완화) → 진행 시 야간 안정통(다리 내리면 완화) · 차고 창백한 발 · 비치유 궤양·괴저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“걸으면 종아리가 터질 듯 아파요” · “밤에 발이 시려 잠을 못 자요” · “상처가 안 아물어요”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‘허혈’은 동맥성 부족을 의미 — 하지정맥류 등 정맥질환은 LSB 적응증 아님(압박·정맥폐색술이 표준).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② — 신경병증·기타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신경병증 — 당뇨병성 신경병증/당뇨발·대상포진후신경통·환상지통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저림·화끈거림·전기 오듯 찌름 · 이질통 · 감각저하(양말 신은 느낌) · 야간 악화 · 당뇨발 궤양·관류저하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저리고 화끈거려요” · “밤에 더 심해요” · “전기가 찌릿 오는 것 같아요”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기타 — 족부 다한증·레이노(하지)·홍색사지통증·암성 하지통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다한증(과한 발땀·축축·악취) · 레이노(추위·스트레스에 창백→청색→발적 삼색변화·저림) · 홍색사지통증(발작적 발적·작열·열감, 열에 악화)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“발에 땀이 너무 많아요” · “추우면 발이 하얘졌다 파래져요” · “발이 화끈 달아올라요”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밤에 저리고 화끈거리는 다리 — 당뇨병성 신경병증과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심화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36631" y="365760"/>
            <a:ext cx="1152144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6631" y="365760"/>
            <a:ext cx="115214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야간 신경병증통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임상상: 당뇨병성 말초신경병증 — 발·종아리 저림·화끈거림·전기 찌름, 양측 ‘양말’ 분포.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야간통: 이불 온기·야간 순환·주의분산 소실 → 밤에 증폭·수면 방해.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먼저 감별: RLS(움직이면 완화)·NLC(경련)·허혈성 안정통과 구분.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1차: 혈당조절+약물(가바펜틴·듀록세틴) → 난치성이면 LSB 고려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LSB — 치료 삽입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기전: 교감차단 → 미세순환↑ + 교감매개통 차단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근거: 난치성 DPN에 LSB+신경파괴 RCT·증례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적용: 약물 불응·진단차단 양성 시 선택적 시행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성공지표: 피부온도 ≥2°C↑ (근거 제한적)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Zhang 2020(RCT) PMID 32915421; 증례 PMID 22606406; StatPearls NBK442009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(1) 관류 개선 · 허혈성 통증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관류 실측(Dickey 2024): LSB 후 후경골동맥 직경 0.17→0.27 cm(+58.8%), 모세혈관 재충혈 3.92→1.30초, 족부온도 +2.8°C.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2E7D32"/>
                </a:solidFill>
                <a:latin typeface="NanumGothic"/>
                <a:ea typeface="NanumGothic"/>
              </a:rPr>
              <a:t>허혈성 통증(PAD): 하지 통증 최대 75%↓, Fontaine 분류·측부관류 개선(Medicina 2024).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비재건성 CLI: 교감신경 신경파괴가 절단 외 대안이 없는 환자의 통증조절에 효과적·안전(Barreto 2018).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실측 수치(Dickey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후경골동맥 +58.8%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모세혈관 재충혈 3.92→1.30초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족부온도 +2.8°C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→ 관류 개선의 객관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Dickey 2024(Cureus); Medicina 2024; Barreto 2018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(2) CRPS · 기전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CRPS는 교감신경 매개 통증의 전형 → LSB 후 유의한 통증완화가 축적된 근거. 최적 환자 선택·조기 시행이 성공률↑.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Choi 2024(Sci Rep): 교감신경 신경파괴의 효과 지속기간을 전향 관찰로 제시.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반응 예측: 교감신경 피부반응(sympathetic skin response)이 LSB 반응 예측에 유용(Pain Ther 2023).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5A6B7B"/>
                </a:solidFill>
                <a:latin typeface="NanumGothic"/>
                <a:ea typeface="NanumGothic"/>
              </a:rPr>
              <a:t>한계: 중추 감작이 진행되면 시간이 지날수록 효과 감소 가능.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기전 요약: 교감차단 → 측부순환 혈관확장 → 조직 산소화↑ → 통증↓ + 교감매개통 차단 + 신경파괴 직접효과.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Choi 2024(Sci Rep); Pain Ther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합병증 · 안전성 · 근거수준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안전성 · 결론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085272" y="365760"/>
            <a:ext cx="603503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5272" y="365760"/>
            <a:ext cx="60350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안전성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B03A2E"/>
                </a:solidFill>
                <a:latin typeface="NanumGothic"/>
                <a:ea typeface="NanumGothic"/>
              </a:rPr>
              <a:t>합병증: 생식대퇴신경통(신경파괴 시 5–10%), 외측대퇴피신경 손상, 기립성 저혈압.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혈관·요관·신장 등 내장 구조 천공, 출혈, 신경축(neuraxial) 확산, 신경파괴 후 통증성 신경염(dysesthesia).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근거수준: 대부분 관찰·증례군·소규모 전향연구, 대규모 RCT는 부족(허혈질환·CRPS Level III~IV).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그럼에도 조기 CRPS·재건 불가능한 중증 하지허혈(안정통)에서 임상적으로 유용.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핵심 메시지 — LSB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표준은 투시 유도 방척추 접근, 성공은 온도 ≥2°C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L2–L3 방척추 접근·투시, 정중선 7 cm 외측, 조영제 두미측 확산, 성공지표 온도 ≥2°C.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약제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진단/치료는 국소마취제, 신경파괴는 무수알코올/phenol·RFA — 진단차단 양성 시에만.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조기 CRPS·PAD/CLI 안정통·신경병증·다한증 등. 특발성 NLC·정맥질환(정맥류)은 적응 아님.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관류 실측 개선(Dickey), 허혈통 최대 75%↓, CRPS 통증완화(교감피부반응으로 예측).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근거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대규모 RCT 부족(관찰·증례 중심). 조기 CRPS·비재건성 CLI에서 유용.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참고문헌 —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참고문헌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17175" y="36576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17175" y="36576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Dua A, Varacallo MA. Lumbar sympathetic block. StatPearls. 2026. NBK431107.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sympatholysis. StatPearls. NBK560514.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Zhang JH, Deng YP, Geng MJ. Efficacy of the lumbar sympathetic ganglion block in lower limb pain. Ibrain. 2022;8(4):442-52. PMID 37786587.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Dickey Z, Sharma N. Lumbar sympathetic block leading to increased arterial diameter and blood flow. Cureus. 2024;16(6):e61755. PMID 38975506.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Barreto Junior EPS, et al. Neurolytic block of the lumbar sympathetic chain in critical lower limb ischemia. Braz J Anesthesiol. 2018;68(1):100-3. PMC9391669.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Choi EJ, et al. Effect duration of lumbar sympathetic ganglion neurolysis in CRPS. Sci Rep. 2024;14(1):12693. PMID 38830944.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Gungor S, et al. Sympathetic blocks for CRPS: a case series. Medicine (Baltimore). 2018;97(19):e0705. PMID 29742728.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Effect of lumbar sympathetic blockade on pain, Fontaine classification, collateral perfusion in PAD. Medicina (Kaunas). 2024;60(5):682.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Prediction of LSB efficacy in CRPS type 1 by sympathetic skin response. Pain Ther. 2023;12(3):809-22. PMC10199976.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Continuous LSB + sympatholysis for refractory painful diabetic neuropathy — RCT. 2020. PMID 32915421.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Sympathetic blocks: sustained relief in refractory painful diabetic neuropathy (case). 2012. PMID 22606406.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sympathectomy for ischaemia·vasculitis·diabetic neuropathy·hyperhidrosis — series. 2018. PMID 29516399.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PubMed/저널 목록 대조 — 조작 인용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