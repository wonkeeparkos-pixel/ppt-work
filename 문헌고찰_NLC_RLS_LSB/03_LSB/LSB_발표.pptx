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9" r:id="rId30"/>
    <p:sldId id="257" r:id="rId8"/>
    <p:sldId id="258" r:id="rId9"/>
    <p:sldId id="261" r:id="rId12"/>
    <p:sldId id="268" r:id="rId19"/>
    <p:sldId id="269" r:id="rId20"/>
    <p:sldId id="270" r:id="rId21"/>
    <p:sldId id="278" r:id="rId29"/>
    <p:sldId id="271" r:id="rId22"/>
    <p:sldId id="272" r:id="rId23"/>
    <p:sldId id="273" r:id="rId24"/>
    <p:sldId id="259" r:id="rId10"/>
    <p:sldId id="260" r:id="rId11"/>
    <p:sldId id="263" r:id="rId14"/>
    <p:sldId id="262" r:id="rId13"/>
    <p:sldId id="264" r:id="rId15"/>
    <p:sldId id="265" r:id="rId16"/>
    <p:sldId id="266" r:id="rId17"/>
    <p:sldId id="267" r:id="rId18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943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복와위 · 투시 유도 방척추(paravertebral) 접근 (CT·초음파 가능)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첫 위치: C-arm 환측 30–35° 사위(oblique) — 횡돌기 끝이 척추체 외측연에 겹치게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자입점: 그 상에서 표적 바로 위 피부(정중선 ~7 cm) · 빔과 동축(tunnel view)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22 G 15 cm → 척추체 외측면 접촉 → 전내측 'walk' → 전외측면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5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조영제 두미측 확산 · 측면상 전방 1/3 · 성공지표 온도 ≥2°C↑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417320"/>
            <a:ext cx="4526280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sb_s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57087"/>
            <a:ext cx="4251960" cy="34467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약제: 국소마취제 / 신경파괴는 진단차단 양성 시에만 · StatPearls NBK431107 · NBK560514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조감도 — 표적과 위험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그림으로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축상면 axial</a:t>
            </a:r>
          </a:p>
        </p:txBody>
      </p:sp>
      <p:pic>
        <p:nvPicPr>
          <p:cNvPr id="9" name="Picture 8" descr="lsb_ax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325880"/>
            <a:ext cx="665683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76072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표적=척추체 전외측 교감신경절 · 방척추(정중선 ~7cm) 접근 · 대동맥·IVC·요관·신장·생식대퇴신경·추간공 회피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복부 교감신경간과 요추 레벨 — 어디를 겨냥하나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해부 · 레벨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요추 레벨</a:t>
            </a:r>
          </a:p>
        </p:txBody>
      </p:sp>
      <p:pic>
        <p:nvPicPr>
          <p:cNvPr id="9" name="Picture 8" descr="lsb_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892" y="1417320"/>
            <a:ext cx="7537911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교감신경간은 척추체 전외측을 좌우로 주행 · 복강(T12–L1)·상장간막·하장간막 신경절은 대동맥 전면 · LSB 표적은 L2–L3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시술 — 전·중 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안전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주의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영상 유도 필수: 투시(또는 CT). 조영제로 두미측 종방향 확산 확인 — 후방(추간공)·혈관 확산 시 즉시 재위치.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바늘 끝은 척추체 전외측에 — psoas·추간공 진입 금지.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레벨은 L2 하1/3~L3 상1/3, L4로 내려가지 말 것(생식대퇴신경통 급증).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분할·점진 주입(혈관내·경막외 조기 발견) · 소량 시험주입.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항응고·항혈소판제 중단(심부·후복막 차단 — 출혈 위험) · 무균술.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성공지표 온도 ≥2°C↑ 확인 · 시술 후 혈압·하지 근력/감각 모니터.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NBK557637 · Feigl 1998(PMID 9425975)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조영제 확산 읽기 — 이 패턴이면 멈춰라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 · 핵심기술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조영제 읽기</a:t>
            </a:r>
          </a:p>
        </p:txBody>
      </p:sp>
      <p:pic>
        <p:nvPicPr>
          <p:cNvPr id="9" name="Picture 8" descr="lsb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032" y="1417320"/>
            <a:ext cx="8117631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실시간 조영제가 최고의 안전장치 — 종방향(위·아래) 확산만 진행 · 혈관·경막외·근육내 패턴이면 즉시 재위치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조영제 확산 패턴 판독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&amp; 회피법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합병증·회피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858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원인·기전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피하는 법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생식대퇴신경통 (5–10%)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psoas 역류·자극 (L2 0%·L4 40%)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L4 회피·psoas 주입금지·최소용량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혈관손상·혈관내주입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대동맥/IVC·요추혈관 인접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투시+흡인+조영제·항응고 중단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요관·신장 천공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후복막 장기 인접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조영제로 깊이·궤적 확인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체성신경·신경축 확산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후방→경막외 tracking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전외측 유지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기립성 저혈압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교감차단 → 혈관확장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수액·서서히 기립·양측 신중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신경염·사정장애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알코올/phenol·양측 L1–L2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진단차단 양성 시만·L1–L2 회피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투시+조영제로 확산 확인 · 바늘 전외측 유지 · L2~L3 표적 · 신경파괴는 진단차단 양성 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NBK431107·NBK557637 · Feigl 1998(PMID 9425975)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생식대퇴신경통 — 가장 흔한 걱정, 대부분 회피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심화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최다 우려</a:t>
            </a:r>
          </a:p>
        </p:txBody>
      </p:sp>
      <p:pic>
        <p:nvPicPr>
          <p:cNvPr id="9" name="Picture 8" descr="lsb_g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240" y="1417320"/>
            <a:ext cx="7875215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회피: L2하~L3상 표적·L4 회피·psoas 주입금지·소량 / 발생 시: 대개 수 주 내 자연호전·신경병증통 약물로 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Feigl 1998(PMID 9425975);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혈관·LAST·신경 손상 — 조기 인지와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인지·구조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B03A2E"/>
                </a:solidFill>
                <a:latin typeface="NanumGothic"/>
                <a:ea typeface="NanumGothic"/>
              </a:rPr>
              <a:t>LAST(국소마취제 전신독성): 입 주변 저림·이명·금속맛·어지럼 → 경련·부정맥.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대응 — 즉시 중단·산소/기도·경련조절·20% 지질유탁액 정주·소생술. 예방 — 흡인+조영제+분할주입+용량제한.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신경·신경축: 주입 중 방사통·하지 위약 → 즉시 중단·재위치. 시술 후 근력·감각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출혈·감염: 항응고 중단·무균술 · 심한 통증·발열·팽창 시 즉시 평가.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준비된 상태(모니터·정맥로·지질유탁액)면 대부분 안전하게 관리된다.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ASRA LAST 지침 · StatPearls NBK431107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대비 — 준비·조기인지·환자설명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안심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대부분 경미·자가회복 — 심각 합병증은 영상유도·정확한 술기로 드묾.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준비: 모니터·정맥로·응급장비·20% 지질유탁액 구비, 소생 프로토콜 숙지.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조기 인지: 조영제 패턴 + 환자 증상(통증·저림·어지럼)을 실시간 관찰.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환자 설명(동의): 흔한 것(일시적 저림·주사부위통·저혈압) vs 드문 것(신경통·출혈)을 사전 고지 → 신뢰·불안↓.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신경파괴는 진단차단 양성 시에만·소량 — 위해를 최소화.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근거수준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합병증·회피는 앞의 조감도·회피표 참고 — 대부분 영상유도·정확한 바늘 위치로 예방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전향연구로 대규모 RCT는 부족(허혈·CRPS Level III~IV). 단, 난치성 당뇨병성 신경병증엔 RCT 존재.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시행 원칙: 원인 감별 → 진단적 국소마취제 차단(온도 ≥2°C 확인) → 반응 양호 시 신경파괴/RFA.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하지허혈(안정통)·난치성 신경병증에서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 · C-arm 사위 30–35°로 첫 위치 → 동축 진입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신경병증은 당뇨병성만이 아니다 — 종류와 LSB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46360" y="365760"/>
            <a:ext cx="1042415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46360" y="365760"/>
            <a:ext cx="1042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신경병증 분류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6035040"/>
                <a:gridCol w="25146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분류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적용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대사성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말초신경병증(DPN) · 알코올성 · 영양결핍(B12)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 RCT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감염후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대상포진후신경통(PHN) 하지 분절 · HIV 신경병증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선택적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약제성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항암제 유발 말초신경병증(CIPN) — 옥살리플라틴·탁센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보고 수준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외상·수술후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환상지통·단단통 · 신경손상 후 통증 · 수술후 신경병증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 SMP 흔함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교감매개 대표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CRPS I / II (반사교감이영양증·작열통)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◎ 대표 적응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압박·유전성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요추신경근병증 · 포착신경병증 · 유전성(CMT)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 원인치료 우선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병명보다 교감신경 매개 통증(SMP)인가가 관건 — 진단적 차단으로 확인 후 결정.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교감신경 매개 통증(SMP) 요소가 클수록 LSB 반응이 좋다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전체 흐름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누구에게 → 어디를 → 왜 → 어떻게 → 안전하게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① 감별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밤·하지 증상 중 LSB가 듣는 것과 아닌 것을 먼저 가른다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② 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교감신경간은 척추체 전외측 L2–L3 — 표적과 주변 위험 구조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③ 적응증·증상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CRPS·허혈·신경병증에서 환자가 실제로 하는 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④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실측·통증 감소·CRPS 완화 (근거수준과 함께)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⑤ 술기·안전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투시+조영제로 정확히 — 합병증은 대부분 회피·관리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