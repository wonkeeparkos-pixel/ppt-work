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6052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60520"/>
            <a:ext cx="12191695" cy="82296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416052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 i="0">
                <a:solidFill>
                  <a:srgbClr val="BFD3E6"/>
                </a:solidFill>
                <a:latin typeface="NanumGothic"/>
                <a:ea typeface="NanumGothic"/>
              </a:rPr>
              <a:t>요추교감신경차단 (Lumbar Sympathetic Block)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>방법 · 적응증 · 효과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NanumGothic"/>
                <a:ea typeface="NanumGothic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00400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0" i="1">
                <a:solidFill>
                  <a:srgbClr val="AFC6DF"/>
                </a:solidFill>
                <a:latin typeface="NanumGothic"/>
                <a:ea typeface="NanumGothic"/>
              </a:rPr>
              <a:t>Lumbar Sympathetic Block / Sympatholysis — Technique, Indications, and Efficacy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2628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350" b="1" i="0">
                <a:solidFill>
                  <a:srgbClr val="1A202C"/>
                </a:solidFill>
                <a:latin typeface="NanumGothic"/>
                <a:ea typeface="NanumGothic"/>
              </a:rPr>
              <a:t>구성: 개요/해부 → 방법 → 적응증 → 효과 → 합병증 → 결론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5332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0" i="1">
                <a:solidFill>
                  <a:srgbClr val="5A6B7B"/>
                </a:solidFill>
                <a:latin typeface="NanumGothic"/>
                <a:ea typeface="NanumGothic"/>
              </a:rPr>
              <a:t>교육·연구 참고용. 개별 환자의 진료 결정은 담당 의사의 판단에 따른다.  |  작성 2026-07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밤·하지 증상 감별 — LSB는 어디에 쓰나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가장 먼저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감별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749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6537960"/>
                <a:gridCol w="1645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질환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핵심 소견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LSB 적응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허혈성 안정통 (PAD·CLI)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파행 → 야간 안정통·차고 창백한 발·ABI↓ (동맥성)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CRPS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작열통·이질통·부종·피부색/온도 좌우차 (교감매개통)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○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저림·화끈거림·감각이상·야간 악화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△ 난치성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특발성 NLC (야간경련)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통증성 근수축·촉지 근경직·족배굴곡 완화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RLS (하지불안)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움직임 충동·움직이면 완화·근경직 없음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정맥부전·정맥류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부종·무거움·저녁 악화 (정맥 역류)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ABI·도플러로 동맥성 여부 감별이 출발점 — 정맥류·특발경련·RLS는 LSB 적응 아님.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감별이 치료의 출발점 · ABI·도플러 선행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개요 · 해부 ·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LSB와 교감신경 신경파괴(sympatholysis)는 70년 이상 다양한 하지 통증·허혈 질환에 사용.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표적: 신경절 밀도가 가장 높은 L2–L3(보통 'L2 하 1/3 ~ L3 상 1/3'), 척추체 전외측. 일부 L2/L3/L4 다분절.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①: 교감신경 차단 → 혈관 확장·측부순환 증가 → 조직 산소화 개선.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원리 ②: 교감신경 매개 통증(sympathetically-maintained pain) 경로 및 자율신경 동반 침해 구심로 차단.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국소마취제 차단(진단적/치료적)과 화학적/열적 신경파괴로 나뉜다.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NBK431107; Zhang 2022(Ibrain)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방법 (Technique)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1F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기법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표준: 방척추(paravertebral) 접근 + 투시(fluoroscopy). CT·초음파도 가능.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바늘 진입: 정중선에서 약 7 cm 외측. 척추체 접촉 후 전내측으로 'walk'하여 척추체 전외측으로 진입.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조영제 주입 → 두미측(craniocaudal) 종방향 확산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성공 지표: 동측 하지 피부온도 ≥2°C 상승.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 w="12700">
            <a:solidFill>
              <a:srgbClr val="D5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1F6E70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진단/치료: lidocaine 1%,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  bupivacaine 0.25–0.5%, ropivacaine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신경파괴: 무수알코올/phenol, RFA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1A202C"/>
                </a:solidFill>
                <a:latin typeface="NanumGothic"/>
                <a:ea typeface="NanumGothic"/>
              </a:rPr>
              <a:t>원칙: 신경파괴는 진단적 차단 양성 시에만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Lumbar Sympatholysis NBK560514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조감도 — 표적과 위험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그림으로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축상면 axial</a:t>
            </a:r>
          </a:p>
        </p:txBody>
      </p:sp>
      <p:pic>
        <p:nvPicPr>
          <p:cNvPr id="9" name="Picture 8" descr="lsb_ax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431" y="1325880"/>
            <a:ext cx="6656832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760720"/>
            <a:ext cx="10927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표적=척추체 전외측 교감신경절 · 방척추(정중선 ~7cm) 접근 · 대동맥·IVC·요관·신장·생식대퇴신경·추간공 회피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오리지널 도해 · StatPearls NBK431107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L2·L3 시술 — 전·중 주의할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방법 · 안전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시술 주의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영상 유도 필수: 투시(또는 CT). 조영제로 두미측 종방향 확산 확인 — 후방(추간공)·혈관 확산 시 즉시 재위치.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바늘 끝은 척추체 전외측에 — psoas·추간공 진입 금지.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레벨은 L2 하1/3~L3 상1/3, L4로 내려가지 말 것(생식대퇴신경통 급증).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흡인 후 분할·점진 주입(혈관내·경막외 조기 발견) · 소량 시험주입.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항응고·항혈소판제 중단(심부·후복막 차단 — 출혈 위험) · 무균술.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성공지표 온도 ≥2°C↑ 확인 · 시술 후 혈압·하지 근력/감각 모니터.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 · NBK557637 · Feigl 1998(PMID 9425975)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합병증 &amp; 회피법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756087" y="365760"/>
            <a:ext cx="932688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56087" y="365760"/>
            <a:ext cx="9326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합병증·회피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8587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160520"/>
                <a:gridCol w="39319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합병증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원인·기전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피하는 법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생식대퇴신경통 (5–10%)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psoas 역류·자극 (L2 0%·L4 40%)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L4 회피·psoas 주입금지·최소용량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혈관손상·혈관내주입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대동맥/IVC·요추혈관 인접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투시+흡인+조영제·항응고 중단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요관·신장 천공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후복막 장기 인접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조영제로 깊이·궤적 확인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체성신경·신경축 확산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후방→경막외 tracking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바늘 전외측 유지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기립성 저혈압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교감차단 → 혈관확장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수액·서서히 기립·양측 신중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신경염·사정장애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알코올/phenol·양측 L1–L2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진단차단 양성 시만·L1–L2 회피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핵심: 투시+조영제로 확산 확인 · 바늘 전외측 유지 · L2~L3 표적 · 신경파괴는 진단차단 양성 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 NBK431107·NBK557637 · Feigl 1998(PMID 9425975)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 (Indications)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적응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371600"/>
          <a:ext cx="10835640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8641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범주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NanumGothic"/>
                          <a:ea typeface="NanumGothic"/>
                        </a:rPr>
                        <a:t>대표 적응증</a:t>
                      </a:r>
                    </a:p>
                  </a:txBody>
                  <a:tcPr marL="73152" marR="54864" marT="18288" marB="18288" anchor="ctr">
                    <a:solidFill>
                      <a:srgbClr val="1B355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통증증후군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하지 복합부위통증증후군(CRPS I/II) — 조기(≤12개월) 시행이 유리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허혈질환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PAD·중증 하지허혈(CLI) 안정통·비재건성, 버거병, 색전, 동상, 혈관연축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신경병증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당뇨병성 신경병증/당뇨발, 대상포진후신경통, 환상지통·단단통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기타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202C"/>
                          </a:solidFill>
                          <a:latin typeface="NanumGothic"/>
                          <a:ea typeface="NanumGothic"/>
                        </a:rPr>
                        <a:t>족부 다한증, 레이노 증후군(하지)·홍색사지통증, 암성 골반/하지통</a:t>
                      </a:r>
                    </a:p>
                  </a:txBody>
                  <a:tcPr marL="73152" marR="54864" marT="18288" marB="18288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1F6E70"/>
                </a:solidFill>
                <a:latin typeface="NanumGothic"/>
                <a:ea typeface="NanumGothic"/>
              </a:rPr>
              <a:t>특발성 야간 하지경련(NLC)은 적응증 아님 — '밤 다리증상'이 허혈성 안정통(PAD/CLI)이면 적응. 원인 감별(ABI·도플러) 선행.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① — 통증증후군·허혈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하지 CRPS I/II (복합부위통증증후군) — 교감신경 매개 통증의 전형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작열통·이질통(옷·바람 스침에도 통증)·통각과민 · 부종 · 피부색(발적↔창백)·좌우 온도차 · 발한 이상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타는 듯 화끈거려요” · “이불만 스쳐도 아파요” · “붓고 색이 자꾸 변해요”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허혈질환 — PAD·중증 하지허혈(CLI)·버거병 (동맥성 허혈)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간헐적 파행(걷다 종아리 통증→쉬면 완화) → 진행 시 야간 안정통(다리 내리면 완화) · 차고 창백한 발 · 비치유 궤양·괴저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“걸으면 종아리가 터질 듯 아파요” · “밤에 발이 시려 잠을 못 자요” · “상처가 안 아물어요”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‘허혈’은 동맥성 부족을 의미 — 하지정맥류 등 정맥질환은 LSB 적응증 아님(압박·정맥폐색술이 표준).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적응증별 환자 증상·호소 ② — 신경병증·기타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증상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환자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신경병증 — 당뇨병성 신경병증/당뇨발·대상포진후신경통·환상지통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저림·화끈거림·전기 오듯 찌름 · 이질통 · 감각저하(양말 신은 느낌) · 야간 악화 · 당뇨발 궤양·관류저하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“발이 저리고 화끈거려요” · “밤에 더 심해요” · “전기가 찌릿 오는 것 같아요”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기타 — 족부 다한증·레이노(하지)·홍색사지통증·암성 하지통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다한증(과한 발땀·축축·악취) · 레이노(추위·스트레스에 창백→청색→발적 삼색변화·저림) · 홍색사지통증(발작적 발적·작열·열감, 열에 악화)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>      –  </a:t>
            </a:r>
            <a:r>
              <a:rPr sz="1400" b="0" i="0">
                <a:solidFill>
                  <a:srgbClr val="5A6B7B"/>
                </a:solidFill>
                <a:latin typeface="NanumGothic"/>
                <a:ea typeface="NanumGothic"/>
              </a:rPr>
              <a:t>호소: “발에 땀이 너무 많아요” · “추우면 발이 하얘졌다 파래져요” · “발이 화끈 달아올라요”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밤에 저리고 화끈거리는 다리 — 당뇨병성 신경병증과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적응증 · 심화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36631" y="365760"/>
            <a:ext cx="1152144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36631" y="365760"/>
            <a:ext cx="11521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야간 신경병증통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임상상: 당뇨병성 말초신경병증 — 발·종아리 저림·화끈거림·전기 찌름, 양측 ‘양말’ 분포.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야간통: 이불 온기·야간 순환·주의분산 소실 → 밤에 증폭·수면 방해.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먼저 감별: RLS(움직이면 완화)·NLC(경련)·허혈성 안정통과 구분.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1차: 혈당조절+약물(가바펜틴·듀록세틴) → 난치성이면 LSB 고려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LSB — 치료 삽입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기전: 교감차단 → 미세순환↑ + 교감매개통 차단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근거: 난치성 DPN에 LSB+신경파괴 RCT·증례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적용: 약물 불응·진단차단 양성 시 선택적 시행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성공지표: 피부온도 ≥2°C↑ (근거 제한적)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Zhang 2020(RCT) PMID 32915421; 증례 PMID 22606406; StatPearls NBK442009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(1) 관류 개선 · 허혈성 통증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6400800" cy="4663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1A202C"/>
                </a:solidFill>
                <a:latin typeface="NanumGothic"/>
                <a:ea typeface="NanumGothic"/>
              </a:rPr>
              <a:t>관류 실측(Dickey 2024): LSB 후 후경골동맥 직경 0.17→0.27 cm(+58.8%), 모세혈관 재충혈 3.92→1.30초, 족부온도 +2.8°C.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2E7D32"/>
                </a:solidFill>
                <a:latin typeface="NanumGothic"/>
                <a:ea typeface="NanumGothic"/>
              </a:rPr>
              <a:t>허혈성 통증(PAD): 하지 통증 최대 75%↓, Fontaine 분류·측부관류 개선(Medicina 2024).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비재건성 CLI: 교감신경 신경파괴가 절단 외 대안이 없는 환자의 통증조절에 효과적·안전(Barreto 2018).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114800" cy="4480560"/>
          </a:xfrm>
          <a:prstGeom prst="roundRect">
            <a:avLst>
              <a:gd name="adj" fmla="val 8000"/>
            </a:avLst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BFD3E6"/>
                </a:solidFill>
                <a:latin typeface="NanumGothic"/>
                <a:ea typeface="NanumGothic"/>
              </a:rPr>
              <a:t>실측 수치(Dickey 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194560"/>
            <a:ext cx="36118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후경골동맥 +58.8%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모세혈관 재충혈 3.92→1.30초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족부온도 +2.8°C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875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250" b="1" i="0">
                <a:solidFill>
                  <a:srgbClr val="9FE0D8"/>
                </a:solidFill>
                <a:latin typeface="NanumGothic"/>
                <a:ea typeface="NanumGothic"/>
              </a:rPr>
              <a:t>→ 관류 개선의 객관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Dickey 2024(Cureus); Medicina 2024; Barreto 2018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효과 (2) CRPS · 기전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26903" y="365760"/>
            <a:ext cx="1261872" cy="347472"/>
          </a:xfrm>
          <a:prstGeom prst="roundRect">
            <a:avLst>
              <a:gd name="adj" fmla="val 8000"/>
            </a:avLst>
          </a:prstGeom>
          <a:solidFill>
            <a:srgbClr val="B9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6903" y="365760"/>
            <a:ext cx="12618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Lv III–IV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1A202C"/>
                </a:solidFill>
                <a:latin typeface="NanumGothic"/>
                <a:ea typeface="NanumGothic"/>
              </a:rPr>
              <a:t>CRPS는 교감신경 매개 통증의 전형 → LSB 후 유의한 통증완화가 축적된 근거. 최적 환자 선택·조기 시행이 성공률↑.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Choi 2024(Sci Rep): 교감신경 신경파괴의 효과 지속기간을 전향 관찰로 제시.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반응 예측: 교감신경 피부반응(sympathetic skin response)이 LSB 반응 예측에 유용(Pain Ther 2023).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5A6B7B"/>
                </a:solidFill>
                <a:latin typeface="NanumGothic"/>
                <a:ea typeface="NanumGothic"/>
              </a:rPr>
              <a:t>한계: 중추 감작이 진행되면 시간이 지날수록 효과 감소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기전 요약: 교감차단 → 측부순환 혈관확장 → 조직 산소화↑ → 통증↓ + 교감매개통 차단 + 신경파괴 직접효과.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Choi 2024(Sci Rep); Pain Ther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근거수준 · 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안전성 · 결론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94999" y="365760"/>
            <a:ext cx="493776" cy="347472"/>
          </a:xfrm>
          <a:prstGeom prst="roundRect">
            <a:avLst>
              <a:gd name="adj" fmla="val 8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94999" y="365760"/>
            <a:ext cx="4937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1" i="0">
                <a:solidFill>
                  <a:srgbClr val="B03A2E"/>
                </a:solidFill>
                <a:latin typeface="NanumGothic"/>
                <a:ea typeface="NanumGothic"/>
              </a:rPr>
              <a:t>합병증·회피는 앞의 조감도·회피표 참고 — 대부분 영상유도·정확한 바늘 위치로 예방 가능.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근거수준: 대부분 관찰·증례군·소규모 전향연구로 대규모 RCT는 부족(허혈·CRPS Level III~IV). 단, 난치성 당뇨병성 신경병증엔 RCT 존재.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500" b="0" i="0">
                <a:solidFill>
                  <a:srgbClr val="1A202C"/>
                </a:solidFill>
                <a:latin typeface="NanumGothic"/>
                <a:ea typeface="NanumGothic"/>
              </a:rPr>
              <a:t>시행 원칙: 원인 감별 → 진단적 국소마취제 차단(온도 ≥2°C 확인) → 반응 양호 시 신경파괴/RFA.</a:t>
            </a:r>
          </a:p>
          <a:p>
            <a:pPr algn="l">
              <a:lnSpc>
                <a:spcPct val="108000"/>
              </a:lnSpc>
              <a:spcAft>
                <a:spcPts val="900"/>
              </a:spcAft>
            </a:pPr>
            <a:r>
              <a:rPr sz="15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500" b="1" i="0">
                <a:solidFill>
                  <a:srgbClr val="1F6E70"/>
                </a:solidFill>
                <a:latin typeface="NanumGothic"/>
                <a:ea typeface="NanumGothic"/>
              </a:rPr>
              <a:t>그럼에도 조기 CRPS·재건 불가능한 중증 하지허혈(안정통)·난치성 신경병증에서 임상적으로 유용.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StatPearls; 문헌고찰 종합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실제 진료 순서 — 교감신경 축을 겨냥한 단계적 접근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나의 프로토콜 · 실제 적용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65816" y="365760"/>
            <a:ext cx="822959" cy="347472"/>
          </a:xfrm>
          <a:prstGeom prst="roundRect">
            <a:avLst>
              <a:gd name="adj" fmla="val 8000"/>
            </a:avLst>
          </a:prstGeom>
          <a:solidFill>
            <a:srgbClr val="1A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65816" y="365760"/>
            <a:ext cx="82295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실전 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108356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① 감별·검사: '밤/하지 증상'이 동맥성 허혈(ABI·도플러)·CRPS·신경병증인지 확인. 특발 경련·RLS·정맥류 배제.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② 방향 설정: 교감매개통·허혈로 판단되면 교감신경 축(L2–L3)을 겨냥.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③ 진단적 차단: 투시 유도 국소마취제 LSB → 피부온도 ≥2°C 상승·통증 반응 확인.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1" i="0">
                <a:solidFill>
                  <a:srgbClr val="2E7D32"/>
                </a:solidFill>
                <a:latin typeface="NanumGothic"/>
                <a:ea typeface="NanumGothic"/>
              </a:rPr>
              <a:t>④ 반응 양호 시: 치료적 반복 차단, 또는 신경파괴(무수알코올/phenol)·RFA로 장기 완화.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979" b="1" i="0">
                <a:solidFill>
                  <a:srgbClr val="2C898A"/>
                </a:solidFill>
                <a:latin typeface="NanumGothic"/>
                <a:ea typeface="NanumGothic"/>
              </a:rPr>
              <a:t>●  </a:t>
            </a:r>
            <a:r>
              <a:rPr sz="1400" b="0" i="0">
                <a:solidFill>
                  <a:srgbClr val="1A202C"/>
                </a:solidFill>
                <a:latin typeface="NanumGothic"/>
                <a:ea typeface="NanumGothic"/>
              </a:rPr>
              <a:t>⑤ 대상별: CRPS는 조기(≤12개월) 유리 · 난치성 당뇨병성 신경병증은 지속 LSB+신경파괴(RCT).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1" i="0">
                <a:solidFill>
                  <a:srgbClr val="5A6B7B"/>
                </a:solidFill>
                <a:latin typeface="NanumGothic"/>
                <a:ea typeface="NanumGothic"/>
              </a:rPr>
              <a:t/>
            </a:r>
            <a:r>
              <a:rPr sz="1400" b="1" i="0">
                <a:solidFill>
                  <a:srgbClr val="1F6E70"/>
                </a:solidFill>
                <a:latin typeface="NanumGothic"/>
                <a:ea typeface="NanumGothic"/>
              </a:rPr>
              <a:t>⑥ 주의: 특발성 NLC·정맥질환은 적응 아님 · 합병증(생식대퇴신경통 5–10% 등) 사전 고지.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교육용 제안 · 개별 적용은 임상 판단 · 신경파괴는 진단차단 양성 시에만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00" b="1" i="0">
                <a:solidFill>
                  <a:srgbClr val="9FE0D8"/>
                </a:solidFill>
                <a:latin typeface="NanumGothic"/>
                <a:ea typeface="NanumGothic"/>
              </a:rPr>
              <a:t>핵심 메시지 — LSB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NanumGothic"/>
                <a:ea typeface="NanumGothic"/>
              </a:rPr>
              <a:t>표준은 투시 유도 방척추 접근, 성공은 온도 ≥2°C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22576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방법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286000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L2–L3 방척추 접근·투시, 정중선 7 cm 외측, 조영제 두미측 확산, 성공지표 온도 ≥2°C.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72384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35808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약제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035808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진단/치료는 국소마취제, 신경파괴는 무수알코올/phenol·RFA — 진단차단 양성 시에만.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22191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785615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적응증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785615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조기 CRPS·PAD/CLI 안정통·신경병증·다한증 등. 특발성 NLC·정맥질환(정맥류)은 적응 아님.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72000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4535424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535424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관류 실측 개선(Dickey), 허혈통 최대 75%↓, CRPS 통증완화(교감피부반응으로 예측).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321807"/>
            <a:ext cx="146304" cy="445385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285231"/>
            <a:ext cx="292608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400" b="1" i="0">
                <a:solidFill>
                  <a:srgbClr val="9FE0D8"/>
                </a:solidFill>
                <a:latin typeface="NanumGothic"/>
                <a:ea typeface="NanumGothic"/>
              </a:rPr>
              <a:t>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5285231"/>
            <a:ext cx="7406640" cy="6748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NanumGothic"/>
                <a:ea typeface="NanumGothic"/>
              </a:rPr>
              <a:t>대규모 RCT 부족(관찰·증례 중심). 조기 CRPS·비재건성 CLI에서 유용.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10896"/>
            <a:ext cx="109728" cy="457200"/>
          </a:xfrm>
          <a:prstGeom prst="rect">
            <a:avLst/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95097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2400" b="1" i="0">
                <a:solidFill>
                  <a:srgbClr val="1B355E"/>
                </a:solidFill>
                <a:latin typeface="NanumGothic"/>
                <a:ea typeface="NanumGothic"/>
              </a:rPr>
              <a:t>참고문헌 — LSB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09728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 i="0">
                <a:solidFill>
                  <a:srgbClr val="1F6E70"/>
                </a:solidFill>
                <a:latin typeface="NanumGothic"/>
                <a:ea typeface="NanumGothic"/>
              </a:rPr>
              <a:t>참고문헌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69264"/>
            <a:ext cx="10881360" cy="17780"/>
          </a:xfrm>
          <a:prstGeom prst="rect">
            <a:avLst/>
          </a:prstGeom>
          <a:solidFill>
            <a:srgbClr val="D5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317175" y="365760"/>
            <a:ext cx="1371600" cy="347472"/>
          </a:xfrm>
          <a:prstGeom prst="roundRect">
            <a:avLst>
              <a:gd name="adj" fmla="val 8000"/>
            </a:avLst>
          </a:prstGeom>
          <a:solidFill>
            <a:srgbClr val="2C89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17175" y="365760"/>
            <a:ext cx="13716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NanumGothic"/>
                <a:ea typeface="NanumGothic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Dua A, Varacallo MA. Lumbar sympathetic block. StatPearls. 2026. NBK431107.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sympatholysis. StatPearls. NBK560514.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Zhang JH, Deng YP, Geng MJ. Efficacy of the lumbar sympathetic ganglion block in lower limb pain. Ibrain. 2022;8(4):442-52. PMID 37786587.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Dickey Z, Sharma N. Lumbar sympathetic block leading to increased arterial diameter and blood flow. Cureus. 2024;16(6):e61755. PMID 38975506.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Barreto Junior EPS, et al. Neurolytic block of the lumbar sympathetic chain in critical lower limb ischemia. Braz J Anesthesiol. 2018;68(1):100-3. PMC9391669.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Choi EJ, et al. Effect duration of lumbar sympathetic ganglion neurolysis in CRPS. Sci Rep. 2024;14(1):12693. PMID 38830944.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2578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Gungor S, et al. Sympathetic blocks for CRPS: a case series. Medicine (Baltimore). 2018;97(19):e0705. PMID 29742728.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Effect of lumbar sympathetic blockade on pain, Fontaine classification, collateral perfusion in PAD. Medicina (Kaunas). 2024;60(5):682.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Prediction of LSB efficacy in CRPS type 1 by sympathetic skin response. Pain Ther. 2023;12(3):809-22. PMC10199976.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Continuous LSB + sympatholysis for refractory painful diabetic neuropathy — RCT. 2020. PMID 32915421.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Sympathetic blocks: sustained relief in refractory painful diabetic neuropathy (case). 2012. PMID 22606406.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00" b="0" i="0">
                <a:solidFill>
                  <a:srgbClr val="1A202C"/>
                </a:solidFill>
                <a:latin typeface="NanumGothic"/>
                <a:ea typeface="NanumGothic"/>
              </a:rPr>
              <a:t>Lumbar sympathectomy for ischaemia·vasculitis·diabetic neuropathy·hyperhidrosis — series. 2018. PMID 29516399.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98755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 i="0">
                <a:solidFill>
                  <a:srgbClr val="5A6B7B"/>
                </a:solidFill>
                <a:latin typeface="NanumGothic"/>
                <a:ea typeface="NanumGothic"/>
              </a:rPr>
              <a:t>근거: PubMed/저널 목록 대조 — 조작 인용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0" y="6455664"/>
            <a:ext cx="8229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5A6B7B"/>
                </a:solidFill>
                <a:latin typeface="NanumGothic"/>
                <a:ea typeface="NanumGothic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