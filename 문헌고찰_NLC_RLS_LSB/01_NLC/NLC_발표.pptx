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82296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416052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BFD3E6"/>
                </a:solidFill>
                <a:latin typeface="NanumGothic"/>
                <a:ea typeface="NanumGothic"/>
              </a:rPr>
              <a:t>야간 하지경련 (Nocturnal Leg Cramps)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NanumGothic"/>
                <a:ea typeface="NanumGothic"/>
              </a:rPr>
              <a:t>병태생리 · 주된 호소 ·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NanumGothic"/>
                <a:ea typeface="NanumGothic"/>
              </a:rPr>
              <a:t>근거 기반 치료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1">
                <a:solidFill>
                  <a:srgbClr val="AFC6DF"/>
                </a:solidFill>
                <a:latin typeface="NanumGothic"/>
                <a:ea typeface="NanumGothic"/>
              </a:rPr>
              <a:t>Pathophysiology, Presentation, and Evidence-based Treatment (ESWT · Injection · Oral drugs)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구성: 병태생리 → 주된 호소 → 치료(ESWT · 주사기법 · 경구약제) → 결론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5332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1">
                <a:solidFill>
                  <a:srgbClr val="5A6B7B"/>
                </a:solidFill>
                <a:latin typeface="NanumGothic"/>
                <a:ea typeface="NanumGothic"/>
              </a:rPr>
              <a:t>교육·연구 참고용. 개별 환자의 진료 결정은 담당 의사의 판단에 따른다.  |  작성 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병태생리 ① — 운동신경 과흥분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병태생리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기전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835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1" i="0">
                <a:solidFill>
                  <a:srgbClr val="1A202C"/>
                </a:solidFill>
                <a:latin typeface="NanumGothic"/>
                <a:ea typeface="NanumGothic"/>
              </a:rPr>
              <a:t>NLC는 운동신경의 폭발적 과흥분에 의한 불수의적·유통성 근수축이다.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진성 근경련은 원위 운동축삭 종말의 자발적·고빈도(최대 ~150 Hz) 방전에서 기원(Miller &amp; Layzer 2005).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Minetto 2011: 후경골신경 차단 하에서도 경련은 유발되나 더 높은 자극빈도가 필요·지속이 짧음.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50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500" b="1" i="0">
                <a:solidFill>
                  <a:srgbClr val="1F6E70"/>
                </a:solidFill>
                <a:latin typeface="NanumGothic"/>
                <a:ea typeface="NanumGothic"/>
              </a:rPr>
              <a:t>→ 경련 유지에는 척수 회로(운동뉴런 과흥분의 양성 되먹임)가 필수. 중추+말초 복합 기전.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이차(유발) 요인: 요추관협착·신경근병증(Matsumoto·Ohtori·Handa), 정맥부전, 신경병증, 전해질, 약물(LABA·이뇨제·statin).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Miller &amp; Layzer 2005; Minetto 2011; Garrison 2012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병태생리 ② — 반사 불균형과 근단축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병태생리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기전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64008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근방추(Ia) 흥분성 되먹임 증가 + 골지건기관(Ib) 억제성 되먹임 감소의 불균형이 경련을 촉발·유지.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경련은 근육이 '단축'된 위치(수면 중 발 저측굴곡)에서 거의 배타적으로 발생, 신전으로 완화.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단축 시 GTO 억제가 약해지고 운동종판 흥분 역치가 낮아진다(Minetto 2013).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Khan &amp; Burne 2007: 아킬레스건 전기자극이 진행 중 경련을 반사적으로 억제.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BFD3E6"/>
                </a:solidFill>
                <a:latin typeface="NanumGothic"/>
                <a:ea typeface="NanumGothic"/>
              </a:rPr>
              <a:t>왜 스트레칭이 듣는가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194560"/>
            <a:ext cx="3611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신전·건 자극이 Ib 구심성을 통해 경련 회로를 직접 억제.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1" i="0">
                <a:solidFill>
                  <a:srgbClr val="9FE0D8"/>
                </a:solidFill>
                <a:latin typeface="NanumGothic"/>
                <a:ea typeface="NanumGothic"/>
              </a:rPr>
              <a:t>→ 스트레칭·족배굴곡이 급성 완화와 예방의 생리적 근거.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Minetto 2013; Khan &amp; Burne 2007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환자들의 주된 호소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임상 양상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호소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835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1" i="0">
                <a:solidFill>
                  <a:srgbClr val="1A202C"/>
                </a:solidFill>
                <a:latin typeface="NanumGothic"/>
                <a:ea typeface="NanumGothic"/>
              </a:rPr>
              <a:t>수면 중 갑작스러운 종아리·발의 강한 통증성 경련으로 각성.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해당 근육이 단단하게 뭉침(촉지되는 근경직), 발끝을 몸쪽으로 당기면(족배굴곡) 완화.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지속 수초~최대 10분, 이후 잔통(subsequent pain)이 남음.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수면 분절·각성 → 불면·주간 피로·삶의 질 저하.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위치는 후종아리(비복근)·발이 대부분(허벅지·햄스트링은 드묾).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유병률: 50세+ 경증 24~25%·중등도이상 ~6%, 요추관협착 동반 시 최대 65%.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50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500" b="1" i="0">
                <a:solidFill>
                  <a:srgbClr val="1F6E70"/>
                </a:solidFill>
                <a:latin typeface="NanumGothic"/>
                <a:ea typeface="NanumGothic"/>
              </a:rPr>
              <a:t>감별: RLS(움직임 충동·움직이면 완화·근경직 없음)와 반드시 구분.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Hallegraeff 2017; Grandner &amp; Winkelman 2017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치료 개관 — 3축 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총괄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요약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71600"/>
          <a:ext cx="10835640" cy="3749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3200400"/>
                <a:gridCol w="3566160"/>
                <a:gridCol w="22402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치료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대표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야간경련 근거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위치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ESWT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종아리 표적 충격파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Li 2021(후향)+경직 RCT/MA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보조·근거형성 중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주사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보툴리눔(비복근)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Park 2017·Restivo 2018 RCT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불응성 선택(Level II)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주사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국소마취제 유발점/dry needling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Kim 2015·Temel 2023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MTrP 동반 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주사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심비골신경 내측분지 차단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Imura 2015(직접근거)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선택적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경구약제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quinine / 비타민 B·diltiazem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El-Tawil / Chan·Voon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효과O·독성 / Level C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비약물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취침 전 스트레칭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Hallegraeff 2012 RCT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1차·최우선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문헌고찰 종합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치료 ① 체외충격파(ESWT) — 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ESWT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65816" y="365760"/>
            <a:ext cx="822959" cy="347472"/>
          </a:xfrm>
          <a:prstGeom prst="roundRect">
            <a:avLst>
              <a:gd name="adj" fmla="val 8000"/>
            </a:avLst>
          </a:prstGeom>
          <a:solidFill>
            <a:srgbClr val="B9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65816" y="365760"/>
            <a:ext cx="82295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근거형성중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64008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Li 2021(후향 n=126): 요추퇴행성 동반 하지경련. 2,000 shocks/session, 8–10/sec, 2일 간격 4주.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400" b="1" i="0">
                <a:solidFill>
                  <a:srgbClr val="2E7D32"/>
                </a:solidFill>
                <a:latin typeface="NanumGothic"/>
                <a:ea typeface="NanumGothic"/>
              </a:rPr>
              <a:t>경련 빈도 5.7→1.3회/시간, 지속 57.6→10.6초, VAS 7.6→1.7 (P&lt;0.001).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인접 근거(종아리 경직): Otero-Luis 2024 SR/MA 하지 MAS −0.40; Mihai 2020 SMD 0.53.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B03A2E"/>
                </a:solidFill>
                <a:latin typeface="NanumGothic"/>
                <a:ea typeface="NanumGothic"/>
              </a:rPr>
              <a:t>특발성 NLC만을 표적한 ESWT RCT는 아직 없음(직접 근거 공백).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BFD3E6"/>
                </a:solidFill>
                <a:latin typeface="NanumGothic"/>
                <a:ea typeface="NanumGothic"/>
              </a:rPr>
              <a:t>Li 2021 결과(ESWT군)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194560"/>
            <a:ext cx="3611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빈도 5.7 → 1.3 회/시간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지속 57.6 → 10.6 초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통증 VAS 7.6 → 1.7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1" i="0">
                <a:solidFill>
                  <a:srgbClr val="9FE0D8"/>
                </a:solidFill>
                <a:latin typeface="NanumGothic"/>
                <a:ea typeface="NanumGothic"/>
              </a:rPr>
              <a:t>모두 대조군 대비 P&lt;0.001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Li 2021(Biomed Res Int); Otero-Luis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ESWT — 기전 · 프로토콜 ·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ESWT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기전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835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기전(Yang 2021): NO 합성↑, 신경근접합부 ACh수용체 변성(CMAP↓ 6–8주), 운동신경원 흥분성↓, 유변학적 변화, 미세순환 개선.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프로토콜: 비복근 내·외측두·가자미근 운동점, radial 1.5–2.5 bar 또는 focused ~0.10 mJ/mm², 2,000–3,000 pulses/근육, 주 1–2회 3–4주(세션수 의존).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안전: 대체로 안전(일시적 국소통증). 상대 금기 — 항응고제·심부정맥혈전·감염·악성종양 부위·임신.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50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500" b="1" i="0">
                <a:solidFill>
                  <a:srgbClr val="1F6E70"/>
                </a:solidFill>
                <a:latin typeface="NanumGothic"/>
                <a:ea typeface="NanumGothic"/>
              </a:rPr>
              <a:t>한계: 특발성 NLC 직접 RCT 부재, 효과 대개 12주 이내 단기 → 생물학적 타당성은 높으나 보조·실험적.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Yang 2021(J Clin Med, 기전 리뷰)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치료 ② 주사기법 (1) 국소마취제 유발점주사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주사기법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65816" y="365760"/>
            <a:ext cx="822959" cy="34747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65816" y="365760"/>
            <a:ext cx="82295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효과 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64008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개념: 비복근 근막통증유발점(MTrP)에 소량 국소마취제 → 국소 근이완·유발점 비활성화·구심성 되먹임 차단.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2E7D32"/>
                </a:solidFill>
                <a:latin typeface="NanumGothic"/>
                <a:ea typeface="NanumGothic"/>
              </a:rPr>
              <a:t>결과(Kim 2015, n=12): NRS·경련 빈도·불면지수(ISI) 모두 유의 개선(P&lt;0.01), 임상적 불면 10명→4주째 1명.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Prateepavanich 1999(무작위 n=24): xylocaine 주사 vs quinine — 지속효과 면에서 주사군 우월.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F6E70"/>
                </a:solidFill>
                <a:latin typeface="NanumGothic"/>
                <a:ea typeface="NanumGothic"/>
              </a:rPr>
              <a:t>기법(Kim 2015)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194560"/>
            <a:ext cx="3611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약제: 0.25% lidocaine 1–2 mL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바늘: 25 G, 피부 30° 접근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표적: 비복근 유발점(최대 압통점)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빈도: 주 1회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Kim 2015(J Am Board Fam Med); Prateepavanich 1999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치료 ② 주사기법 (2) 건침(Dry Needling)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주사기법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65816" y="365760"/>
            <a:ext cx="822959" cy="34747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65816" y="365760"/>
            <a:ext cx="82295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효과 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835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1" i="0">
                <a:solidFill>
                  <a:srgbClr val="1A202C"/>
                </a:solidFill>
                <a:latin typeface="NanumGothic"/>
                <a:ea typeface="NanumGothic"/>
              </a:rPr>
              <a:t>기법: 비복근 유발점에 약물 없이 자침, 국소연축반응 유도·소실 → taut band 이완, 압력통증역치 상승. 주 1회 약 3회기.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2E7D32"/>
                </a:solidFill>
                <a:latin typeface="NanumGothic"/>
                <a:ea typeface="NanumGothic"/>
              </a:rPr>
              <a:t>Temel 2023 RCT(n=42): 스트레칭 단독 vs 스트레칭+DN → DN 병용군이 3개월 경련 횟수(P=0.016)·강도·압력통증역치·수면질(PSQI) 우월.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Bagcier 2021 증례: 주1회 3회기 후 경련 지속 60초→10초, VAS 8→1, 빈도 '매일'→'주간'.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50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500" b="1" i="0">
                <a:solidFill>
                  <a:srgbClr val="1F6E70"/>
                </a:solidFill>
                <a:latin typeface="NanumGothic"/>
                <a:ea typeface="NanumGothic"/>
              </a:rPr>
              <a:t>저침습·저비용·무약물. 근거는 소규모 RCT·증례(Level III~). 초음파 유도 권장.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Temel 2023(Turk J Osteoporos); Bagcier 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치료 ② 주사기법 (3) 심비골신경 내측분지 차단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주사기법 · 직접근거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65816" y="365760"/>
            <a:ext cx="822959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65816" y="365760"/>
            <a:ext cx="82295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직접 근거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64008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Imura 2015: 야간경련에 말초 운동신경가지를 직접 표적한, 현재 유일한 전향적 비교연구.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대상: 요추수술 후 지속 경련 66명(차단군 41 vs 대조 25), 평균 60.9세.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기법: 제1–2 중족골 사이 간극의 원위 2/3 지점, 1.0% lidocaine 5.0 mL(무에피네프린)를 1.0–1.5 cm 깊이에 서서히 주입.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부작용 41명 전원 없음. 저위험·간편.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BFD3E6"/>
                </a:solidFill>
                <a:latin typeface="NanumGothic"/>
                <a:ea typeface="NanumGothic"/>
              </a:rPr>
              <a:t>결과(2주)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194560"/>
            <a:ext cx="3611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1" i="0">
                <a:solidFill>
                  <a:srgbClr val="9FE0D8"/>
                </a:solidFill>
                <a:latin typeface="NanumGothic"/>
                <a:ea typeface="NanumGothic"/>
              </a:rPr>
              <a:t>빈도 1/4↓: 61.0% vs 20.0%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1/2↓: 80.5% (P&lt;0.01)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강도↓: 63.4% vs 8.0%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12주 이상 지속 63.4%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Imura 2015(Brain Behav; PMID 26445706)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치료 ② 주사기법 (4) 보툴리눔 + 안전성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주사기법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65816" y="365760"/>
            <a:ext cx="822959" cy="34747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65816" y="365760"/>
            <a:ext cx="82295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효과 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835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1" i="0">
                <a:solidFill>
                  <a:srgbClr val="2E7D32"/>
                </a:solidFill>
                <a:latin typeface="NanumGothic"/>
                <a:ea typeface="NanumGothic"/>
              </a:rPr>
              <a:t>Park 2017 RCT(n=50): 요추관협착 동반 야간 종아리경련. 비복근 BTX-A vs gabapentin → 전 시점 다리통증·빈도·강도 유의 감소(P&lt;0.01), 불면·기능 개선.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Restivo 2018 RCT: 당뇨병성 신경병증 경련에서 위약 대비 개선(1주부터 16주 지속).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주사 계열 중 근거 최고(Level II)이나 고가·반복·근력약화 우려 → 선택적.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50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500" b="1" i="0">
                <a:solidFill>
                  <a:srgbClr val="B03A2E"/>
                </a:solidFill>
                <a:latin typeface="NanumGothic"/>
                <a:ea typeface="NanumGothic"/>
              </a:rPr>
              <a:t>안전(고령): 경골신경→족저굴곡 약화, 총비골신경→족하수→낙상. 항응고제 시 출혈. 초음파 유도·혈관내 주입 회피.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Park 2017·Restivo 2018 (Arch Phys Med Rehabil / Ann Neurol)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치료 ③ 효과 좋은 경구 약제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경구약제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약제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71600"/>
          <a:ext cx="10835640" cy="3639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3657600"/>
                <a:gridCol w="51663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약제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근거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평가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Quinine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El-Tawil 2015 Cochrane(23시험)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효과 O이나 FDA 미승인·혈소판감소/TTP → 최후·선별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비타민 B 복합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Chan 1998 RCT(고령 28명)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빈도·강도·지속 감소, Level C·안전 → 우선 시도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Diltiazem 30mg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Voon 2001 교차(n=13)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빈도 5.8→0.16/2주, Level C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Vitamin K2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Tan 2024(JAMA IM)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빈도 2.60→0.96 (⚠정정·교체 통지, 과대해석 금지)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Gabapentin·Baclofen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Kim 2024 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LSS 동반 시 제한적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마그네슘(특발성)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Garrison 2020 Cochrane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임상적 이득 없음 — 권고 안 함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AAN(Katzberg 2010); Cochrane 종합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1차 비약물 치료 (참고)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비약물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1차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835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1" i="0">
                <a:solidFill>
                  <a:srgbClr val="2E7D32"/>
                </a:solidFill>
                <a:latin typeface="NanumGothic"/>
                <a:ea typeface="NanumGothic"/>
              </a:rPr>
              <a:t>취침 전 스트레칭(Hallegraeff 2012 RCT): 종아리·햄스트링 6주 → 경련 빈도(−1.2회/야간)·강도(−1.3 cm VAS) 감소.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위험 거의 없고 무비용 → 모든 고령 NLC 환자의 1차.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급성 발작: 족배굴곡 수동 신장·걷기·마사지.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자세·환경: 이불을 발 위로 팽팽히 덮지 않기, 발끝 중립, 수분·온열.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원인 교정: 유발약물(LABA·이뇨제·statin) 검토, 이차 원인(협착·정맥부전·전해질) 교정.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Hallegraeff 2012(J Physiother); Allen &amp; Kirby 2012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9FE0D8"/>
                </a:solidFill>
                <a:latin typeface="NanumGothic"/>
                <a:ea typeface="NanumGothic"/>
              </a:rPr>
              <a:t>핵심 메시지 — NLC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NanumGothic"/>
                <a:ea typeface="NanumGothic"/>
              </a:rPr>
              <a:t>감별과 원인교정이 먼저, 스트레칭이 1차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22576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86000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병태생리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286000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운동신경 과흥분 + Ia/Ib 반사 불균형. 단축된 근육에서 유발, 신전으로 완화.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72384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035808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주된 호소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35808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수면 중 통증성 경련·촉지 근경직·족배굴곡 완화·잔통·수면장애. RLS와 감별.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822191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785615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ESWT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785615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경직 근거는 강하나 경련 직접근거는 약함 → 보조·근거형성 중.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572000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535424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주사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535424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BTX(RCT)·유발점/dry needling(MTrP)·심비골신경 차단(Imura)이 불응성에 선택적.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321807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285231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경구약제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285231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quinine 효과O·독성으로 회피, 비타민B/diltiazem 비교적 안전, 마그네슘 특발성 무효.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참고문헌 — NLC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참고문헌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17175" y="36576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17175" y="365760"/>
            <a:ext cx="13716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2578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Miller TM, Layzer RB. Muscle cramps. Muscle Nerve. 2005;32(4):431-442. PMID 15902691.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Minetto MA, et al. Mechanisms of cramp contractions: peripheral or central generation? J Physiol. 2011;589:5759-73. PMID 21969448.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Khan SI, Burne JA. Reflex inhibition of cramp by tendon stimulation. J Neurophysiol. 2007;98(3):1102-7. PMID 17634341.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Hallegraeff JM, et al. Stretching before sleep reduces nocturnal leg cramps in older adults: RCT. J Physiother. 2012;58(1):17-22. PMID 22341378.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Li BZ, et al. ESWT reduces leg cramps in lumbar degenerative disorders: retrospective. Biomed Res Int. 2021;2021:3554397. PMID 34734084.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Otero-Luis I, et al. ESWT for spasticity: SR &amp; meta-analysis. J Clin Med. 2024;13(5):1323. PMID 38592705.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Kim DH, et al. Myofascial trigger point injections on nocturnal calf cramps. J Am Board Fam Med. 2015;28(1):21-7. PMID 25567819.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2578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Temel MH, et al. Dry needling on nocturnal calf cramps: RCT. Turk J Osteoporos. 2023;29(3):170-6.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Imura T, et al. Nocturnal leg cramps treated by deep peroneal nerve medial branch block. Brain Behav. 2015;5(9):e00370. PMID 26445706.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Park SJ, et al. Botulinum toxin for nocturnal calf cramps in LSS: RCT. Arch Phys Med Rehabil. 2017;98(5):957-63. PMID 28209505.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El-Tawil S, et al. Quinine for muscle cramps. Cochrane Database Syst Rev. 2015;(4):CD005044. PMID 25842375.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Garrison SR, et al. Magnesium for skeletal muscle cramps. Cochrane Database Syst Rev. 2020;9:CD009402. PMID 32956536.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Chan P, et al. Vitamin B complex for nocturnal leg cramps: RCT. J Clin Pharmacol. 1998;38(12):1151-4. PMID 11301568.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Voon WC, Sheu SH. Diltiazem for nocturnal leg cramps. Age Ageing. 2001;30(1):91-2. PMID 11322688.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PubMed/저널 목록 대조 — 조작 인용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