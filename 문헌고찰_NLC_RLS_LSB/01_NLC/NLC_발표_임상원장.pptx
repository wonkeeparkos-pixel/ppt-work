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pubmed.ncbi.nlm.nih.gov/15902691/" TargetMode="External"/><Relationship Id="rId3" Type="http://schemas.openxmlformats.org/officeDocument/2006/relationships/hyperlink" Target="https://pubmed.ncbi.nlm.nih.gov/21969448/" TargetMode="External"/><Relationship Id="rId4" Type="http://schemas.openxmlformats.org/officeDocument/2006/relationships/hyperlink" Target="https://pubmed.ncbi.nlm.nih.gov/17634341/" TargetMode="External"/><Relationship Id="rId5" Type="http://schemas.openxmlformats.org/officeDocument/2006/relationships/hyperlink" Target="https://pubmed.ncbi.nlm.nih.gov/22341378/" TargetMode="External"/><Relationship Id="rId6" Type="http://schemas.openxmlformats.org/officeDocument/2006/relationships/hyperlink" Target="https://pubmed.ncbi.nlm.nih.gov/34734084/" TargetMode="External"/><Relationship Id="rId7" Type="http://schemas.openxmlformats.org/officeDocument/2006/relationships/hyperlink" Target="https://pubmed.ncbi.nlm.nih.gov/38592705/" TargetMode="External"/><Relationship Id="rId8" Type="http://schemas.openxmlformats.org/officeDocument/2006/relationships/hyperlink" Target="https://pubmed.ncbi.nlm.nih.gov/25567819/" TargetMode="External"/><Relationship Id="rId9" Type="http://schemas.openxmlformats.org/officeDocument/2006/relationships/hyperlink" Target="https://doi.org/10.4274/tod.galenos.2023.54254" TargetMode="External"/><Relationship Id="rId10" Type="http://schemas.openxmlformats.org/officeDocument/2006/relationships/hyperlink" Target="https://pubmed.ncbi.nlm.nih.gov/26445706/" TargetMode="External"/><Relationship Id="rId11" Type="http://schemas.openxmlformats.org/officeDocument/2006/relationships/hyperlink" Target="https://pubmed.ncbi.nlm.nih.gov/28209505/" TargetMode="External"/><Relationship Id="rId12" Type="http://schemas.openxmlformats.org/officeDocument/2006/relationships/hyperlink" Target="https://pubmed.ncbi.nlm.nih.gov/25842375/" TargetMode="External"/><Relationship Id="rId13" Type="http://schemas.openxmlformats.org/officeDocument/2006/relationships/hyperlink" Target="https://pubmed.ncbi.nlm.nih.gov/32956536/" TargetMode="External"/><Relationship Id="rId14" Type="http://schemas.openxmlformats.org/officeDocument/2006/relationships/hyperlink" Target="https://pubmed.ncbi.nlm.nih.gov/11301568/" TargetMode="External"/><Relationship Id="rId15" Type="http://schemas.openxmlformats.org/officeDocument/2006/relationships/hyperlink" Target="https://pubmed.ncbi.nlm.nih.gov/11322688/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E7C7B"/>
                </a:solidFill>
                <a:latin typeface="Pretendard"/>
                <a:ea typeface="Pretendard"/>
              </a:rPr>
              <a:t>NOCTURNAL LEG CRAMPS · 문헌고찰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828800"/>
            <a:ext cx="104241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4400" b="1" i="0">
                <a:solidFill>
                  <a:srgbClr val="17232C"/>
                </a:solidFill>
                <a:latin typeface="Pretendard"/>
                <a:ea typeface="Pretendard"/>
              </a:rPr>
              <a:t>야간 하지경련</a:t>
            </a:r>
          </a:p>
        </p:txBody>
      </p:sp>
      <p:sp>
        <p:nvSpPr>
          <p:cNvPr id="6" name="Rectangle 5"/>
          <p:cNvSpPr/>
          <p:nvPr/>
        </p:nvSpPr>
        <p:spPr>
          <a:xfrm>
            <a:off x="886968" y="3200400"/>
            <a:ext cx="3840480" cy="20320"/>
          </a:xfrm>
          <a:prstGeom prst="rect">
            <a:avLst/>
          </a:prstGeom>
          <a:solidFill>
            <a:srgbClr val="E4E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4290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000" b="0" i="0">
                <a:solidFill>
                  <a:srgbClr val="3A4750"/>
                </a:solidFill>
                <a:latin typeface="Pretendard"/>
                <a:ea typeface="Pretendard"/>
              </a:rPr>
              <a:t>병태생리 · 주된 호소 · 근거 기반 치료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0233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0E7C7B"/>
                </a:solidFill>
                <a:latin typeface="Pretendard"/>
                <a:ea typeface="Pretendard"/>
              </a:rPr>
              <a:t>ESWT · 주사기법 · 경구약제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5943600"/>
            <a:ext cx="10424160" cy="15240"/>
          </a:xfrm>
          <a:prstGeom prst="rect">
            <a:avLst/>
          </a:prstGeom>
          <a:solidFill>
            <a:srgbClr val="E4E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6053328"/>
            <a:ext cx="100584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50" b="0" i="0">
                <a:solidFill>
                  <a:srgbClr val="6B7680"/>
                </a:solidFill>
                <a:latin typeface="Pretendard"/>
                <a:ea typeface="Pretendard"/>
              </a:rPr>
              <a:t>고령 하지증상 문헌고찰 시리즈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0E7C7B"/>
                </a:solidFill>
                <a:latin typeface="Pretendard"/>
                <a:ea typeface="Pretendard"/>
              </a:rPr>
              <a:t>병태생리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94183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400" b="1" i="0">
                <a:solidFill>
                  <a:srgbClr val="17232C"/>
                </a:solidFill>
                <a:latin typeface="Pretendard"/>
                <a:ea typeface="Pretendard"/>
              </a:rPr>
              <a:t>운동신경 과흥분에서 기원한다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98448"/>
            <a:ext cx="10725912" cy="17780"/>
          </a:xfrm>
          <a:prstGeom prst="rect">
            <a:avLst/>
          </a:prstGeom>
          <a:solidFill>
            <a:srgbClr val="E4E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38967" y="457200"/>
            <a:ext cx="521208" cy="365760"/>
          </a:xfrm>
          <a:prstGeom prst="roundRect">
            <a:avLst>
              <a:gd name="adj" fmla="val 900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38967" y="457200"/>
            <a:ext cx="52120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Pretendard"/>
                <a:ea typeface="Pretendard"/>
              </a:rPr>
              <a:t>기전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536192"/>
            <a:ext cx="1069848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900" b="1" i="0">
                <a:solidFill>
                  <a:srgbClr val="0E7C7B"/>
                </a:solidFill>
                <a:latin typeface="Pretendard"/>
                <a:ea typeface="Pretendard"/>
              </a:rPr>
              <a:t>●  </a:t>
            </a:r>
            <a:r>
              <a:rPr sz="1500" b="0" i="0">
                <a:solidFill>
                  <a:srgbClr val="33403B"/>
                </a:solidFill>
                <a:latin typeface="Pretendard"/>
                <a:ea typeface="Pretendard"/>
              </a:rPr>
              <a:t>NLC는 </a:t>
            </a:r>
            <a:r>
              <a:rPr sz="1500" b="1" i="0">
                <a:solidFill>
                  <a:srgbClr val="17232C"/>
                </a:solidFill>
                <a:latin typeface="Pretendard"/>
                <a:ea typeface="Pretendard"/>
              </a:rPr>
              <a:t>운동신경의 폭발적 과흥분</a:t>
            </a:r>
            <a:r>
              <a:rPr sz="1500" b="0" i="0">
                <a:solidFill>
                  <a:srgbClr val="33403B"/>
                </a:solidFill>
                <a:latin typeface="Pretendard"/>
                <a:ea typeface="Pretendard"/>
              </a:rPr>
              <a:t>에 의한 불수의적·유통성 근수축이다.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900" b="1" i="0">
                <a:solidFill>
                  <a:srgbClr val="0E7C7B"/>
                </a:solidFill>
                <a:latin typeface="Pretendard"/>
                <a:ea typeface="Pretendard"/>
              </a:rPr>
              <a:t>●  </a:t>
            </a:r>
            <a:r>
              <a:rPr sz="1500" b="0" i="0">
                <a:solidFill>
                  <a:srgbClr val="33403B"/>
                </a:solidFill>
                <a:latin typeface="Pretendard"/>
                <a:ea typeface="Pretendard"/>
              </a:rPr>
              <a:t>진성 근경련은 원위 운동축삭 종말의 자발적·고빈도(최대 ~150 Hz) 방전에서 기원(Miller &amp; Layzer 2005).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900" b="1" i="0">
                <a:solidFill>
                  <a:srgbClr val="0E7C7B"/>
                </a:solidFill>
                <a:latin typeface="Pretendard"/>
                <a:ea typeface="Pretendard"/>
              </a:rPr>
              <a:t>●  </a:t>
            </a:r>
            <a:r>
              <a:rPr sz="1500" b="0" i="0">
                <a:solidFill>
                  <a:srgbClr val="33403B"/>
                </a:solidFill>
                <a:latin typeface="Pretendard"/>
                <a:ea typeface="Pretendard"/>
              </a:rPr>
              <a:t>Minetto 2011: 후경골신경 차단 하에서도 경련은 유발되나 더 높은 자극빈도 필요·지속이 짧음.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1500" b="1" i="0">
                <a:solidFill>
                  <a:srgbClr val="6B7680"/>
                </a:solidFill>
                <a:latin typeface="Pretendard"/>
                <a:ea typeface="Pretendard"/>
              </a:rPr>
              <a:t>      –  </a:t>
            </a:r>
            <a:r>
              <a:rPr sz="1500" b="0" i="0">
                <a:solidFill>
                  <a:srgbClr val="0B5F5E"/>
                </a:solidFill>
                <a:latin typeface="Pretendard"/>
                <a:ea typeface="Pretendard"/>
              </a:rPr>
              <a:t>→ 경련 유지에는 척수 회로(운동뉴런 과흥분의 양성 되먹임)가 필수. 중추+말초 복합.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900" b="1" i="0">
                <a:solidFill>
                  <a:srgbClr val="0E7C7B"/>
                </a:solidFill>
                <a:latin typeface="Pretendard"/>
                <a:ea typeface="Pretendard"/>
              </a:rPr>
              <a:t>●  </a:t>
            </a:r>
            <a:r>
              <a:rPr sz="1500" b="0" i="0">
                <a:solidFill>
                  <a:srgbClr val="33403B"/>
                </a:solidFill>
                <a:latin typeface="Pretendard"/>
                <a:ea typeface="Pretendard"/>
              </a:rPr>
              <a:t>이차 유발: 요추관협착·신경근병증, 정맥부전, 신경병증, 전해질, 약물(LABA·이뇨제·statin).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6272784"/>
            <a:ext cx="10725912" cy="15240"/>
          </a:xfrm>
          <a:prstGeom prst="rect">
            <a:avLst/>
          </a:prstGeom>
          <a:solidFill>
            <a:srgbClr val="E4E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364224"/>
            <a:ext cx="96926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950" b="0" i="0">
                <a:solidFill>
                  <a:srgbClr val="6B7680"/>
                </a:solidFill>
                <a:latin typeface="Pretendard"/>
                <a:ea typeface="Pretendard"/>
              </a:rPr>
              <a:t>근거: Miller &amp; Layzer 2005; Minetto 2011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364224"/>
            <a:ext cx="8229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6B7680"/>
                </a:solidFill>
                <a:latin typeface="Pretendard"/>
                <a:ea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0E7C7B"/>
                </a:solidFill>
                <a:latin typeface="Pretendard"/>
                <a:ea typeface="Pretendard"/>
              </a:rPr>
              <a:t>병태생리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94183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400" b="1" i="0">
                <a:solidFill>
                  <a:srgbClr val="17232C"/>
                </a:solidFill>
                <a:latin typeface="Pretendard"/>
                <a:ea typeface="Pretendard"/>
              </a:rPr>
              <a:t>반사 불균형과 근단축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98448"/>
            <a:ext cx="10725912" cy="17780"/>
          </a:xfrm>
          <a:prstGeom prst="rect">
            <a:avLst/>
          </a:prstGeom>
          <a:solidFill>
            <a:srgbClr val="E4E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38967" y="457200"/>
            <a:ext cx="521208" cy="365760"/>
          </a:xfrm>
          <a:prstGeom prst="roundRect">
            <a:avLst>
              <a:gd name="adj" fmla="val 900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38967" y="457200"/>
            <a:ext cx="52120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Pretendard"/>
                <a:ea typeface="Pretendard"/>
              </a:rPr>
              <a:t>기전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536192"/>
            <a:ext cx="640080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900" b="1" i="0">
                <a:solidFill>
                  <a:srgbClr val="0E7C7B"/>
                </a:solidFill>
                <a:latin typeface="Pretendard"/>
                <a:ea typeface="Pretendard"/>
              </a:rPr>
              <a:t>●  </a:t>
            </a:r>
            <a:r>
              <a:rPr sz="1400" b="1" i="0">
                <a:solidFill>
                  <a:srgbClr val="17232C"/>
                </a:solidFill>
                <a:latin typeface="Pretendard"/>
                <a:ea typeface="Pretendard"/>
              </a:rPr>
              <a:t>근방추(Ia) 흥분</a:t>
            </a:r>
            <a:r>
              <a:rPr sz="1400" b="0" i="0">
                <a:solidFill>
                  <a:srgbClr val="33403B"/>
                </a:solidFill>
                <a:latin typeface="Pretendard"/>
                <a:ea typeface="Pretendard"/>
              </a:rPr>
              <a:t> ↑ + </a:t>
            </a:r>
            <a:r>
              <a:rPr sz="1400" b="1" i="0">
                <a:solidFill>
                  <a:srgbClr val="17232C"/>
                </a:solidFill>
                <a:latin typeface="Pretendard"/>
                <a:ea typeface="Pretendard"/>
              </a:rPr>
              <a:t>골지건기관(Ib) 억제</a:t>
            </a:r>
            <a:r>
              <a:rPr sz="1400" b="0" i="0">
                <a:solidFill>
                  <a:srgbClr val="33403B"/>
                </a:solidFill>
                <a:latin typeface="Pretendard"/>
                <a:ea typeface="Pretendard"/>
              </a:rPr>
              <a:t> ↓ 불균형이 경련을 촉발·유지.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900" b="1" i="0">
                <a:solidFill>
                  <a:srgbClr val="0E7C7B"/>
                </a:solidFill>
                <a:latin typeface="Pretendard"/>
                <a:ea typeface="Pretendard"/>
              </a:rPr>
              <a:t>●  </a:t>
            </a:r>
            <a:r>
              <a:rPr sz="1400" b="0" i="0">
                <a:solidFill>
                  <a:srgbClr val="33403B"/>
                </a:solidFill>
                <a:latin typeface="Pretendard"/>
                <a:ea typeface="Pretendard"/>
              </a:rPr>
              <a:t>경련은 근육이 '단축'된 위치(수면 중 발 저측굴곡)에서 거의 배타적으로 발생, 신전으로 완화.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900" b="1" i="0">
                <a:solidFill>
                  <a:srgbClr val="0E7C7B"/>
                </a:solidFill>
                <a:latin typeface="Pretendard"/>
                <a:ea typeface="Pretendard"/>
              </a:rPr>
              <a:t>●  </a:t>
            </a:r>
            <a:r>
              <a:rPr sz="1400" b="0" i="0">
                <a:solidFill>
                  <a:srgbClr val="33403B"/>
                </a:solidFill>
                <a:latin typeface="Pretendard"/>
                <a:ea typeface="Pretendard"/>
              </a:rPr>
              <a:t>단축 시 GTO 억제가 약해지고 운동종판 흥분 역치가 낮아진다(Minetto 2013).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60920" y="1536192"/>
            <a:ext cx="4096512" cy="4434840"/>
          </a:xfrm>
          <a:prstGeom prst="roundRect">
            <a:avLst>
              <a:gd name="adj" fmla="val 9000"/>
            </a:avLst>
          </a:prstGeom>
          <a:solidFill>
            <a:srgbClr val="F0F4F3"/>
          </a:solidFill>
          <a:ln w="15240">
            <a:solidFill>
              <a:srgbClr val="DDE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35240" y="1792224"/>
            <a:ext cx="35478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50" b="1" i="0">
                <a:solidFill>
                  <a:srgbClr val="0B5F5E"/>
                </a:solidFill>
                <a:latin typeface="Pretendard"/>
                <a:ea typeface="Pretendard"/>
              </a:rPr>
              <a:t>왜 스트레칭이 듣는가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2359152"/>
            <a:ext cx="3547872" cy="3337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850" b="1" i="0">
                <a:solidFill>
                  <a:srgbClr val="0E7C7B"/>
                </a:solidFill>
                <a:latin typeface="Pretendard"/>
                <a:ea typeface="Pretendard"/>
              </a:rPr>
              <a:t>●  </a:t>
            </a:r>
            <a:r>
              <a:rPr sz="1250" b="0" i="0">
                <a:solidFill>
                  <a:srgbClr val="33403B"/>
                </a:solidFill>
                <a:latin typeface="Pretendard"/>
                <a:ea typeface="Pretendard"/>
              </a:rPr>
              <a:t>Khan &amp; Burne 2007: 아킬레스건 자극이 진행 중 경련을 </a:t>
            </a:r>
            <a:r>
              <a:rPr sz="1250" b="1" i="0">
                <a:solidFill>
                  <a:srgbClr val="17232C"/>
                </a:solidFill>
                <a:latin typeface="Pretendard"/>
                <a:ea typeface="Pretendard"/>
              </a:rPr>
              <a:t>반사적으로 억제</a:t>
            </a:r>
            <a:r>
              <a:rPr sz="1250" b="0" i="0">
                <a:solidFill>
                  <a:srgbClr val="33403B"/>
                </a:solidFill>
                <a:latin typeface="Pretendard"/>
                <a:ea typeface="Pretendard"/>
              </a:rPr>
              <a:t>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850" b="1" i="0">
                <a:solidFill>
                  <a:srgbClr val="0E7C7B"/>
                </a:solidFill>
                <a:latin typeface="Pretendard"/>
                <a:ea typeface="Pretendard"/>
              </a:rPr>
              <a:t>●  </a:t>
            </a:r>
            <a:r>
              <a:rPr sz="1250" b="0" i="0">
                <a:solidFill>
                  <a:srgbClr val="33403B"/>
                </a:solidFill>
                <a:latin typeface="Pretendard"/>
                <a:ea typeface="Pretendard"/>
              </a:rPr>
              <a:t>신전·건 자극이 Ib 구심성으로 경련 회로를 직접 겨냥.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250" b="0" i="0">
                <a:solidFill>
                  <a:srgbClr val="0B5F5E"/>
                </a:solidFill>
                <a:latin typeface="Pretendard"/>
                <a:ea typeface="Pretendard"/>
              </a:rPr>
              <a:t>→ 스트레칭·족배굴곡이 급성 완화·예방의 생리적 근거.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6272784"/>
            <a:ext cx="10725912" cy="15240"/>
          </a:xfrm>
          <a:prstGeom prst="rect">
            <a:avLst/>
          </a:prstGeom>
          <a:solidFill>
            <a:srgbClr val="E4E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364224"/>
            <a:ext cx="96926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950" b="0" i="0">
                <a:solidFill>
                  <a:srgbClr val="6B7680"/>
                </a:solidFill>
                <a:latin typeface="Pretendard"/>
                <a:ea typeface="Pretendard"/>
              </a:rPr>
              <a:t>근거: Minetto 2013; Khan &amp; Burne 2007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364224"/>
            <a:ext cx="8229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6B7680"/>
                </a:solidFill>
                <a:latin typeface="Pretendard"/>
                <a:ea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0E7C7B"/>
                </a:solidFill>
                <a:latin typeface="Pretendard"/>
                <a:ea typeface="Pretendard"/>
              </a:rPr>
              <a:t>임상 양상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94183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400" b="1" i="0">
                <a:solidFill>
                  <a:srgbClr val="17232C"/>
                </a:solidFill>
                <a:latin typeface="Pretendard"/>
                <a:ea typeface="Pretendard"/>
              </a:rPr>
              <a:t>환자들의 주된 호소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98448"/>
            <a:ext cx="10725912" cy="17780"/>
          </a:xfrm>
          <a:prstGeom prst="rect">
            <a:avLst/>
          </a:prstGeom>
          <a:solidFill>
            <a:srgbClr val="E4E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38967" y="457200"/>
            <a:ext cx="521208" cy="365760"/>
          </a:xfrm>
          <a:prstGeom prst="roundRect">
            <a:avLst>
              <a:gd name="adj" fmla="val 900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38967" y="457200"/>
            <a:ext cx="52120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Pretendard"/>
                <a:ea typeface="Pretendard"/>
              </a:rPr>
              <a:t>호소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536192"/>
            <a:ext cx="1069848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900" b="1" i="0">
                <a:solidFill>
                  <a:srgbClr val="0E7C7B"/>
                </a:solidFill>
                <a:latin typeface="Pretendard"/>
                <a:ea typeface="Pretendard"/>
              </a:rPr>
              <a:t>●  </a:t>
            </a:r>
            <a:r>
              <a:rPr sz="1500" b="0" i="0">
                <a:solidFill>
                  <a:srgbClr val="33403B"/>
                </a:solidFill>
                <a:latin typeface="Pretendard"/>
                <a:ea typeface="Pretendard"/>
              </a:rPr>
              <a:t>수면 중 갑작스러운 종아리·발의 </a:t>
            </a:r>
            <a:r>
              <a:rPr sz="1500" b="1" i="0">
                <a:solidFill>
                  <a:srgbClr val="17232C"/>
                </a:solidFill>
                <a:latin typeface="Pretendard"/>
                <a:ea typeface="Pretendard"/>
              </a:rPr>
              <a:t>강한 통증성 경련</a:t>
            </a:r>
            <a:r>
              <a:rPr sz="1500" b="0" i="0">
                <a:solidFill>
                  <a:srgbClr val="33403B"/>
                </a:solidFill>
                <a:latin typeface="Pretendard"/>
                <a:ea typeface="Pretendard"/>
              </a:rPr>
              <a:t>으로 각성.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900" b="1" i="0">
                <a:solidFill>
                  <a:srgbClr val="0E7C7B"/>
                </a:solidFill>
                <a:latin typeface="Pretendard"/>
                <a:ea typeface="Pretendard"/>
              </a:rPr>
              <a:t>●  </a:t>
            </a:r>
            <a:r>
              <a:rPr sz="1500" b="0" i="0">
                <a:solidFill>
                  <a:srgbClr val="33403B"/>
                </a:solidFill>
                <a:latin typeface="Pretendard"/>
                <a:ea typeface="Pretendard"/>
              </a:rPr>
              <a:t>해당 근육이 단단하게 뭉침(</a:t>
            </a:r>
            <a:r>
              <a:rPr sz="1500" b="1" i="0">
                <a:solidFill>
                  <a:srgbClr val="17232C"/>
                </a:solidFill>
                <a:latin typeface="Pretendard"/>
                <a:ea typeface="Pretendard"/>
              </a:rPr>
              <a:t>촉지되는 근경직</a:t>
            </a:r>
            <a:r>
              <a:rPr sz="1500" b="0" i="0">
                <a:solidFill>
                  <a:srgbClr val="33403B"/>
                </a:solidFill>
                <a:latin typeface="Pretendard"/>
                <a:ea typeface="Pretendard"/>
              </a:rPr>
              <a:t>), 발끝을 몸쪽으로 당기면(족배굴곡) 완화.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900" b="1" i="0">
                <a:solidFill>
                  <a:srgbClr val="0E7C7B"/>
                </a:solidFill>
                <a:latin typeface="Pretendard"/>
                <a:ea typeface="Pretendard"/>
              </a:rPr>
              <a:t>●  </a:t>
            </a:r>
            <a:r>
              <a:rPr sz="1500" b="0" i="0">
                <a:solidFill>
                  <a:srgbClr val="33403B"/>
                </a:solidFill>
                <a:latin typeface="Pretendard"/>
                <a:ea typeface="Pretendard"/>
              </a:rPr>
              <a:t>지속 수초~최대 10분, 이후 </a:t>
            </a:r>
            <a:r>
              <a:rPr sz="1500" b="1" i="0">
                <a:solidFill>
                  <a:srgbClr val="17232C"/>
                </a:solidFill>
                <a:latin typeface="Pretendard"/>
                <a:ea typeface="Pretendard"/>
              </a:rPr>
              <a:t>잔통</a:t>
            </a:r>
            <a:r>
              <a:rPr sz="1500" b="0" i="0">
                <a:solidFill>
                  <a:srgbClr val="33403B"/>
                </a:solidFill>
                <a:latin typeface="Pretendard"/>
                <a:ea typeface="Pretendard"/>
              </a:rPr>
              <a:t>이 남고 수면 분절·주간 피로.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900" b="1" i="0">
                <a:solidFill>
                  <a:srgbClr val="0E7C7B"/>
                </a:solidFill>
                <a:latin typeface="Pretendard"/>
                <a:ea typeface="Pretendard"/>
              </a:rPr>
              <a:t>●  </a:t>
            </a:r>
            <a:r>
              <a:rPr sz="1500" b="0" i="0">
                <a:solidFill>
                  <a:srgbClr val="33403B"/>
                </a:solidFill>
                <a:latin typeface="Pretendard"/>
                <a:ea typeface="Pretendard"/>
              </a:rPr>
              <a:t>위치는 후종아리(비복근)·발이 대부분. 유병률 50세+ 경증 24~25%·중등도이상 ~6%, 요추관협착 시 최대 65%.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1500" b="0" i="0">
                <a:solidFill>
                  <a:srgbClr val="0B5F5E"/>
                </a:solidFill>
                <a:latin typeface="Pretendard"/>
                <a:ea typeface="Pretendard"/>
              </a:rPr>
              <a:t>감별: RLS(움직임 충동·움직이면 완화·근경직 없음)와 반드시 구분.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6272784"/>
            <a:ext cx="10725912" cy="15240"/>
          </a:xfrm>
          <a:prstGeom prst="rect">
            <a:avLst/>
          </a:prstGeom>
          <a:solidFill>
            <a:srgbClr val="E4E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364224"/>
            <a:ext cx="96926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950" b="0" i="0">
                <a:solidFill>
                  <a:srgbClr val="6B7680"/>
                </a:solidFill>
                <a:latin typeface="Pretendard"/>
                <a:ea typeface="Pretendard"/>
              </a:rPr>
              <a:t>근거: Hallegraeff 2017; Grandner &amp; Winkelman 2017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364224"/>
            <a:ext cx="8229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6B7680"/>
                </a:solidFill>
                <a:latin typeface="Pretendard"/>
                <a:ea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0E7C7B"/>
                </a:solidFill>
                <a:latin typeface="Pretendard"/>
                <a:ea typeface="Pretendard"/>
              </a:rPr>
              <a:t>총괄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94183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400" b="1" i="0">
                <a:solidFill>
                  <a:srgbClr val="17232C"/>
                </a:solidFill>
                <a:latin typeface="Pretendard"/>
                <a:ea typeface="Pretendard"/>
              </a:rPr>
              <a:t>치료 개관 — 3축 근거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98448"/>
            <a:ext cx="10725912" cy="17780"/>
          </a:xfrm>
          <a:prstGeom prst="rect">
            <a:avLst/>
          </a:prstGeom>
          <a:solidFill>
            <a:srgbClr val="E4E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38967" y="457200"/>
            <a:ext cx="521208" cy="365760"/>
          </a:xfrm>
          <a:prstGeom prst="roundRect">
            <a:avLst>
              <a:gd name="adj" fmla="val 900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38967" y="457200"/>
            <a:ext cx="52120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Pretendard"/>
                <a:ea typeface="Pretendard"/>
              </a:rPr>
              <a:t>요약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554480"/>
          <a:ext cx="10698480" cy="387705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74620"/>
                <a:gridCol w="2674620"/>
                <a:gridCol w="2674620"/>
                <a:gridCol w="2674620"/>
              </a:tblGrid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치료</a:t>
                      </a:r>
                    </a:p>
                  </a:txBody>
                  <a:tcPr marL="82296" marR="64008" marT="27432" marB="27432" anchor="ctr">
                    <a:solidFill>
                      <a:srgbClr val="1723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대표</a:t>
                      </a:r>
                    </a:p>
                  </a:txBody>
                  <a:tcPr marL="82296" marR="64008" marT="27432" marB="27432" anchor="ctr">
                    <a:solidFill>
                      <a:srgbClr val="1723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야간경련 근거</a:t>
                      </a:r>
                    </a:p>
                  </a:txBody>
                  <a:tcPr marL="82296" marR="64008" marT="27432" marB="27432" anchor="ctr">
                    <a:solidFill>
                      <a:srgbClr val="1723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위치</a:t>
                      </a:r>
                    </a:p>
                  </a:txBody>
                  <a:tcPr marL="82296" marR="64008" marT="27432" marB="27432" anchor="ctr">
                    <a:solidFill>
                      <a:srgbClr val="17232C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7232C"/>
                          </a:solidFill>
                          <a:latin typeface="Pretendard"/>
                          <a:ea typeface="Pretendard"/>
                        </a:rPr>
                        <a:t>ESWT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33403B"/>
                          </a:solidFill>
                          <a:latin typeface="Pretendard"/>
                          <a:ea typeface="Pretendard"/>
                        </a:rPr>
                        <a:t>종아리 표적 충격파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33403B"/>
                          </a:solidFill>
                          <a:latin typeface="Pretendard"/>
                          <a:ea typeface="Pretendard"/>
                        </a:rPr>
                        <a:t>Li 2021(후향)+경직 RCT/MA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33403B"/>
                          </a:solidFill>
                          <a:latin typeface="Pretendard"/>
                          <a:ea typeface="Pretendard"/>
                        </a:rPr>
                        <a:t>보조·근거형성 중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7232C"/>
                          </a:solidFill>
                          <a:latin typeface="Pretendard"/>
                          <a:ea typeface="Pretendard"/>
                        </a:rPr>
                        <a:t>주사</a:t>
                      </a:r>
                    </a:p>
                  </a:txBody>
                  <a:tcPr marL="82296" marR="64008" marT="27432" marB="27432" anchor="ctr">
                    <a:solidFill>
                      <a:srgbClr val="EFF3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33403B"/>
                          </a:solidFill>
                          <a:latin typeface="Pretendard"/>
                          <a:ea typeface="Pretendard"/>
                        </a:rPr>
                        <a:t>보툴리눔(비복근)</a:t>
                      </a:r>
                    </a:p>
                  </a:txBody>
                  <a:tcPr marL="82296" marR="64008" marT="27432" marB="27432" anchor="ctr">
                    <a:solidFill>
                      <a:srgbClr val="EFF3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33403B"/>
                          </a:solidFill>
                          <a:latin typeface="Pretendard"/>
                          <a:ea typeface="Pretendard"/>
                        </a:rPr>
                        <a:t>Park 2017·Restivo 2018 RCT</a:t>
                      </a:r>
                    </a:p>
                  </a:txBody>
                  <a:tcPr marL="82296" marR="64008" marT="27432" marB="27432" anchor="ctr">
                    <a:solidFill>
                      <a:srgbClr val="EFF3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33403B"/>
                          </a:solidFill>
                          <a:latin typeface="Pretendard"/>
                          <a:ea typeface="Pretendard"/>
                        </a:rPr>
                        <a:t>불응성 선택(Lv II)</a:t>
                      </a:r>
                    </a:p>
                  </a:txBody>
                  <a:tcPr marL="82296" marR="64008" marT="27432" marB="27432" anchor="ctr">
                    <a:solidFill>
                      <a:srgbClr val="EFF3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7232C"/>
                          </a:solidFill>
                          <a:latin typeface="Pretendard"/>
                          <a:ea typeface="Pretendard"/>
                        </a:rPr>
                        <a:t>주사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33403B"/>
                          </a:solidFill>
                          <a:latin typeface="Pretendard"/>
                          <a:ea typeface="Pretendard"/>
                        </a:rPr>
                        <a:t>유발점/dry needling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33403B"/>
                          </a:solidFill>
                          <a:latin typeface="Pretendard"/>
                          <a:ea typeface="Pretendard"/>
                        </a:rPr>
                        <a:t>Kim 2015·Temel 2023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33403B"/>
                          </a:solidFill>
                          <a:latin typeface="Pretendard"/>
                          <a:ea typeface="Pretendard"/>
                        </a:rPr>
                        <a:t>MTrP 동반 시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7232C"/>
                          </a:solidFill>
                          <a:latin typeface="Pretendard"/>
                          <a:ea typeface="Pretendard"/>
                        </a:rPr>
                        <a:t>주사</a:t>
                      </a:r>
                    </a:p>
                  </a:txBody>
                  <a:tcPr marL="82296" marR="64008" marT="27432" marB="27432" anchor="ctr">
                    <a:solidFill>
                      <a:srgbClr val="EFF3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33403B"/>
                          </a:solidFill>
                          <a:latin typeface="Pretendard"/>
                          <a:ea typeface="Pretendard"/>
                        </a:rPr>
                        <a:t>심비골신경 차단</a:t>
                      </a:r>
                    </a:p>
                  </a:txBody>
                  <a:tcPr marL="82296" marR="64008" marT="27432" marB="27432" anchor="ctr">
                    <a:solidFill>
                      <a:srgbClr val="EFF3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33403B"/>
                          </a:solidFill>
                          <a:latin typeface="Pretendard"/>
                          <a:ea typeface="Pretendard"/>
                        </a:rPr>
                        <a:t>Imura 2015 </a:t>
                      </a:r>
                      <a:r>
                        <a:rPr sz="1200" b="1" i="0">
                          <a:solidFill>
                            <a:srgbClr val="0B5F5E"/>
                          </a:solidFill>
                          <a:latin typeface="Pretendard"/>
                          <a:ea typeface="Pretendard"/>
                        </a:rPr>
                        <a:t>직접근거</a:t>
                      </a:r>
                    </a:p>
                  </a:txBody>
                  <a:tcPr marL="82296" marR="64008" marT="27432" marB="27432" anchor="ctr">
                    <a:solidFill>
                      <a:srgbClr val="EFF3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33403B"/>
                          </a:solidFill>
                          <a:latin typeface="Pretendard"/>
                          <a:ea typeface="Pretendard"/>
                        </a:rPr>
                        <a:t>선택적</a:t>
                      </a:r>
                    </a:p>
                  </a:txBody>
                  <a:tcPr marL="82296" marR="64008" marT="27432" marB="27432" anchor="ctr">
                    <a:solidFill>
                      <a:srgbClr val="EFF3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7232C"/>
                          </a:solidFill>
                          <a:latin typeface="Pretendard"/>
                          <a:ea typeface="Pretendard"/>
                        </a:rPr>
                        <a:t>경구약제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33403B"/>
                          </a:solidFill>
                          <a:latin typeface="Pretendard"/>
                          <a:ea typeface="Pretendard"/>
                        </a:rPr>
                        <a:t>quinine / 비타민 B·diltiazem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33403B"/>
                          </a:solidFill>
                          <a:latin typeface="Pretendard"/>
                          <a:ea typeface="Pretendard"/>
                        </a:rPr>
                        <a:t>El-Tawil / Chan·Voon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33403B"/>
                          </a:solidFill>
                          <a:latin typeface="Pretendard"/>
                          <a:ea typeface="Pretendard"/>
                        </a:rPr>
                        <a:t>효과O·독성 / Lv C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7232C"/>
                          </a:solidFill>
                          <a:latin typeface="Pretendard"/>
                          <a:ea typeface="Pretendard"/>
                        </a:rPr>
                        <a:t>비약물</a:t>
                      </a:r>
                    </a:p>
                  </a:txBody>
                  <a:tcPr marL="82296" marR="64008" marT="27432" marB="27432" anchor="ctr">
                    <a:solidFill>
                      <a:srgbClr val="EFF3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33403B"/>
                          </a:solidFill>
                          <a:latin typeface="Pretendard"/>
                          <a:ea typeface="Pretendard"/>
                        </a:rPr>
                        <a:t>취침 전 스트레칭</a:t>
                      </a:r>
                    </a:p>
                  </a:txBody>
                  <a:tcPr marL="82296" marR="64008" marT="27432" marB="27432" anchor="ctr">
                    <a:solidFill>
                      <a:srgbClr val="EFF3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33403B"/>
                          </a:solidFill>
                          <a:latin typeface="Pretendard"/>
                          <a:ea typeface="Pretendard"/>
                        </a:rPr>
                        <a:t>Hallegraeff 2012 RCT</a:t>
                      </a:r>
                    </a:p>
                  </a:txBody>
                  <a:tcPr marL="82296" marR="64008" marT="27432" marB="27432" anchor="ctr">
                    <a:solidFill>
                      <a:srgbClr val="EFF3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0B5F5E"/>
                          </a:solidFill>
                          <a:latin typeface="Pretendard"/>
                          <a:ea typeface="Pretendard"/>
                        </a:rPr>
                        <a:t>1차·최우선</a:t>
                      </a:r>
                    </a:p>
                  </a:txBody>
                  <a:tcPr marL="82296" marR="64008" marT="27432" marB="27432" anchor="ctr">
                    <a:solidFill>
                      <a:srgbClr val="EFF3F2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731520" y="6272784"/>
            <a:ext cx="10725912" cy="15240"/>
          </a:xfrm>
          <a:prstGeom prst="rect">
            <a:avLst/>
          </a:prstGeom>
          <a:solidFill>
            <a:srgbClr val="E4E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364224"/>
            <a:ext cx="96926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950" b="0" i="0">
                <a:solidFill>
                  <a:srgbClr val="6B7680"/>
                </a:solidFill>
                <a:latin typeface="Pretendard"/>
                <a:ea typeface="Pretendard"/>
              </a:rPr>
              <a:t>근거: 문헌고찰 종합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364224"/>
            <a:ext cx="8229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6B7680"/>
                </a:solidFill>
                <a:latin typeface="Pretendard"/>
                <a:ea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0E7C7B"/>
                </a:solidFill>
                <a:latin typeface="Pretendard"/>
                <a:ea typeface="Pretendard"/>
              </a:rPr>
              <a:t>치료 · 체외충격파(ESWT)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94183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400" b="1" i="0">
                <a:solidFill>
                  <a:srgbClr val="17232C"/>
                </a:solidFill>
                <a:latin typeface="Pretendard"/>
                <a:ea typeface="Pretendard"/>
              </a:rPr>
              <a:t>종아리 표적 충격파 — 경련 직접 근거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98448"/>
            <a:ext cx="10725912" cy="17780"/>
          </a:xfrm>
          <a:prstGeom prst="rect">
            <a:avLst/>
          </a:prstGeom>
          <a:solidFill>
            <a:srgbClr val="E4E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623499" y="457200"/>
            <a:ext cx="836676" cy="365760"/>
          </a:xfrm>
          <a:prstGeom prst="roundRect">
            <a:avLst>
              <a:gd name="adj" fmla="val 9000"/>
            </a:avLst>
          </a:prstGeom>
          <a:solidFill>
            <a:srgbClr val="9A6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23499" y="457200"/>
            <a:ext cx="83667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Pretendard"/>
                <a:ea typeface="Pretendard"/>
              </a:rPr>
              <a:t>근거형성중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536192"/>
            <a:ext cx="640080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900" b="1" i="0">
                <a:solidFill>
                  <a:srgbClr val="0E7C7B"/>
                </a:solidFill>
                <a:latin typeface="Pretendard"/>
                <a:ea typeface="Pretendard"/>
              </a:rPr>
              <a:t>●  </a:t>
            </a:r>
            <a:r>
              <a:rPr sz="1400" b="1" i="0">
                <a:solidFill>
                  <a:srgbClr val="17232C"/>
                </a:solidFill>
                <a:latin typeface="Pretendard"/>
                <a:ea typeface="Pretendard"/>
              </a:rPr>
              <a:t>Li 2021</a:t>
            </a:r>
            <a:r>
              <a:rPr sz="1400" b="0" i="0">
                <a:solidFill>
                  <a:srgbClr val="33403B"/>
                </a:solidFill>
                <a:latin typeface="Pretendard"/>
                <a:ea typeface="Pretendard"/>
              </a:rPr>
              <a:t>(후향 n=126): 요추퇴행성 동반 하지경련. 2,000 shocks/session, 2일 간격 4주.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900" b="1" i="0">
                <a:solidFill>
                  <a:srgbClr val="0E7C7B"/>
                </a:solidFill>
                <a:latin typeface="Pretendard"/>
                <a:ea typeface="Pretendard"/>
              </a:rPr>
              <a:t>●  </a:t>
            </a:r>
            <a:r>
              <a:rPr sz="1400" b="0" i="0">
                <a:solidFill>
                  <a:srgbClr val="33403B"/>
                </a:solidFill>
                <a:latin typeface="Pretendard"/>
                <a:ea typeface="Pretendard"/>
              </a:rPr>
              <a:t>경직 인접근거는 RCT·메타분석으로 비교적 견고(Otero-Luis 2024 MAS −0.40).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900" b="1" i="0">
                <a:solidFill>
                  <a:srgbClr val="0E7C7B"/>
                </a:solidFill>
                <a:latin typeface="Pretendard"/>
                <a:ea typeface="Pretendard"/>
              </a:rPr>
              <a:t>●  </a:t>
            </a:r>
            <a:r>
              <a:rPr sz="1400" b="0" i="0">
                <a:solidFill>
                  <a:srgbClr val="A8352A"/>
                </a:solidFill>
                <a:latin typeface="Pretendard"/>
                <a:ea typeface="Pretendard"/>
              </a:rPr>
              <a:t>특발성 NLC만 표적한 ESWT RCT는 아직 없음(직접 근거 공백).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60920" y="1536192"/>
            <a:ext cx="4096512" cy="4434840"/>
          </a:xfrm>
          <a:prstGeom prst="roundRect">
            <a:avLst>
              <a:gd name="adj" fmla="val 9000"/>
            </a:avLst>
          </a:prstGeom>
          <a:solidFill>
            <a:srgbClr val="F0F4F3"/>
          </a:solidFill>
          <a:ln w="15240">
            <a:solidFill>
              <a:srgbClr val="DDE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35240" y="1792224"/>
            <a:ext cx="35478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50" b="1" i="0">
                <a:solidFill>
                  <a:srgbClr val="0B5F5E"/>
                </a:solidFill>
                <a:latin typeface="Pretendard"/>
                <a:ea typeface="Pretendard"/>
              </a:rPr>
              <a:t>Li 2021 결과 (ESWT군)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2359152"/>
            <a:ext cx="3547872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 b="1" i="0">
                <a:solidFill>
                  <a:srgbClr val="0B5F5E"/>
                </a:solidFill>
                <a:latin typeface="Pretendard"/>
                <a:ea typeface="Pretendard"/>
              </a:rPr>
              <a:t>5.7→1.3</a:t>
            </a:r>
          </a:p>
          <a:p>
            <a:pPr>
              <a:spcAft>
                <a:spcPts val="200"/>
              </a:spcAft>
            </a:pPr>
            <a:r>
              <a:rPr sz="1100" b="1" i="0">
                <a:solidFill>
                  <a:srgbClr val="6B7680"/>
                </a:solidFill>
                <a:latin typeface="Pretendard"/>
                <a:ea typeface="Pretendard"/>
              </a:rPr>
              <a:t>경련 빈도 (회/시간)</a:t>
            </a:r>
          </a:p>
          <a:p>
            <a:pPr>
              <a:spcAft>
                <a:spcPts val="1000"/>
              </a:spcAft>
            </a:pPr>
            <a:r>
              <a:rPr sz="2000" b="1" i="0">
                <a:solidFill>
                  <a:srgbClr val="0B5F5E"/>
                </a:solidFill>
                <a:latin typeface="Pretendard"/>
                <a:ea typeface="Pretendard"/>
              </a:rPr>
              <a:t>57.6→10.6</a:t>
            </a:r>
          </a:p>
          <a:p>
            <a:pPr>
              <a:spcAft>
                <a:spcPts val="200"/>
              </a:spcAft>
            </a:pPr>
            <a:r>
              <a:rPr sz="1100" b="1" i="0">
                <a:solidFill>
                  <a:srgbClr val="6B7680"/>
                </a:solidFill>
                <a:latin typeface="Pretendard"/>
                <a:ea typeface="Pretendard"/>
              </a:rPr>
              <a:t>지속 (초)</a:t>
            </a:r>
          </a:p>
          <a:p>
            <a:pPr>
              <a:spcAft>
                <a:spcPts val="1000"/>
              </a:spcAft>
            </a:pPr>
            <a:r>
              <a:rPr sz="2000" b="1" i="0">
                <a:solidFill>
                  <a:srgbClr val="0B5F5E"/>
                </a:solidFill>
                <a:latin typeface="Pretendard"/>
                <a:ea typeface="Pretendard"/>
              </a:rPr>
              <a:t>P&lt;0.001</a:t>
            </a:r>
          </a:p>
          <a:p>
            <a:pPr>
              <a:spcAft>
                <a:spcPts val="200"/>
              </a:spcAft>
            </a:pPr>
            <a:r>
              <a:rPr sz="1100" b="1" i="0">
                <a:solidFill>
                  <a:srgbClr val="6B7680"/>
                </a:solidFill>
                <a:latin typeface="Pretendard"/>
                <a:ea typeface="Pretendard"/>
              </a:rPr>
              <a:t>대조군 대비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6272784"/>
            <a:ext cx="10725912" cy="15240"/>
          </a:xfrm>
          <a:prstGeom prst="rect">
            <a:avLst/>
          </a:prstGeom>
          <a:solidFill>
            <a:srgbClr val="E4E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364224"/>
            <a:ext cx="96926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950" b="0" i="0">
                <a:solidFill>
                  <a:srgbClr val="6B7680"/>
                </a:solidFill>
                <a:latin typeface="Pretendard"/>
                <a:ea typeface="Pretendard"/>
              </a:rPr>
              <a:t>근거: Li 2021 (Biomed Res Int)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364224"/>
            <a:ext cx="8229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6B7680"/>
                </a:solidFill>
                <a:latin typeface="Pretendard"/>
                <a:ea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0E7C7B"/>
                </a:solidFill>
                <a:latin typeface="Pretendard"/>
                <a:ea typeface="Pretendard"/>
              </a:rPr>
              <a:t>치료 · ESWT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94183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400" b="1" i="0">
                <a:solidFill>
                  <a:srgbClr val="17232C"/>
                </a:solidFill>
                <a:latin typeface="Pretendard"/>
                <a:ea typeface="Pretendard"/>
              </a:rPr>
              <a:t>기전 · 프로토콜 · 한계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98448"/>
            <a:ext cx="10725912" cy="17780"/>
          </a:xfrm>
          <a:prstGeom prst="rect">
            <a:avLst/>
          </a:prstGeom>
          <a:solidFill>
            <a:srgbClr val="E4E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38967" y="457200"/>
            <a:ext cx="521208" cy="365760"/>
          </a:xfrm>
          <a:prstGeom prst="roundRect">
            <a:avLst>
              <a:gd name="adj" fmla="val 900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38967" y="457200"/>
            <a:ext cx="52120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Pretendard"/>
                <a:ea typeface="Pretendard"/>
              </a:rPr>
              <a:t>기전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536192"/>
            <a:ext cx="1069848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900" b="1" i="0">
                <a:solidFill>
                  <a:srgbClr val="0E7C7B"/>
                </a:solidFill>
                <a:latin typeface="Pretendard"/>
                <a:ea typeface="Pretendard"/>
              </a:rPr>
              <a:t>●  </a:t>
            </a:r>
            <a:r>
              <a:rPr sz="1500" b="0" i="0">
                <a:solidFill>
                  <a:srgbClr val="33403B"/>
                </a:solidFill>
                <a:latin typeface="Pretendard"/>
                <a:ea typeface="Pretendard"/>
              </a:rPr>
              <a:t>기전(Yang 2021): NO 합성↑, 신경근접합부 ACh수용체 변성(CMAP↓ 6–8주), 운동신경원 흥분성↓, 미세순환 개선.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900" b="1" i="0">
                <a:solidFill>
                  <a:srgbClr val="0E7C7B"/>
                </a:solidFill>
                <a:latin typeface="Pretendard"/>
                <a:ea typeface="Pretendard"/>
              </a:rPr>
              <a:t>●  </a:t>
            </a:r>
            <a:r>
              <a:rPr sz="1500" b="0" i="0">
                <a:solidFill>
                  <a:srgbClr val="33403B"/>
                </a:solidFill>
                <a:latin typeface="Pretendard"/>
                <a:ea typeface="Pretendard"/>
              </a:rPr>
              <a:t>프로토콜: 비복근·가자미근 운동점, radial 1.5–2.5 bar / focused ~0.10 mJ/mm², 2,000–3,000 pulses/근육, 주 1–2회 3–4주.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900" b="1" i="0">
                <a:solidFill>
                  <a:srgbClr val="0E7C7B"/>
                </a:solidFill>
                <a:latin typeface="Pretendard"/>
                <a:ea typeface="Pretendard"/>
              </a:rPr>
              <a:t>●  </a:t>
            </a:r>
            <a:r>
              <a:rPr sz="1500" b="0" i="0">
                <a:solidFill>
                  <a:srgbClr val="33403B"/>
                </a:solidFill>
                <a:latin typeface="Pretendard"/>
                <a:ea typeface="Pretendard"/>
              </a:rPr>
              <a:t>안전: 대체로 안전(일시적 국소통증). 상대 금기 — 항응고제·심부정맥혈전·감염·악성종양·임신.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1500" b="0" i="0">
                <a:solidFill>
                  <a:srgbClr val="0B5F5E"/>
                </a:solidFill>
                <a:latin typeface="Pretendard"/>
                <a:ea typeface="Pretendard"/>
              </a:rPr>
              <a:t>한계: 특발성 직접 RCT 부재, 효과 대개 12주 이내 단기 → 보조·실험적.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6272784"/>
            <a:ext cx="10725912" cy="15240"/>
          </a:xfrm>
          <a:prstGeom prst="rect">
            <a:avLst/>
          </a:prstGeom>
          <a:solidFill>
            <a:srgbClr val="E4E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364224"/>
            <a:ext cx="96926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950" b="0" i="0">
                <a:solidFill>
                  <a:srgbClr val="6B7680"/>
                </a:solidFill>
                <a:latin typeface="Pretendard"/>
                <a:ea typeface="Pretendard"/>
              </a:rPr>
              <a:t>근거: Yang 2021 (J Clin Med, 기전 리뷰)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364224"/>
            <a:ext cx="8229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6B7680"/>
                </a:solidFill>
                <a:latin typeface="Pretendard"/>
                <a:ea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0E7C7B"/>
                </a:solidFill>
                <a:latin typeface="Pretendard"/>
                <a:ea typeface="Pretendard"/>
              </a:rPr>
              <a:t>치료 · 주사기법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94183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400" b="1" i="0">
                <a:solidFill>
                  <a:srgbClr val="17232C"/>
                </a:solidFill>
                <a:latin typeface="Pretendard"/>
                <a:ea typeface="Pretendard"/>
              </a:rPr>
              <a:t>① 국소마취제 유발점주사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98448"/>
            <a:ext cx="10725912" cy="17780"/>
          </a:xfrm>
          <a:prstGeom prst="rect">
            <a:avLst/>
          </a:prstGeom>
          <a:solidFill>
            <a:srgbClr val="E4E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623499" y="457200"/>
            <a:ext cx="836676" cy="365760"/>
          </a:xfrm>
          <a:prstGeom prst="roundRect">
            <a:avLst>
              <a:gd name="adj" fmla="val 9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23499" y="457200"/>
            <a:ext cx="83667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Pretendard"/>
                <a:ea typeface="Pretendard"/>
              </a:rPr>
              <a:t>효과 있음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536192"/>
            <a:ext cx="640080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900" b="1" i="0">
                <a:solidFill>
                  <a:srgbClr val="0E7C7B"/>
                </a:solidFill>
                <a:latin typeface="Pretendard"/>
                <a:ea typeface="Pretendard"/>
              </a:rPr>
              <a:t>●  </a:t>
            </a:r>
            <a:r>
              <a:rPr sz="1400" b="0" i="0">
                <a:solidFill>
                  <a:srgbClr val="33403B"/>
                </a:solidFill>
                <a:latin typeface="Pretendard"/>
                <a:ea typeface="Pretendard"/>
              </a:rPr>
              <a:t>개념: 비복근 근막통증유발점(MTrP)에 소량 국소마취제 → 국소 근이완·유발점 비활성화·되먹임 차단.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900" b="1" i="0">
                <a:solidFill>
                  <a:srgbClr val="0E7C7B"/>
                </a:solidFill>
                <a:latin typeface="Pretendard"/>
                <a:ea typeface="Pretendard"/>
              </a:rPr>
              <a:t>●  </a:t>
            </a:r>
            <a:r>
              <a:rPr sz="1400" b="0" i="0">
                <a:solidFill>
                  <a:srgbClr val="2E7D32"/>
                </a:solidFill>
                <a:latin typeface="Pretendard"/>
                <a:ea typeface="Pretendard"/>
              </a:rPr>
              <a:t>결과(Kim 2015, n=12): NRS·경련 빈도·불면지수(ISI) 모두 유의 개선(P&lt;0.01), 임상적 불면 10명→4주째 1명.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900" b="1" i="0">
                <a:solidFill>
                  <a:srgbClr val="0E7C7B"/>
                </a:solidFill>
                <a:latin typeface="Pretendard"/>
                <a:ea typeface="Pretendard"/>
              </a:rPr>
              <a:t>●  </a:t>
            </a:r>
            <a:r>
              <a:rPr sz="1400" b="0" i="0">
                <a:solidFill>
                  <a:srgbClr val="33403B"/>
                </a:solidFill>
                <a:latin typeface="Pretendard"/>
                <a:ea typeface="Pretendard"/>
              </a:rPr>
              <a:t>Prateepavanich 1999(무작위 n=24): xylocaine 주사 vs quinine — 지속효과 면에서 주사군 우월.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60920" y="1536192"/>
            <a:ext cx="4096512" cy="4434840"/>
          </a:xfrm>
          <a:prstGeom prst="roundRect">
            <a:avLst>
              <a:gd name="adj" fmla="val 9000"/>
            </a:avLst>
          </a:prstGeom>
          <a:solidFill>
            <a:srgbClr val="F0F4F3"/>
          </a:solidFill>
          <a:ln w="15240">
            <a:solidFill>
              <a:srgbClr val="DDE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35240" y="1792224"/>
            <a:ext cx="35478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50" b="1" i="0">
                <a:solidFill>
                  <a:srgbClr val="0B5F5E"/>
                </a:solidFill>
                <a:latin typeface="Pretendard"/>
                <a:ea typeface="Pretendard"/>
              </a:rPr>
              <a:t>기법 (Kim 2015)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2359152"/>
            <a:ext cx="3547872" cy="3337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850" b="1" i="0">
                <a:solidFill>
                  <a:srgbClr val="0E7C7B"/>
                </a:solidFill>
                <a:latin typeface="Pretendard"/>
                <a:ea typeface="Pretendard"/>
              </a:rPr>
              <a:t>●  </a:t>
            </a:r>
            <a:r>
              <a:rPr sz="1250" b="0" i="0">
                <a:solidFill>
                  <a:srgbClr val="33403B"/>
                </a:solidFill>
                <a:latin typeface="Pretendard"/>
                <a:ea typeface="Pretendard"/>
              </a:rPr>
              <a:t>약제: </a:t>
            </a:r>
            <a:r>
              <a:rPr sz="1250" b="1" i="0">
                <a:solidFill>
                  <a:srgbClr val="17232C"/>
                </a:solidFill>
                <a:latin typeface="Pretendard"/>
                <a:ea typeface="Pretendard"/>
              </a:rPr>
              <a:t>0.25% lidocaine 1–2 mL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850" b="1" i="0">
                <a:solidFill>
                  <a:srgbClr val="0E7C7B"/>
                </a:solidFill>
                <a:latin typeface="Pretendard"/>
                <a:ea typeface="Pretendard"/>
              </a:rPr>
              <a:t>●  </a:t>
            </a:r>
            <a:r>
              <a:rPr sz="1250" b="0" i="0">
                <a:solidFill>
                  <a:srgbClr val="33403B"/>
                </a:solidFill>
                <a:latin typeface="Pretendard"/>
                <a:ea typeface="Pretendard"/>
              </a:rPr>
              <a:t>바늘: </a:t>
            </a:r>
            <a:r>
              <a:rPr sz="1250" b="1" i="0">
                <a:solidFill>
                  <a:srgbClr val="17232C"/>
                </a:solidFill>
                <a:latin typeface="Pretendard"/>
                <a:ea typeface="Pretendard"/>
              </a:rPr>
              <a:t>25 G</a:t>
            </a:r>
            <a:r>
              <a:rPr sz="1250" b="0" i="0">
                <a:solidFill>
                  <a:srgbClr val="33403B"/>
                </a:solidFill>
                <a:latin typeface="Pretendard"/>
                <a:ea typeface="Pretendard"/>
              </a:rPr>
              <a:t>, 피부 </a:t>
            </a:r>
            <a:r>
              <a:rPr sz="1250" b="1" i="0">
                <a:solidFill>
                  <a:srgbClr val="17232C"/>
                </a:solidFill>
                <a:latin typeface="Pretendard"/>
                <a:ea typeface="Pretendard"/>
              </a:rPr>
              <a:t>30°</a:t>
            </a:r>
            <a:r>
              <a:rPr sz="1250" b="0" i="0">
                <a:solidFill>
                  <a:srgbClr val="33403B"/>
                </a:solidFill>
                <a:latin typeface="Pretendard"/>
                <a:ea typeface="Pretendard"/>
              </a:rPr>
              <a:t> 접근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850" b="1" i="0">
                <a:solidFill>
                  <a:srgbClr val="0E7C7B"/>
                </a:solidFill>
                <a:latin typeface="Pretendard"/>
                <a:ea typeface="Pretendard"/>
              </a:rPr>
              <a:t>●  </a:t>
            </a:r>
            <a:r>
              <a:rPr sz="1250" b="0" i="0">
                <a:solidFill>
                  <a:srgbClr val="33403B"/>
                </a:solidFill>
                <a:latin typeface="Pretendard"/>
                <a:ea typeface="Pretendard"/>
              </a:rPr>
              <a:t>표적: 비복근 유발점(최대 압통점)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850" b="1" i="0">
                <a:solidFill>
                  <a:srgbClr val="0E7C7B"/>
                </a:solidFill>
                <a:latin typeface="Pretendard"/>
                <a:ea typeface="Pretendard"/>
              </a:rPr>
              <a:t>●  </a:t>
            </a:r>
            <a:r>
              <a:rPr sz="1250" b="0" i="0">
                <a:solidFill>
                  <a:srgbClr val="33403B"/>
                </a:solidFill>
                <a:latin typeface="Pretendard"/>
                <a:ea typeface="Pretendard"/>
              </a:rPr>
              <a:t>빈도: 주 1회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6272784"/>
            <a:ext cx="10725912" cy="15240"/>
          </a:xfrm>
          <a:prstGeom prst="rect">
            <a:avLst/>
          </a:prstGeom>
          <a:solidFill>
            <a:srgbClr val="E4E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364224"/>
            <a:ext cx="96926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950" b="0" i="0">
                <a:solidFill>
                  <a:srgbClr val="6B7680"/>
                </a:solidFill>
                <a:latin typeface="Pretendard"/>
                <a:ea typeface="Pretendard"/>
              </a:rPr>
              <a:t>근거: Kim 2015; Prateepavanich 1999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364224"/>
            <a:ext cx="8229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6B7680"/>
                </a:solidFill>
                <a:latin typeface="Pretendard"/>
                <a:ea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0E7C7B"/>
                </a:solidFill>
                <a:latin typeface="Pretendard"/>
                <a:ea typeface="Pretendard"/>
              </a:rPr>
              <a:t>치료 · 주사기법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94183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400" b="1" i="0">
                <a:solidFill>
                  <a:srgbClr val="17232C"/>
                </a:solidFill>
                <a:latin typeface="Pretendard"/>
                <a:ea typeface="Pretendard"/>
              </a:rPr>
              <a:t>② 건침(Dry Needling)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98448"/>
            <a:ext cx="10725912" cy="17780"/>
          </a:xfrm>
          <a:prstGeom prst="rect">
            <a:avLst/>
          </a:prstGeom>
          <a:solidFill>
            <a:srgbClr val="E4E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623499" y="457200"/>
            <a:ext cx="836676" cy="365760"/>
          </a:xfrm>
          <a:prstGeom prst="roundRect">
            <a:avLst>
              <a:gd name="adj" fmla="val 9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23499" y="457200"/>
            <a:ext cx="83667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Pretendard"/>
                <a:ea typeface="Pretendard"/>
              </a:rPr>
              <a:t>효과 있음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536192"/>
            <a:ext cx="1069848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900" b="1" i="0">
                <a:solidFill>
                  <a:srgbClr val="0E7C7B"/>
                </a:solidFill>
                <a:latin typeface="Pretendard"/>
                <a:ea typeface="Pretendard"/>
              </a:rPr>
              <a:t>●  </a:t>
            </a:r>
            <a:r>
              <a:rPr sz="1500" b="0" i="0">
                <a:solidFill>
                  <a:srgbClr val="33403B"/>
                </a:solidFill>
                <a:latin typeface="Pretendard"/>
                <a:ea typeface="Pretendard"/>
              </a:rPr>
              <a:t>기법: 비복근 유발점에 약물 없이 자침, 국소연축반응 유도·소실 → taut band 이완, 압력통증역치 상승. 주 1회 약 3회기.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900" b="1" i="0">
                <a:solidFill>
                  <a:srgbClr val="0E7C7B"/>
                </a:solidFill>
                <a:latin typeface="Pretendard"/>
                <a:ea typeface="Pretendard"/>
              </a:rPr>
              <a:t>●  </a:t>
            </a:r>
            <a:r>
              <a:rPr sz="1500" b="1" i="0">
                <a:solidFill>
                  <a:srgbClr val="2E7D32"/>
                </a:solidFill>
                <a:latin typeface="Pretendard"/>
                <a:ea typeface="Pretendard"/>
              </a:rPr>
              <a:t>Temel 2023 RCT(n=42):</a:t>
            </a:r>
            <a:r>
              <a:rPr sz="1500" b="0" i="0">
                <a:solidFill>
                  <a:srgbClr val="2E7D32"/>
                </a:solidFill>
                <a:latin typeface="Pretendard"/>
                <a:ea typeface="Pretendard"/>
              </a:rPr>
              <a:t> 스트레칭+DN 병용군이 3개월 경련 횟수(P=0.016)·강도·압력통증역치·수면질(PSQI) 우월.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900" b="1" i="0">
                <a:solidFill>
                  <a:srgbClr val="0E7C7B"/>
                </a:solidFill>
                <a:latin typeface="Pretendard"/>
                <a:ea typeface="Pretendard"/>
              </a:rPr>
              <a:t>●  </a:t>
            </a:r>
            <a:r>
              <a:rPr sz="1500" b="0" i="0">
                <a:solidFill>
                  <a:srgbClr val="33403B"/>
                </a:solidFill>
                <a:latin typeface="Pretendard"/>
                <a:ea typeface="Pretendard"/>
              </a:rPr>
              <a:t>Bagcier 2021 증례: 주1회 3회기 후 경련 지속 60초→10초, VAS 8→1, 빈도 매일→주간.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1500" b="0" i="0">
                <a:solidFill>
                  <a:srgbClr val="0B5F5E"/>
                </a:solidFill>
                <a:latin typeface="Pretendard"/>
                <a:ea typeface="Pretendard"/>
              </a:rPr>
              <a:t>저침습·저비용·무약물. 근거는 소규모 RCT·증례(Lv III~). 초음파 유도 권장.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6272784"/>
            <a:ext cx="10725912" cy="15240"/>
          </a:xfrm>
          <a:prstGeom prst="rect">
            <a:avLst/>
          </a:prstGeom>
          <a:solidFill>
            <a:srgbClr val="E4E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364224"/>
            <a:ext cx="96926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950" b="0" i="0">
                <a:solidFill>
                  <a:srgbClr val="6B7680"/>
                </a:solidFill>
                <a:latin typeface="Pretendard"/>
                <a:ea typeface="Pretendard"/>
              </a:rPr>
              <a:t>근거: Temel 2023; Bagcier 2021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364224"/>
            <a:ext cx="8229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6B7680"/>
                </a:solidFill>
                <a:latin typeface="Pretendard"/>
                <a:ea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0E7C7B"/>
                </a:solidFill>
                <a:latin typeface="Pretendard"/>
                <a:ea typeface="Pretendard"/>
              </a:rPr>
              <a:t>치료 · 주사기법 · 직접근거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94183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400" b="1" i="0">
                <a:solidFill>
                  <a:srgbClr val="17232C"/>
                </a:solidFill>
                <a:latin typeface="Pretendard"/>
                <a:ea typeface="Pretendard"/>
              </a:rPr>
              <a:t>③ 심비골신경 내측분지 차단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98448"/>
            <a:ext cx="10725912" cy="17780"/>
          </a:xfrm>
          <a:prstGeom prst="rect">
            <a:avLst/>
          </a:prstGeom>
          <a:solidFill>
            <a:srgbClr val="E4E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623499" y="457200"/>
            <a:ext cx="836676" cy="365760"/>
          </a:xfrm>
          <a:prstGeom prst="roundRect">
            <a:avLst>
              <a:gd name="adj" fmla="val 900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23499" y="457200"/>
            <a:ext cx="83667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Pretendard"/>
                <a:ea typeface="Pretendard"/>
              </a:rPr>
              <a:t>직접 근거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536192"/>
            <a:ext cx="640080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900" b="1" i="0">
                <a:solidFill>
                  <a:srgbClr val="0E7C7B"/>
                </a:solidFill>
                <a:latin typeface="Pretendard"/>
                <a:ea typeface="Pretendard"/>
              </a:rPr>
              <a:t>●  </a:t>
            </a:r>
            <a:r>
              <a:rPr sz="1400" b="1" i="0">
                <a:solidFill>
                  <a:srgbClr val="17232C"/>
                </a:solidFill>
                <a:latin typeface="Pretendard"/>
                <a:ea typeface="Pretendard"/>
              </a:rPr>
              <a:t>Imura 2015:</a:t>
            </a:r>
            <a:r>
              <a:rPr sz="1400" b="0" i="0">
                <a:solidFill>
                  <a:srgbClr val="33403B"/>
                </a:solidFill>
                <a:latin typeface="Pretendard"/>
                <a:ea typeface="Pretendard"/>
              </a:rPr>
              <a:t> 야간경련에 말초 운동신경가지를 직접 표적한, 현재 유일한 전향적 비교연구.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900" b="1" i="0">
                <a:solidFill>
                  <a:srgbClr val="0E7C7B"/>
                </a:solidFill>
                <a:latin typeface="Pretendard"/>
                <a:ea typeface="Pretendard"/>
              </a:rPr>
              <a:t>●  </a:t>
            </a:r>
            <a:r>
              <a:rPr sz="1400" b="0" i="0">
                <a:solidFill>
                  <a:srgbClr val="33403B"/>
                </a:solidFill>
                <a:latin typeface="Pretendard"/>
                <a:ea typeface="Pretendard"/>
              </a:rPr>
              <a:t>대상: 요추수술 후 지속 경련 66명(차단군 41 vs 대조 25), 평균 60.9세.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900" b="1" i="0">
                <a:solidFill>
                  <a:srgbClr val="0E7C7B"/>
                </a:solidFill>
                <a:latin typeface="Pretendard"/>
                <a:ea typeface="Pretendard"/>
              </a:rPr>
              <a:t>●  </a:t>
            </a:r>
            <a:r>
              <a:rPr sz="1400" b="1" i="0">
                <a:solidFill>
                  <a:srgbClr val="17232C"/>
                </a:solidFill>
                <a:latin typeface="Pretendard"/>
                <a:ea typeface="Pretendard"/>
              </a:rPr>
              <a:t>기법:</a:t>
            </a:r>
            <a:r>
              <a:rPr sz="1400" b="0" i="0">
                <a:solidFill>
                  <a:srgbClr val="33403B"/>
                </a:solidFill>
                <a:latin typeface="Pretendard"/>
                <a:ea typeface="Pretendard"/>
              </a:rPr>
              <a:t> 제1–2 중족골 사이 간극 원위 2/3 지점, 1.0% lidocaine 5.0 mL(무에피네프린)를 1.0–1.5 cm 깊이에 서서히 주입.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60920" y="1536192"/>
            <a:ext cx="4096512" cy="4434840"/>
          </a:xfrm>
          <a:prstGeom prst="roundRect">
            <a:avLst>
              <a:gd name="adj" fmla="val 9000"/>
            </a:avLst>
          </a:prstGeom>
          <a:solidFill>
            <a:srgbClr val="F0F4F3"/>
          </a:solidFill>
          <a:ln w="15240">
            <a:solidFill>
              <a:srgbClr val="DDE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35240" y="1792224"/>
            <a:ext cx="35478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50" b="1" i="0">
                <a:solidFill>
                  <a:srgbClr val="0B5F5E"/>
                </a:solidFill>
                <a:latin typeface="Pretendard"/>
                <a:ea typeface="Pretendard"/>
              </a:rPr>
              <a:t>결과 (2주 시점)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2359152"/>
            <a:ext cx="3547872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 b="1" i="0">
                <a:solidFill>
                  <a:srgbClr val="0B5F5E"/>
                </a:solidFill>
                <a:latin typeface="Pretendard"/>
                <a:ea typeface="Pretendard"/>
              </a:rPr>
              <a:t>61% vs 20%</a:t>
            </a:r>
          </a:p>
          <a:p>
            <a:pPr>
              <a:spcAft>
                <a:spcPts val="200"/>
              </a:spcAft>
            </a:pPr>
            <a:r>
              <a:rPr sz="1100" b="1" i="0">
                <a:solidFill>
                  <a:srgbClr val="6B7680"/>
                </a:solidFill>
                <a:latin typeface="Pretendard"/>
                <a:ea typeface="Pretendard"/>
              </a:rPr>
              <a:t>빈도 1/4↓</a:t>
            </a:r>
          </a:p>
          <a:p>
            <a:pPr>
              <a:spcAft>
                <a:spcPts val="1000"/>
              </a:spcAft>
            </a:pPr>
            <a:r>
              <a:rPr sz="2000" b="1" i="0">
                <a:solidFill>
                  <a:srgbClr val="0B5F5E"/>
                </a:solidFill>
                <a:latin typeface="Pretendard"/>
                <a:ea typeface="Pretendard"/>
              </a:rPr>
              <a:t>80.5%</a:t>
            </a:r>
          </a:p>
          <a:p>
            <a:pPr>
              <a:spcAft>
                <a:spcPts val="200"/>
              </a:spcAft>
            </a:pPr>
            <a:r>
              <a:rPr sz="1100" b="1" i="0">
                <a:solidFill>
                  <a:srgbClr val="6B7680"/>
                </a:solidFill>
                <a:latin typeface="Pretendard"/>
                <a:ea typeface="Pretendard"/>
              </a:rPr>
              <a:t>빈도 1/2↓ (P&lt;0.01)</a:t>
            </a:r>
          </a:p>
          <a:p>
            <a:pPr>
              <a:spcAft>
                <a:spcPts val="1000"/>
              </a:spcAft>
            </a:pPr>
            <a:r>
              <a:rPr sz="2000" b="1" i="0">
                <a:solidFill>
                  <a:srgbClr val="0B5F5E"/>
                </a:solidFill>
                <a:latin typeface="Pretendard"/>
                <a:ea typeface="Pretendard"/>
              </a:rPr>
              <a:t>63.4%</a:t>
            </a:r>
          </a:p>
          <a:p>
            <a:pPr>
              <a:spcAft>
                <a:spcPts val="200"/>
              </a:spcAft>
            </a:pPr>
            <a:r>
              <a:rPr sz="1100" b="1" i="0">
                <a:solidFill>
                  <a:srgbClr val="6B7680"/>
                </a:solidFill>
                <a:latin typeface="Pretendard"/>
                <a:ea typeface="Pretendard"/>
              </a:rPr>
              <a:t>12주+ 지속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6272784"/>
            <a:ext cx="10725912" cy="15240"/>
          </a:xfrm>
          <a:prstGeom prst="rect">
            <a:avLst/>
          </a:prstGeom>
          <a:solidFill>
            <a:srgbClr val="E4E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364224"/>
            <a:ext cx="96926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950" b="0" i="0">
                <a:solidFill>
                  <a:srgbClr val="6B7680"/>
                </a:solidFill>
                <a:latin typeface="Pretendard"/>
                <a:ea typeface="Pretendard"/>
              </a:rPr>
              <a:t>근거: Imura 2015 (Brain Behav; PMID 26445706)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364224"/>
            <a:ext cx="8229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6B7680"/>
                </a:solidFill>
                <a:latin typeface="Pretendard"/>
                <a:ea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0E7C7B"/>
                </a:solidFill>
                <a:latin typeface="Pretendard"/>
                <a:ea typeface="Pretendard"/>
              </a:rPr>
              <a:t>치료 · 주사기법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94183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400" b="1" i="0">
                <a:solidFill>
                  <a:srgbClr val="17232C"/>
                </a:solidFill>
                <a:latin typeface="Pretendard"/>
                <a:ea typeface="Pretendard"/>
              </a:rPr>
              <a:t>④ 보툴리눔 + 안전성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98448"/>
            <a:ext cx="10725912" cy="17780"/>
          </a:xfrm>
          <a:prstGeom prst="rect">
            <a:avLst/>
          </a:prstGeom>
          <a:solidFill>
            <a:srgbClr val="E4E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623499" y="457200"/>
            <a:ext cx="836676" cy="365760"/>
          </a:xfrm>
          <a:prstGeom prst="roundRect">
            <a:avLst>
              <a:gd name="adj" fmla="val 9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23499" y="457200"/>
            <a:ext cx="83667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Pretendard"/>
                <a:ea typeface="Pretendard"/>
              </a:rPr>
              <a:t>효과 있음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536192"/>
            <a:ext cx="1069848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900" b="1" i="0">
                <a:solidFill>
                  <a:srgbClr val="0E7C7B"/>
                </a:solidFill>
                <a:latin typeface="Pretendard"/>
                <a:ea typeface="Pretendard"/>
              </a:rPr>
              <a:t>●  </a:t>
            </a:r>
            <a:r>
              <a:rPr sz="1500" b="1" i="0">
                <a:solidFill>
                  <a:srgbClr val="2E7D32"/>
                </a:solidFill>
                <a:latin typeface="Pretendard"/>
                <a:ea typeface="Pretendard"/>
              </a:rPr>
              <a:t>Park 2017 RCT(n=50):</a:t>
            </a:r>
            <a:r>
              <a:rPr sz="1500" b="0" i="0">
                <a:solidFill>
                  <a:srgbClr val="2E7D32"/>
                </a:solidFill>
                <a:latin typeface="Pretendard"/>
                <a:ea typeface="Pretendard"/>
              </a:rPr>
              <a:t> 요추관협착 동반 야간 종아리경련. 비복근 BTX-A vs gabapentin → 전 시점 통증·빈도·강도 유의 감소(P&lt;0.01).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900" b="1" i="0">
                <a:solidFill>
                  <a:srgbClr val="0E7C7B"/>
                </a:solidFill>
                <a:latin typeface="Pretendard"/>
                <a:ea typeface="Pretendard"/>
              </a:rPr>
              <a:t>●  </a:t>
            </a:r>
            <a:r>
              <a:rPr sz="1500" b="0" i="0">
                <a:solidFill>
                  <a:srgbClr val="33403B"/>
                </a:solidFill>
                <a:latin typeface="Pretendard"/>
                <a:ea typeface="Pretendard"/>
              </a:rPr>
              <a:t>Restivo 2018 RCT: 당뇨병성 신경병증 경련에서 위약 대비 개선(1주부터 16주 지속).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900" b="1" i="0">
                <a:solidFill>
                  <a:srgbClr val="0E7C7B"/>
                </a:solidFill>
                <a:latin typeface="Pretendard"/>
                <a:ea typeface="Pretendard"/>
              </a:rPr>
              <a:t>●  </a:t>
            </a:r>
            <a:r>
              <a:rPr sz="1500" b="0" i="0">
                <a:solidFill>
                  <a:srgbClr val="33403B"/>
                </a:solidFill>
                <a:latin typeface="Pretendard"/>
                <a:ea typeface="Pretendard"/>
              </a:rPr>
              <a:t>주사 계열 중 근거 최고(Lv II)이나 고가·반복·근력약화 우려 → 선택적.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1500" b="0" i="0">
                <a:solidFill>
                  <a:srgbClr val="A8352A"/>
                </a:solidFill>
                <a:latin typeface="Pretendard"/>
                <a:ea typeface="Pretendard"/>
              </a:rPr>
              <a:t>안전(고령): 경골신경→족저굴곡 약화, 총비골신경→족하수→낙상. 초음파 유도·혈관내 주입 회피.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6272784"/>
            <a:ext cx="10725912" cy="15240"/>
          </a:xfrm>
          <a:prstGeom prst="rect">
            <a:avLst/>
          </a:prstGeom>
          <a:solidFill>
            <a:srgbClr val="E4E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364224"/>
            <a:ext cx="96926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950" b="0" i="0">
                <a:solidFill>
                  <a:srgbClr val="6B7680"/>
                </a:solidFill>
                <a:latin typeface="Pretendard"/>
                <a:ea typeface="Pretendard"/>
              </a:rPr>
              <a:t>근거: Park 2017·Restivo 2018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364224"/>
            <a:ext cx="8229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6B7680"/>
                </a:solidFill>
                <a:latin typeface="Pretendard"/>
                <a:ea typeface="Pretendard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0E7C7B"/>
                </a:solidFill>
                <a:latin typeface="Pretendard"/>
                <a:ea typeface="Pretendard"/>
              </a:rPr>
              <a:t>치료 · 경구약제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94183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400" b="1" i="0">
                <a:solidFill>
                  <a:srgbClr val="17232C"/>
                </a:solidFill>
                <a:latin typeface="Pretendard"/>
                <a:ea typeface="Pretendard"/>
              </a:rPr>
              <a:t>효과 좋은 경구 약제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98448"/>
            <a:ext cx="10725912" cy="17780"/>
          </a:xfrm>
          <a:prstGeom prst="rect">
            <a:avLst/>
          </a:prstGeom>
          <a:solidFill>
            <a:srgbClr val="E4E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38967" y="457200"/>
            <a:ext cx="521208" cy="365760"/>
          </a:xfrm>
          <a:prstGeom prst="roundRect">
            <a:avLst>
              <a:gd name="adj" fmla="val 900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38967" y="457200"/>
            <a:ext cx="52120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Pretendard"/>
                <a:ea typeface="Pretendard"/>
              </a:rPr>
              <a:t>약제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554480"/>
          <a:ext cx="10698480" cy="33101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66160"/>
                <a:gridCol w="3566160"/>
                <a:gridCol w="3566160"/>
              </a:tblGrid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약제</a:t>
                      </a:r>
                    </a:p>
                  </a:txBody>
                  <a:tcPr marL="82296" marR="64008" marT="27432" marB="27432" anchor="ctr">
                    <a:solidFill>
                      <a:srgbClr val="1723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근거</a:t>
                      </a:r>
                    </a:p>
                  </a:txBody>
                  <a:tcPr marL="82296" marR="64008" marT="27432" marB="27432" anchor="ctr">
                    <a:solidFill>
                      <a:srgbClr val="1723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평가</a:t>
                      </a:r>
                    </a:p>
                  </a:txBody>
                  <a:tcPr marL="82296" marR="64008" marT="27432" marB="27432" anchor="ctr">
                    <a:solidFill>
                      <a:srgbClr val="17232C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7232C"/>
                          </a:solidFill>
                          <a:latin typeface="Pretendard"/>
                          <a:ea typeface="Pretendard"/>
                        </a:rPr>
                        <a:t>Quinine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33403B"/>
                          </a:solidFill>
                          <a:latin typeface="Pretendard"/>
                          <a:ea typeface="Pretendard"/>
                        </a:rPr>
                        <a:t>El-Tawil 2015 Cochrane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33403B"/>
                          </a:solidFill>
                          <a:latin typeface="Pretendard"/>
                          <a:ea typeface="Pretendard"/>
                        </a:rPr>
                        <a:t>효과 O이나 FDA 미승인·혈소판감소/TTP → 최후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7232C"/>
                          </a:solidFill>
                          <a:latin typeface="Pretendard"/>
                          <a:ea typeface="Pretendard"/>
                        </a:rPr>
                        <a:t>비타민 B 복합</a:t>
                      </a:r>
                    </a:p>
                  </a:txBody>
                  <a:tcPr marL="82296" marR="64008" marT="27432" marB="27432" anchor="ctr">
                    <a:solidFill>
                      <a:srgbClr val="EFF3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33403B"/>
                          </a:solidFill>
                          <a:latin typeface="Pretendard"/>
                          <a:ea typeface="Pretendard"/>
                        </a:rPr>
                        <a:t>Chan 1998 RCT</a:t>
                      </a:r>
                    </a:p>
                  </a:txBody>
                  <a:tcPr marL="82296" marR="64008" marT="27432" marB="27432" anchor="ctr">
                    <a:solidFill>
                      <a:srgbClr val="EFF3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33403B"/>
                          </a:solidFill>
                          <a:latin typeface="Pretendard"/>
                          <a:ea typeface="Pretendard"/>
                        </a:rPr>
                        <a:t>빈도·강도 감소, </a:t>
                      </a:r>
                      <a:r>
                        <a:rPr sz="1200" b="1" i="0">
                          <a:solidFill>
                            <a:srgbClr val="0B5F5E"/>
                          </a:solidFill>
                          <a:latin typeface="Pretendard"/>
                          <a:ea typeface="Pretendard"/>
                        </a:rPr>
                        <a:t>Lv C·안전</a:t>
                      </a:r>
                      <a:r>
                        <a:rPr sz="1200" b="0" i="0">
                          <a:solidFill>
                            <a:srgbClr val="33403B"/>
                          </a:solidFill>
                          <a:latin typeface="Pretendard"/>
                          <a:ea typeface="Pretendard"/>
                        </a:rPr>
                        <a:t> → 우선 시도</a:t>
                      </a:r>
                    </a:p>
                  </a:txBody>
                  <a:tcPr marL="82296" marR="64008" marT="27432" marB="27432" anchor="ctr">
                    <a:solidFill>
                      <a:srgbClr val="EFF3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7232C"/>
                          </a:solidFill>
                          <a:latin typeface="Pretendard"/>
                          <a:ea typeface="Pretendard"/>
                        </a:rPr>
                        <a:t>Diltiazem 30mg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33403B"/>
                          </a:solidFill>
                          <a:latin typeface="Pretendard"/>
                          <a:ea typeface="Pretendard"/>
                        </a:rPr>
                        <a:t>Voon 2001 교차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33403B"/>
                          </a:solidFill>
                          <a:latin typeface="Pretendard"/>
                          <a:ea typeface="Pretendard"/>
                        </a:rPr>
                        <a:t>빈도 5.8→0.16/2주, Lv C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7232C"/>
                          </a:solidFill>
                          <a:latin typeface="Pretendard"/>
                          <a:ea typeface="Pretendard"/>
                        </a:rPr>
                        <a:t>Vitamin K2</a:t>
                      </a:r>
                    </a:p>
                  </a:txBody>
                  <a:tcPr marL="82296" marR="64008" marT="27432" marB="27432" anchor="ctr">
                    <a:solidFill>
                      <a:srgbClr val="EFF3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33403B"/>
                          </a:solidFill>
                          <a:latin typeface="Pretendard"/>
                          <a:ea typeface="Pretendard"/>
                        </a:rPr>
                        <a:t>Tan 2024(JAMA IM)</a:t>
                      </a:r>
                    </a:p>
                  </a:txBody>
                  <a:tcPr marL="82296" marR="64008" marT="27432" marB="27432" anchor="ctr">
                    <a:solidFill>
                      <a:srgbClr val="EFF3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33403B"/>
                          </a:solidFill>
                          <a:latin typeface="Pretendard"/>
                          <a:ea typeface="Pretendard"/>
                        </a:rPr>
                        <a:t>빈도 2.60→0.96 (⚠정정·교체 통지)</a:t>
                      </a:r>
                    </a:p>
                  </a:txBody>
                  <a:tcPr marL="82296" marR="64008" marT="27432" marB="27432" anchor="ctr">
                    <a:solidFill>
                      <a:srgbClr val="EFF3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7232C"/>
                          </a:solidFill>
                          <a:latin typeface="Pretendard"/>
                          <a:ea typeface="Pretendard"/>
                        </a:rPr>
                        <a:t>마그네슘(특발성)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33403B"/>
                          </a:solidFill>
                          <a:latin typeface="Pretendard"/>
                          <a:ea typeface="Pretendard"/>
                        </a:rPr>
                        <a:t>Garrison 2020 Cochrane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33403B"/>
                          </a:solidFill>
                          <a:latin typeface="Pretendard"/>
                          <a:ea typeface="Pretendard"/>
                        </a:rPr>
                        <a:t>임상적 이득 없음 — </a:t>
                      </a:r>
                      <a:r>
                        <a:rPr sz="1200" b="1" i="0">
                          <a:solidFill>
                            <a:srgbClr val="0B5F5E"/>
                          </a:solidFill>
                          <a:latin typeface="Pretendard"/>
                          <a:ea typeface="Pretendard"/>
                        </a:rPr>
                        <a:t>권고 안 함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731520" y="6272784"/>
            <a:ext cx="10725912" cy="15240"/>
          </a:xfrm>
          <a:prstGeom prst="rect">
            <a:avLst/>
          </a:prstGeom>
          <a:solidFill>
            <a:srgbClr val="E4E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364224"/>
            <a:ext cx="96926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950" b="0" i="0">
                <a:solidFill>
                  <a:srgbClr val="6B7680"/>
                </a:solidFill>
                <a:latin typeface="Pretendard"/>
                <a:ea typeface="Pretendard"/>
              </a:rPr>
              <a:t>근거: AAN(Katzberg 2010); Cochrane 종합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364224"/>
            <a:ext cx="8229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6B7680"/>
                </a:solidFill>
                <a:latin typeface="Pretendard"/>
                <a:ea typeface="Pretendard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0E7C7B"/>
                </a:solidFill>
                <a:latin typeface="Pretendard"/>
                <a:ea typeface="Pretendard"/>
              </a:rPr>
              <a:t>비약물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94183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400" b="1" i="0">
                <a:solidFill>
                  <a:srgbClr val="17232C"/>
                </a:solidFill>
                <a:latin typeface="Pretendard"/>
                <a:ea typeface="Pretendard"/>
              </a:rPr>
              <a:t>1차 비약물 치료 (참고)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98448"/>
            <a:ext cx="10725912" cy="17780"/>
          </a:xfrm>
          <a:prstGeom prst="rect">
            <a:avLst/>
          </a:prstGeom>
          <a:solidFill>
            <a:srgbClr val="E4E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38967" y="457200"/>
            <a:ext cx="521208" cy="365760"/>
          </a:xfrm>
          <a:prstGeom prst="roundRect">
            <a:avLst>
              <a:gd name="adj" fmla="val 9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38967" y="457200"/>
            <a:ext cx="52120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Pretendard"/>
                <a:ea typeface="Pretendard"/>
              </a:rPr>
              <a:t>1차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536192"/>
            <a:ext cx="1069848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900" b="1" i="0">
                <a:solidFill>
                  <a:srgbClr val="0E7C7B"/>
                </a:solidFill>
                <a:latin typeface="Pretendard"/>
                <a:ea typeface="Pretendard"/>
              </a:rPr>
              <a:t>●  </a:t>
            </a:r>
            <a:r>
              <a:rPr sz="1500" b="1" i="0">
                <a:solidFill>
                  <a:srgbClr val="2E7D32"/>
                </a:solidFill>
                <a:latin typeface="Pretendard"/>
                <a:ea typeface="Pretendard"/>
              </a:rPr>
              <a:t>취침 전 스트레칭(Hallegraeff 2012 RCT):</a:t>
            </a:r>
            <a:r>
              <a:rPr sz="1500" b="0" i="0">
                <a:solidFill>
                  <a:srgbClr val="2E7D32"/>
                </a:solidFill>
                <a:latin typeface="Pretendard"/>
                <a:ea typeface="Pretendard"/>
              </a:rPr>
              <a:t> 종아리·햄스트링 6주 → 경련 빈도(−1.2회/야간)·강도(−1.3 cm VAS) 감소.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900" b="1" i="0">
                <a:solidFill>
                  <a:srgbClr val="0E7C7B"/>
                </a:solidFill>
                <a:latin typeface="Pretendard"/>
                <a:ea typeface="Pretendard"/>
              </a:rPr>
              <a:t>●  </a:t>
            </a:r>
            <a:r>
              <a:rPr sz="1500" b="0" i="0">
                <a:solidFill>
                  <a:srgbClr val="33403B"/>
                </a:solidFill>
                <a:latin typeface="Pretendard"/>
                <a:ea typeface="Pretendard"/>
              </a:rPr>
              <a:t>위험 거의 없고 무비용 → 모든 고령 NLC 환자의 1차.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900" b="1" i="0">
                <a:solidFill>
                  <a:srgbClr val="0E7C7B"/>
                </a:solidFill>
                <a:latin typeface="Pretendard"/>
                <a:ea typeface="Pretendard"/>
              </a:rPr>
              <a:t>●  </a:t>
            </a:r>
            <a:r>
              <a:rPr sz="1500" b="0" i="0">
                <a:solidFill>
                  <a:srgbClr val="33403B"/>
                </a:solidFill>
                <a:latin typeface="Pretendard"/>
                <a:ea typeface="Pretendard"/>
              </a:rPr>
              <a:t>급성 발작: 족배굴곡 수동 신장·걷기·마사지. 자세·수분·온열 교정.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900" b="1" i="0">
                <a:solidFill>
                  <a:srgbClr val="0E7C7B"/>
                </a:solidFill>
                <a:latin typeface="Pretendard"/>
                <a:ea typeface="Pretendard"/>
              </a:rPr>
              <a:t>●  </a:t>
            </a:r>
            <a:r>
              <a:rPr sz="1500" b="0" i="0">
                <a:solidFill>
                  <a:srgbClr val="33403B"/>
                </a:solidFill>
                <a:latin typeface="Pretendard"/>
                <a:ea typeface="Pretendard"/>
              </a:rPr>
              <a:t>원인 교정: 유발약물(LABA·이뇨제·statin) 검토, 이차 원인(협착·정맥부전·전해질) 교정.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6272784"/>
            <a:ext cx="10725912" cy="15240"/>
          </a:xfrm>
          <a:prstGeom prst="rect">
            <a:avLst/>
          </a:prstGeom>
          <a:solidFill>
            <a:srgbClr val="E4E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364224"/>
            <a:ext cx="96926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950" b="0" i="0">
                <a:solidFill>
                  <a:srgbClr val="6B7680"/>
                </a:solidFill>
                <a:latin typeface="Pretendard"/>
                <a:ea typeface="Pretendard"/>
              </a:rPr>
              <a:t>근거: Hallegraeff 2012; Allen &amp; Kirby 2012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364224"/>
            <a:ext cx="8229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6B7680"/>
                </a:solidFill>
                <a:latin typeface="Pretendard"/>
                <a:ea typeface="Pretendard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3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858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5FD6CC"/>
                </a:solidFill>
                <a:latin typeface="Pretendard"/>
                <a:ea typeface="Pretendard"/>
              </a:rPr>
              <a:t>핵심 메시지 · NLC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900" b="1" i="0">
                <a:solidFill>
                  <a:srgbClr val="F4F7F5"/>
                </a:solidFill>
                <a:latin typeface="Pretendard"/>
                <a:ea typeface="Pretendard"/>
              </a:rPr>
              <a:t>감별과 원인교정이 먼저, 스트레칭이 1차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331720"/>
            <a:ext cx="10515600" cy="12700"/>
          </a:xfrm>
          <a:prstGeom prst="rect">
            <a:avLst/>
          </a:prstGeom>
          <a:solidFill>
            <a:srgbClr val="2A3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423160"/>
            <a:ext cx="2834640" cy="6830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 i="0">
                <a:solidFill>
                  <a:srgbClr val="5FD6CC"/>
                </a:solidFill>
                <a:latin typeface="Pretendard"/>
                <a:ea typeface="Pretendard"/>
              </a:rPr>
              <a:t>병태생리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94760" y="2423160"/>
            <a:ext cx="7589520" cy="6830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300" b="0" i="0">
                <a:solidFill>
                  <a:srgbClr val="D3DBD8"/>
                </a:solidFill>
                <a:latin typeface="Pretendard"/>
                <a:ea typeface="Pretendard"/>
              </a:rPr>
              <a:t>운동신경 과흥분 + Ia/Ib 반사 불균형. 단축된 근육에서 유발, 신전으로 완화.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090672"/>
            <a:ext cx="10515600" cy="12700"/>
          </a:xfrm>
          <a:prstGeom prst="rect">
            <a:avLst/>
          </a:prstGeom>
          <a:solidFill>
            <a:srgbClr val="2A3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182112"/>
            <a:ext cx="2834640" cy="6830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 i="0">
                <a:solidFill>
                  <a:srgbClr val="5FD6CC"/>
                </a:solidFill>
                <a:latin typeface="Pretendard"/>
                <a:ea typeface="Pretendard"/>
              </a:rPr>
              <a:t>주된 호소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4760" y="3182112"/>
            <a:ext cx="7589520" cy="6830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300" b="0" i="0">
                <a:solidFill>
                  <a:srgbClr val="D3DBD8"/>
                </a:solidFill>
                <a:latin typeface="Pretendard"/>
                <a:ea typeface="Pretendard"/>
              </a:rPr>
              <a:t>수면 중 통증성 경련·촉지 근경직·족배굴곡 완화·잔통. RLS와 감별.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3849624"/>
            <a:ext cx="10515600" cy="12700"/>
          </a:xfrm>
          <a:prstGeom prst="rect">
            <a:avLst/>
          </a:prstGeom>
          <a:solidFill>
            <a:srgbClr val="2A3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941064"/>
            <a:ext cx="2834640" cy="6830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 i="0">
                <a:solidFill>
                  <a:srgbClr val="5FD6CC"/>
                </a:solidFill>
                <a:latin typeface="Pretendard"/>
                <a:ea typeface="Pretendard"/>
              </a:rPr>
              <a:t>ESWT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3941064"/>
            <a:ext cx="7589520" cy="6830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300" b="0" i="0">
                <a:solidFill>
                  <a:srgbClr val="D3DBD8"/>
                </a:solidFill>
                <a:latin typeface="Pretendard"/>
                <a:ea typeface="Pretendard"/>
              </a:rPr>
              <a:t>경직 근거는 강하나 경련 직접근거는 약함 → 보조·근거형성 중.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4608576"/>
            <a:ext cx="10515600" cy="12700"/>
          </a:xfrm>
          <a:prstGeom prst="rect">
            <a:avLst/>
          </a:prstGeom>
          <a:solidFill>
            <a:srgbClr val="2A3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700016"/>
            <a:ext cx="2834640" cy="6830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 i="0">
                <a:solidFill>
                  <a:srgbClr val="5FD6CC"/>
                </a:solidFill>
                <a:latin typeface="Pretendard"/>
                <a:ea typeface="Pretendard"/>
              </a:rPr>
              <a:t>주사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94760" y="4700016"/>
            <a:ext cx="7589520" cy="6830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300" b="0" i="0">
                <a:solidFill>
                  <a:srgbClr val="D3DBD8"/>
                </a:solidFill>
                <a:latin typeface="Pretendard"/>
                <a:ea typeface="Pretendard"/>
              </a:rPr>
              <a:t>BTX(RCT)·유발점/dry needling(MTrP)·심비골신경 차단(Imura)이 불응성에 선택적.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5367528"/>
            <a:ext cx="10515600" cy="12700"/>
          </a:xfrm>
          <a:prstGeom prst="rect">
            <a:avLst/>
          </a:prstGeom>
          <a:solidFill>
            <a:srgbClr val="2A3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5458968"/>
            <a:ext cx="2834640" cy="6830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 i="0">
                <a:solidFill>
                  <a:srgbClr val="5FD6CC"/>
                </a:solidFill>
                <a:latin typeface="Pretendard"/>
                <a:ea typeface="Pretendard"/>
              </a:rPr>
              <a:t>경구약제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94760" y="5458968"/>
            <a:ext cx="7589520" cy="6830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300" b="0" i="0">
                <a:solidFill>
                  <a:srgbClr val="D3DBD8"/>
                </a:solidFill>
                <a:latin typeface="Pretendard"/>
                <a:ea typeface="Pretendard"/>
              </a:rPr>
              <a:t>quinine 효과O·독성으로 회피, 비타민B/diltiazem 비교적 안전, 마그네슘 특발성 무효.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0E7C7B"/>
                </a:solidFill>
                <a:latin typeface="Pretendard"/>
                <a:ea typeface="Pretendard"/>
              </a:rPr>
              <a:t>참고문헌 ·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94183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400" b="1" i="0">
                <a:solidFill>
                  <a:srgbClr val="17232C"/>
                </a:solidFill>
                <a:latin typeface="Pretendard"/>
                <a:ea typeface="Pretendard"/>
              </a:rPr>
              <a:t>참고문헌 — NLC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98448"/>
            <a:ext cx="10725912" cy="17780"/>
          </a:xfrm>
          <a:prstGeom prst="rect">
            <a:avLst/>
          </a:prstGeom>
          <a:solidFill>
            <a:srgbClr val="E4E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518343" y="457200"/>
            <a:ext cx="941832" cy="365760"/>
          </a:xfrm>
          <a:prstGeom prst="roundRect">
            <a:avLst>
              <a:gd name="adj" fmla="val 9000"/>
            </a:avLst>
          </a:prstGeom>
          <a:solidFill>
            <a:srgbClr val="1723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8343" y="457200"/>
            <a:ext cx="94183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Pretendard"/>
                <a:ea typeface="Pretendard"/>
              </a:rPr>
              <a:t>PubMed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536192"/>
            <a:ext cx="525780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000" b="1" i="0">
                <a:solidFill>
                  <a:srgbClr val="0B5F5E"/>
                </a:solidFill>
                <a:latin typeface="Pretendard"/>
                <a:ea typeface="Pretendard"/>
                <a:hlinkClick r:id="rId2"/>
              </a:rPr>
              <a:t>Miller &amp; Layzer.</a:t>
            </a:r>
            <a:r>
              <a:rPr sz="1000" b="0" i="0">
                <a:solidFill>
                  <a:srgbClr val="33403B"/>
                </a:solidFill>
                <a:latin typeface="Pretendard"/>
                <a:ea typeface="Pretendard"/>
                <a:hlinkClick r:id="rId2"/>
              </a:rPr>
              <a:t> Muscle cramps. Muscle Nerve. 2005.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000" b="1" i="0">
                <a:solidFill>
                  <a:srgbClr val="0B5F5E"/>
                </a:solidFill>
                <a:latin typeface="Pretendard"/>
                <a:ea typeface="Pretendard"/>
                <a:hlinkClick r:id="rId3"/>
              </a:rPr>
              <a:t>Minetto.</a:t>
            </a:r>
            <a:r>
              <a:rPr sz="1000" b="0" i="0">
                <a:solidFill>
                  <a:srgbClr val="33403B"/>
                </a:solidFill>
                <a:latin typeface="Pretendard"/>
                <a:ea typeface="Pretendard"/>
                <a:hlinkClick r:id="rId3"/>
              </a:rPr>
              <a:t> Mechanisms of cramp contractions. J Physiol. 2011.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000" b="1" i="0">
                <a:solidFill>
                  <a:srgbClr val="0B5F5E"/>
                </a:solidFill>
                <a:latin typeface="Pretendard"/>
                <a:ea typeface="Pretendard"/>
                <a:hlinkClick r:id="rId4"/>
              </a:rPr>
              <a:t>Khan &amp; Burne.</a:t>
            </a:r>
            <a:r>
              <a:rPr sz="1000" b="0" i="0">
                <a:solidFill>
                  <a:srgbClr val="33403B"/>
                </a:solidFill>
                <a:latin typeface="Pretendard"/>
                <a:ea typeface="Pretendard"/>
                <a:hlinkClick r:id="rId4"/>
              </a:rPr>
              <a:t> Reflex inhibition of cramp by tendon stim. J Neurophysiol. 2007.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000" b="1" i="0">
                <a:solidFill>
                  <a:srgbClr val="0B5F5E"/>
                </a:solidFill>
                <a:latin typeface="Pretendard"/>
                <a:ea typeface="Pretendard"/>
                <a:hlinkClick r:id="rId5"/>
              </a:rPr>
              <a:t>Hallegraeff.</a:t>
            </a:r>
            <a:r>
              <a:rPr sz="1000" b="0" i="0">
                <a:solidFill>
                  <a:srgbClr val="33403B"/>
                </a:solidFill>
                <a:latin typeface="Pretendard"/>
                <a:ea typeface="Pretendard"/>
                <a:hlinkClick r:id="rId5"/>
              </a:rPr>
              <a:t> Stretching before sleep reduces NLC: RCT. J Physiother. 2012.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000" b="1" i="0">
                <a:solidFill>
                  <a:srgbClr val="0B5F5E"/>
                </a:solidFill>
                <a:latin typeface="Pretendard"/>
                <a:ea typeface="Pretendard"/>
                <a:hlinkClick r:id="rId6"/>
              </a:rPr>
              <a:t>Li.</a:t>
            </a:r>
            <a:r>
              <a:rPr sz="1000" b="0" i="0">
                <a:solidFill>
                  <a:srgbClr val="33403B"/>
                </a:solidFill>
                <a:latin typeface="Pretendard"/>
                <a:ea typeface="Pretendard"/>
                <a:hlinkClick r:id="rId6"/>
              </a:rPr>
              <a:t> ESWT reduces leg cramps in lumbar degenerative disorders. Biomed Res Int. 2021.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000" b="1" i="0">
                <a:solidFill>
                  <a:srgbClr val="0B5F5E"/>
                </a:solidFill>
                <a:latin typeface="Pretendard"/>
                <a:ea typeface="Pretendard"/>
                <a:hlinkClick r:id="rId7"/>
              </a:rPr>
              <a:t>Otero-Luis.</a:t>
            </a:r>
            <a:r>
              <a:rPr sz="1000" b="0" i="0">
                <a:solidFill>
                  <a:srgbClr val="33403B"/>
                </a:solidFill>
                <a:latin typeface="Pretendard"/>
                <a:ea typeface="Pretendard"/>
                <a:hlinkClick r:id="rId7"/>
              </a:rPr>
              <a:t> ESWT for spasticity: SR &amp; MA. J Clin Med. 2024.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000" b="1" i="0">
                <a:solidFill>
                  <a:srgbClr val="0B5F5E"/>
                </a:solidFill>
                <a:latin typeface="Pretendard"/>
                <a:ea typeface="Pretendard"/>
                <a:hlinkClick r:id="rId8"/>
              </a:rPr>
              <a:t>Kim.</a:t>
            </a:r>
            <a:r>
              <a:rPr sz="1000" b="0" i="0">
                <a:solidFill>
                  <a:srgbClr val="33403B"/>
                </a:solidFill>
                <a:latin typeface="Pretendard"/>
                <a:ea typeface="Pretendard"/>
                <a:hlinkClick r:id="rId8"/>
              </a:rPr>
              <a:t> MTrP injections on nocturnal calf cramps. J Am Board Fam Med. 2015.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536192"/>
            <a:ext cx="525780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000" b="1" i="0">
                <a:solidFill>
                  <a:srgbClr val="0B5F5E"/>
                </a:solidFill>
                <a:latin typeface="Pretendard"/>
                <a:ea typeface="Pretendard"/>
                <a:hlinkClick r:id="rId9"/>
              </a:rPr>
              <a:t>Temel.</a:t>
            </a:r>
            <a:r>
              <a:rPr sz="1000" b="0" i="0">
                <a:solidFill>
                  <a:srgbClr val="33403B"/>
                </a:solidFill>
                <a:latin typeface="Pretendard"/>
                <a:ea typeface="Pretendard"/>
                <a:hlinkClick r:id="rId9"/>
              </a:rPr>
              <a:t> Dry needling on nocturnal calf cramps: RCT. Turk J Osteoporos. 2023.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000" b="1" i="0">
                <a:solidFill>
                  <a:srgbClr val="0B5F5E"/>
                </a:solidFill>
                <a:latin typeface="Pretendard"/>
                <a:ea typeface="Pretendard"/>
                <a:hlinkClick r:id="rId10"/>
              </a:rPr>
              <a:t>Imura.</a:t>
            </a:r>
            <a:r>
              <a:rPr sz="1000" b="0" i="0">
                <a:solidFill>
                  <a:srgbClr val="33403B"/>
                </a:solidFill>
                <a:latin typeface="Pretendard"/>
                <a:ea typeface="Pretendard"/>
                <a:hlinkClick r:id="rId10"/>
              </a:rPr>
              <a:t> Deep peroneal nerve medial branch block for NLC. Brain Behav. 2015.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000" b="1" i="0">
                <a:solidFill>
                  <a:srgbClr val="0B5F5E"/>
                </a:solidFill>
                <a:latin typeface="Pretendard"/>
                <a:ea typeface="Pretendard"/>
                <a:hlinkClick r:id="rId11"/>
              </a:rPr>
              <a:t>Park.</a:t>
            </a:r>
            <a:r>
              <a:rPr sz="1000" b="0" i="0">
                <a:solidFill>
                  <a:srgbClr val="33403B"/>
                </a:solidFill>
                <a:latin typeface="Pretendard"/>
                <a:ea typeface="Pretendard"/>
                <a:hlinkClick r:id="rId11"/>
              </a:rPr>
              <a:t> Botulinum toxin for nocturnal calf cramps in LSS: RCT. Arch Phys Med Rehabil. 2017.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000" b="1" i="0">
                <a:solidFill>
                  <a:srgbClr val="0B5F5E"/>
                </a:solidFill>
                <a:latin typeface="Pretendard"/>
                <a:ea typeface="Pretendard"/>
                <a:hlinkClick r:id="rId12"/>
              </a:rPr>
              <a:t>El-Tawil.</a:t>
            </a:r>
            <a:r>
              <a:rPr sz="1000" b="0" i="0">
                <a:solidFill>
                  <a:srgbClr val="33403B"/>
                </a:solidFill>
                <a:latin typeface="Pretendard"/>
                <a:ea typeface="Pretendard"/>
                <a:hlinkClick r:id="rId12"/>
              </a:rPr>
              <a:t> Quinine for muscle cramps. Cochrane. 2015.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000" b="1" i="0">
                <a:solidFill>
                  <a:srgbClr val="0B5F5E"/>
                </a:solidFill>
                <a:latin typeface="Pretendard"/>
                <a:ea typeface="Pretendard"/>
                <a:hlinkClick r:id="rId13"/>
              </a:rPr>
              <a:t>Garrison.</a:t>
            </a:r>
            <a:r>
              <a:rPr sz="1000" b="0" i="0">
                <a:solidFill>
                  <a:srgbClr val="33403B"/>
                </a:solidFill>
                <a:latin typeface="Pretendard"/>
                <a:ea typeface="Pretendard"/>
                <a:hlinkClick r:id="rId13"/>
              </a:rPr>
              <a:t> Magnesium for skeletal muscle cramps. Cochrane. 2020.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000" b="1" i="0">
                <a:solidFill>
                  <a:srgbClr val="0B5F5E"/>
                </a:solidFill>
                <a:latin typeface="Pretendard"/>
                <a:ea typeface="Pretendard"/>
                <a:hlinkClick r:id="rId14"/>
              </a:rPr>
              <a:t>Chan.</a:t>
            </a:r>
            <a:r>
              <a:rPr sz="1000" b="0" i="0">
                <a:solidFill>
                  <a:srgbClr val="33403B"/>
                </a:solidFill>
                <a:latin typeface="Pretendard"/>
                <a:ea typeface="Pretendard"/>
                <a:hlinkClick r:id="rId14"/>
              </a:rPr>
              <a:t> Vitamin B complex for NLC: RCT. J Clin Pharmacol. 1998.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000" b="1" i="0">
                <a:solidFill>
                  <a:srgbClr val="0B5F5E"/>
                </a:solidFill>
                <a:latin typeface="Pretendard"/>
                <a:ea typeface="Pretendard"/>
                <a:hlinkClick r:id="rId15"/>
              </a:rPr>
              <a:t>Voon &amp; Sheu.</a:t>
            </a:r>
            <a:r>
              <a:rPr sz="1000" b="0" i="0">
                <a:solidFill>
                  <a:srgbClr val="33403B"/>
                </a:solidFill>
                <a:latin typeface="Pretendard"/>
                <a:ea typeface="Pretendard"/>
                <a:hlinkClick r:id="rId15"/>
              </a:rPr>
              <a:t> Diltiazem for nocturnal leg cramps. Age Ageing. 2001.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6272784"/>
            <a:ext cx="10725912" cy="15240"/>
          </a:xfrm>
          <a:prstGeom prst="rect">
            <a:avLst/>
          </a:prstGeom>
          <a:solidFill>
            <a:srgbClr val="E4E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364224"/>
            <a:ext cx="96926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950" b="0" i="0">
                <a:solidFill>
                  <a:srgbClr val="6B7680"/>
                </a:solidFill>
                <a:latin typeface="Pretendard"/>
                <a:ea typeface="Pretendard"/>
              </a:rPr>
              <a:t>근거: 제목 클릭 시 PubMed로 이동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364224"/>
            <a:ext cx="8229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6B7680"/>
                </a:solidFill>
                <a:latin typeface="Pretendard"/>
                <a:ea typeface="Pretendard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