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E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-1554480"/>
            <a:ext cx="5303520" cy="5303520"/>
          </a:xfrm>
          <a:prstGeom prst="ellipse">
            <a:avLst/>
          </a:prstGeom>
          <a:solidFill>
            <a:srgbClr val="165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200400"/>
            <a:ext cx="4206240" cy="4206240"/>
          </a:xfrm>
          <a:prstGeom prst="ellipse">
            <a:avLst/>
          </a:prstGeom>
          <a:solidFill>
            <a:srgbClr val="145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188720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의원 진료실 · 원장용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93268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5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환자를 안심시키는</a:t>
            </a:r>
          </a:p>
          <a:p>
            <a:pPr algn="l">
              <a:lnSpc>
                <a:spcPct val="107000"/>
              </a:lnSpc>
            </a:pPr>
            <a:r>
              <a:rPr sz="5000" b="1">
                <a:solidFill>
                  <a:srgbClr val="9AD1DB"/>
                </a:solidFill>
                <a:latin typeface="Malgun Gothic"/>
                <a:ea typeface="Malgun Gothic"/>
                <a:cs typeface="Malgun Gothic"/>
              </a:rPr>
              <a:t>시술 멘트 매뉴얼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4206240"/>
            <a:ext cx="1920240" cy="45720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62272"/>
            <a:ext cx="9326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말 한마디로 통증을 줄이고, 다시 오게 만듭니다</a:t>
            </a:r>
          </a:p>
          <a:p>
            <a:pPr algn="l">
              <a:lnSpc>
                <a:spcPct val="140000"/>
              </a:lnSpc>
            </a:pPr>
            <a:r>
              <a:rPr sz="1450" b="0">
                <a:solidFill>
                  <a:srgbClr val="9AD1DB"/>
                </a:solidFill>
                <a:latin typeface="Malgun Gothic"/>
                <a:ea typeface="Malgun Gothic"/>
                <a:cs typeface="Malgun Gothic"/>
              </a:rPr>
              <a:t>척추 중재시술 · 관절 주사 · 곤란한 순간 응대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05840"/>
            <a:ext cx="2221992" cy="384048"/>
          </a:xfrm>
          <a:prstGeom prst="roundRect">
            <a:avLst>
              <a:gd name="adj" fmla="val 50000"/>
            </a:avLst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이 매뉴얼을 쓰는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10241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같은 주사라도</a:t>
            </a:r>
          </a:p>
          <a:p>
            <a:pPr algn="l">
              <a:lnSpc>
                <a:spcPct val="108000"/>
              </a:lnSpc>
            </a:pPr>
            <a:r>
              <a:rPr sz="4000" b="1">
                <a:solidFill>
                  <a:srgbClr val="1B879E"/>
                </a:solidFill>
                <a:latin typeface="Malgun Gothic"/>
                <a:ea typeface="Malgun Gothic"/>
                <a:cs typeface="Malgun Gothic"/>
              </a:rPr>
              <a:t>말에 따라 통증이 달라집니다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시술 실력은 이미 갖추셨습니다. 남는 변수는 </a:t>
            </a:r>
            <a:r>
              <a:rPr sz="18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‘무슨 말을 하느냐’</a:t>
            </a:r>
            <a:r>
              <a:rPr sz="18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입니다.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환자가 기억하는 건 바늘이 아니라 </a:t>
            </a:r>
            <a:r>
              <a:rPr sz="18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그때 들은 말과 표정</a:t>
            </a:r>
            <a:r>
              <a:rPr sz="18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021842" cy="384048"/>
          </a:xfrm>
          <a:prstGeom prst="roundRect">
            <a:avLst>
              <a:gd name="adj" fmla="val 50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전체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25296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이 세 가지만 지키면 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6040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3383280" cy="566928"/>
          </a:xfrm>
          <a:prstGeom prst="roundRect">
            <a:avLst>
              <a:gd name="adj" fmla="val 6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898648"/>
            <a:ext cx="3383280" cy="274320"/>
          </a:xfrm>
          <a:prstGeom prst="rect">
            <a:avLst/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원칙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520440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숨기지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5196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아픈 걸 아프다고 하되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짧게, 담담하게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606040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2606040"/>
            <a:ext cx="3383280" cy="566928"/>
          </a:xfrm>
          <a:prstGeom prst="roundRect">
            <a:avLst>
              <a:gd name="adj" fmla="val 6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898648"/>
            <a:ext cx="3383280" cy="27432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원칙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3520440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끝을 알려준다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25196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“몇 초면 지나가요”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시간으로 닫는다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606040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606040"/>
            <a:ext cx="3383280" cy="566928"/>
          </a:xfrm>
          <a:prstGeom prst="roundRect">
            <a:avLst>
              <a:gd name="adj" fmla="val 6000"/>
            </a:avLst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898648"/>
            <a:ext cx="3383280" cy="274320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606040"/>
            <a:ext cx="3383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원칙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520440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권한을 준다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25196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“불편하면 말씀하세요”</a:t>
            </a:r>
          </a:p>
          <a:p>
            <a:pPr algn="l">
              <a:lnSpc>
                <a:spcPct val="130000"/>
              </a:lnSpc>
            </a:pPr>
            <a:r>
              <a:rPr sz="14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멈출 수 있게 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E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>
                <a:solidFill>
                  <a:srgbClr val="185C7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703320"/>
            <a:ext cx="1828800" cy="50292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바늘 들어가는 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8920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9AD1DB"/>
                </a:solidFill>
                <a:latin typeface="Malgun Gothic"/>
                <a:ea typeface="Malgun Gothic"/>
                <a:cs typeface="Malgun Gothic"/>
              </a:rPr>
              <a:t>가장 많이 실수하는 3초를 다듬습니다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021842" cy="384048"/>
          </a:xfrm>
          <a:prstGeom prst="roundRect">
            <a:avLst>
              <a:gd name="adj" fmla="val 50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25296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3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“따끔”은 </a:t>
            </a:r>
            <a:r>
              <a:rPr sz="3300" b="1">
                <a:solidFill>
                  <a:srgbClr val="1B879E"/>
                </a:solidFill>
                <a:latin typeface="Malgun Gothic"/>
                <a:ea typeface="Malgun Gothic"/>
                <a:cs typeface="Malgun Gothic"/>
              </a:rPr>
              <a:t>그대로 쓰셔도</a:t>
            </a:r>
            <a:r>
              <a:rPr sz="33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피부를 뚫는 건 실제로 따끔합니다. 이걸 ‘누르는 느낌’이라 하면 환자는 속았다고 느낍니다.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17520"/>
            <a:ext cx="10515600" cy="1234440"/>
          </a:xfrm>
          <a:prstGeom prst="roundRect">
            <a:avLst>
              <a:gd name="adj" fmla="val 7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3017520"/>
            <a:ext cx="30175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문제는 이것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3017520"/>
            <a:ext cx="7498079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‘따끔’이라는 단어가 아니라 </a:t>
            </a:r>
            <a:r>
              <a:rPr sz="16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아픔을 부풀리고 물고 늘어지는 것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“많이 아파요” · “여기가 제일 아파요” · “벌에 쏘이듯”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34840"/>
            <a:ext cx="10515600" cy="123444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434840"/>
            <a:ext cx="30175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B879E"/>
                </a:solidFill>
                <a:latin typeface="Malgun Gothic"/>
                <a:ea typeface="Malgun Gothic"/>
                <a:cs typeface="Malgun Gothic"/>
              </a:rPr>
              <a:t>그래서 이렇게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434840"/>
            <a:ext cx="7498079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한 번만 담담하게 + </a:t>
            </a:r>
            <a:r>
              <a:rPr sz="16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시간으로 닫고</a:t>
            </a: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16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멈출 권한</a:t>
            </a: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을 준다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“잠깐 따끔하고 몇 초면 지나가요. 불편하면 말씀하세요.”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정확하게 말하기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25296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감각은 </a:t>
            </a:r>
            <a:r>
              <a:rPr sz="3200" b="1">
                <a:solidFill>
                  <a:srgbClr val="1B879E"/>
                </a:solidFill>
                <a:latin typeface="Malgun Gothic"/>
                <a:ea typeface="Malgun Gothic"/>
                <a:cs typeface="Malgun Gothic"/>
              </a:rPr>
              <a:t>단계마다 다릅니다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한 단어로 뭉치지 말고, 그 순간의 실제 감각을 그대로 알려주세요.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10515600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21945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피부 뚫을 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788920"/>
            <a:ext cx="17373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879E"/>
                </a:solidFill>
                <a:latin typeface="Malgun Gothic"/>
                <a:ea typeface="Malgun Gothic"/>
                <a:cs typeface="Malgun Gothic"/>
              </a:rPr>
              <a:t>따끔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788920"/>
            <a:ext cx="58521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“잠깐 따끔하고 몇 초면 지나가요”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84448"/>
            <a:ext cx="10515600" cy="694944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84448"/>
            <a:ext cx="21945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마취약 들어갈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584448"/>
            <a:ext cx="17373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시큰·화끈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584448"/>
            <a:ext cx="58521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“약이 퍼지면서 시큰한데 금방 무뎌집니다”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79976"/>
            <a:ext cx="10515600" cy="6949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79976"/>
            <a:ext cx="21945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바늘 진행할 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379976"/>
            <a:ext cx="17373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879E"/>
                </a:solidFill>
                <a:latin typeface="Malgun Gothic"/>
                <a:ea typeface="Malgun Gothic"/>
                <a:cs typeface="Malgun Gothic"/>
              </a:rPr>
              <a:t>누르는 느낌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379976"/>
            <a:ext cx="58521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“이제부턴 지그시 누르는 느낌이에요”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75504"/>
            <a:ext cx="10515600" cy="694944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175504"/>
            <a:ext cx="21945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약 들어갈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5175504"/>
            <a:ext cx="17373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뻐근·차오름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175504"/>
            <a:ext cx="58521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“묵직하게 차오르는 느낌은 정상이에요”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‘찌릿’은 아껴두세요 — 신경근차단에서 “다리로 찌릿하면 말씀하세요”라는 안전 신호로 써야 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바로 쓰는 3초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25296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찌르기 직전, 이 한 문장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10515600" cy="1417320"/>
          </a:xfrm>
          <a:prstGeom prst="roundRect">
            <a:avLst>
              <a:gd name="adj" fmla="val 6000"/>
            </a:avLst>
          </a:prstGeom>
          <a:solidFill>
            <a:srgbClr val="124E66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“자, 시작할게요. </a:t>
            </a:r>
            <a:r>
              <a:rPr sz="2100" b="1">
                <a:solidFill>
                  <a:srgbClr val="D98E2B"/>
                </a:solidFill>
                <a:latin typeface="Malgun Gothic"/>
                <a:ea typeface="Malgun Gothic"/>
                <a:cs typeface="Malgun Gothic"/>
              </a:rPr>
              <a:t>잠깐 따끔</a:t>
            </a: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하고 </a:t>
            </a:r>
            <a:r>
              <a:rPr sz="2100" b="1">
                <a:solidFill>
                  <a:srgbClr val="D98E2B"/>
                </a:solidFill>
                <a:latin typeface="Malgun Gothic"/>
                <a:ea typeface="Malgun Gothic"/>
                <a:cs typeface="Malgun Gothic"/>
              </a:rPr>
              <a:t>몇 초면 지나가요</a:t>
            </a: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 셋 셀게요 — 하나, 둘, 셋.”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5029200" cy="694944"/>
          </a:xfrm>
          <a:prstGeom prst="roundRect">
            <a:avLst>
              <a:gd name="adj" fmla="val 12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114800"/>
            <a:ext cx="22860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‘자, 시작할게요’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4114800"/>
            <a:ext cx="2103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예고 — 놀라지 않게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029200" cy="694944"/>
          </a:xfrm>
          <a:prstGeom prst="roundRect">
            <a:avLst>
              <a:gd name="adj" fmla="val 12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114800"/>
            <a:ext cx="22860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‘잠깐 따끔’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4114800"/>
            <a:ext cx="2103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정직 — 속이지 않게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919472"/>
            <a:ext cx="5029200" cy="694944"/>
          </a:xfrm>
          <a:prstGeom prst="roundRect">
            <a:avLst>
              <a:gd name="adj" fmla="val 12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919472"/>
            <a:ext cx="22860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‘몇 초면 지나가요’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919472"/>
            <a:ext cx="2103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끝 — 견딜 수 있게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919472"/>
            <a:ext cx="5029200" cy="694944"/>
          </a:xfrm>
          <a:prstGeom prst="roundRect">
            <a:avLst>
              <a:gd name="adj" fmla="val 12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919472"/>
            <a:ext cx="22860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24E66"/>
                </a:solidFill>
                <a:latin typeface="Malgun Gothic"/>
                <a:ea typeface="Malgun Gothic"/>
                <a:cs typeface="Malgun Gothic"/>
              </a:rPr>
              <a:t>‘하나, 둘, 셋’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919472"/>
            <a:ext cx="2103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통제 — 대비할 수 있게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850392" cy="384048"/>
          </a:xfrm>
          <a:prstGeom prst="roundRect">
            <a:avLst>
              <a:gd name="adj" fmla="val 50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시술 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25296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침묵을 두지 마세요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아무 말 없이 3초가 지나면 환자는 뭔가 잘못됐다고 생각합니다.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743200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“지금 잘 들어가고 있어요. 절반쯤 지났습니다.”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584448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584448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584448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“누르는 느낌은 정상이에요. 날카롭게 오면 바로 말씀해 주세요.”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84448"/>
            <a:ext cx="10515600" cy="713232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D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425696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425696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425696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“숨 편하게 쉬세요. 참지 마시고요.”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266944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266944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5266944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“거의 다 됐어요. 조금만요.”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66944"/>
            <a:ext cx="10515600" cy="713232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D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진행 상황을 말해주는 것 자체가 진통 효과가 있습니다. 특히 ‘절반 지났다’는 끝이 보이게 합니다.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시술 후 30초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25296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여기서 </a:t>
            </a:r>
            <a:r>
              <a:rPr sz="3200" b="1">
                <a:solidFill>
                  <a:srgbClr val="1B879E"/>
                </a:solidFill>
                <a:latin typeface="Malgun Gothic"/>
                <a:ea typeface="Malgun Gothic"/>
                <a:cs typeface="Malgun Gothic"/>
              </a:rPr>
              <a:t>재방문이 갈립니다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21408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시술이 끝난 직후 30초가 그날 진료 전체의 인상을 결정합니다.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1828800" cy="694944"/>
          </a:xfrm>
          <a:prstGeom prst="roundRect">
            <a:avLst>
              <a:gd name="adj" fmla="val 12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인정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788920"/>
            <a:ext cx="8549640" cy="694944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2788920"/>
            <a:ext cx="79552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“잘 참으셨어요. 생각보다 금방 끝났죠?”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11879"/>
            <a:ext cx="1828800" cy="694944"/>
          </a:xfrm>
          <a:prstGeom prst="roundRect">
            <a:avLst>
              <a:gd name="adj" fmla="val 12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11879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611879"/>
            <a:ext cx="8549640" cy="694944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3611879"/>
            <a:ext cx="79552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“지금 어지럽거나 불편한 데는 없으세요?”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434840"/>
            <a:ext cx="1828800" cy="694944"/>
          </a:xfrm>
          <a:prstGeom prst="roundRect">
            <a:avLst>
              <a:gd name="adj" fmla="val 12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예고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4434840"/>
            <a:ext cx="8549640" cy="694944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4434840"/>
            <a:ext cx="79552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“오늘 저녁이나 내일 잠깐 뻐근할 수 있는데 정상이에요.”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57800"/>
            <a:ext cx="1828800" cy="694944"/>
          </a:xfrm>
          <a:prstGeom prst="roundRect">
            <a:avLst>
              <a:gd name="adj" fmla="val 12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연결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5257800"/>
            <a:ext cx="8549640" cy="694944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5257800"/>
            <a:ext cx="79552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“이상하면 참지 마시고 바로 전화 주세요.”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④번을 빠뜨리면 환자는 불안할 때 우리 대신 인터넷을 찾습니다.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678942" cy="384048"/>
          </a:xfrm>
          <a:prstGeom prst="roundRect">
            <a:avLst>
              <a:gd name="adj" fmla="val 50000"/>
            </a:avLst>
          </a:prstGeom>
          <a:solidFill>
            <a:srgbClr val="C4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금지어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25296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이 말만은 </a:t>
            </a:r>
            <a:r>
              <a:rPr sz="32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빼주세요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95728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95728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395728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“여기가 제일 아픈 부분이에요”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395728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아픔에 주의를 못 박습니다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45536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45536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5536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“하나도 안 아파요”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145536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거짓말은 다음 시술을 어렵게 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95344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95344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895344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“많이 아팠죠?” (끝난 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895344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지나간 통증을 다시 각인시킵니다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45152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45152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645152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“절대 움직이면 안 돼요”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645152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긴장으로 오히려 더 아파집니다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94960"/>
            <a:ext cx="10515600" cy="640080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394960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394960"/>
            <a:ext cx="5120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“어? 이상하네” · 혼잣말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39496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환자는 최악을 상상합니다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E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>
                <a:solidFill>
                  <a:srgbClr val="185C7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703320"/>
            <a:ext cx="1828800" cy="50292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환자가 꼭 묻는 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8920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9AD1DB"/>
                </a:solidFill>
                <a:latin typeface="Malgun Gothic"/>
                <a:ea typeface="Malgun Gothic"/>
                <a:cs typeface="Malgun Gothic"/>
              </a:rPr>
              <a:t>말문 막히지 않는 표준 답변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879092" cy="384048"/>
          </a:xfrm>
          <a:prstGeom prst="roundRect">
            <a:avLst>
              <a:gd name="adj" fmla="val 50000"/>
            </a:avLst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 질문 · 오해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“이거 뼈주사죠?”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95728"/>
            <a:ext cx="10515600" cy="91440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95728"/>
            <a:ext cx="68580" cy="91440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2395728"/>
            <a:ext cx="9829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“뼈에 놓는 주사가 아니라, 신경 옆 정확한 지점에 약을 넣는 겁니다. 엑스레이로 위치를 보면서 해요.”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11296"/>
            <a:ext cx="10515600" cy="91440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511296"/>
            <a:ext cx="68580" cy="91440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3511296"/>
            <a:ext cx="9829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“말씀하시는 ‘뼈주사’는 보통 스테로이드를 말씀하시는 건데, 오늘은 양을 최소로 쓰고 자주 반복하지 않습니다.”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26864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626864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626864"/>
            <a:ext cx="9326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“뼈주사 아니에요” 하고 끝내기 — 환자는 여전히 못 미더워합니다.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부정만 하지 말고 ‘그럼 뭔데요?’에 대한 답까지 한 문장으로 주세요.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879092" cy="384048"/>
          </a:xfrm>
          <a:prstGeom prst="roundRect">
            <a:avLst>
              <a:gd name="adj" fmla="val 50000"/>
            </a:avLst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 질문 · 오해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“스테로이드 많이 맞으면 안 좋다던데요”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95728"/>
            <a:ext cx="10515600" cy="73152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95728"/>
            <a:ext cx="68580" cy="73152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2395728"/>
            <a:ext cx="9829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“맞습니다. 그래서 저희도 횟수를 정해두고 씁니다. 무제한으로 놓는 약이 아니에요.”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28416"/>
            <a:ext cx="10515600" cy="73152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328416"/>
            <a:ext cx="68580" cy="73152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3328416"/>
            <a:ext cx="9829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“오늘 쓰는 양은 먹는 약으로 치면 아주 적은 양이고, 간격을 충분히 둘 겁니다.”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61104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261104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261104"/>
            <a:ext cx="9326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“그런 건 인터넷 얘기예요” — 환자의 걱정을 무시하면 신뢰가 깎입니다.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걱정을 먼저 인정하면(“맞습니다”) 그 다음 설명이 훨씬 잘 들어갑니다.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2050542" cy="384048"/>
          </a:xfrm>
          <a:prstGeom prst="roundRect">
            <a:avLst>
              <a:gd name="adj" fmla="val 50000"/>
            </a:avLst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 질문 · 기대치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“이거 맞으면 낫는 거죠?”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95728"/>
            <a:ext cx="10515600" cy="91440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95728"/>
            <a:ext cx="68580" cy="91440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2395728"/>
            <a:ext cx="9829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“이 주사는 통증을 줄여서 움직일 수 있게 해주는 역할이에요. 그 사이에 운동이랑 자세를 잡는 게 진짜 치료입니다.”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11296"/>
            <a:ext cx="10515600" cy="91440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511296"/>
            <a:ext cx="68580" cy="91440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3511296"/>
            <a:ext cx="9829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“효과는 사람마다 달라서, 오늘 맞아보고 다음에 오셨을 때 얼마나 편했는지 알려주시면 계획을 정하겠습니다.”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26864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626864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626864"/>
            <a:ext cx="9326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“한 방이면 끝나요” — 안 나으면 그대로 불신으로 돌아옵니다.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확답 대신 ‘함께 확인하자’는 프레임이 재방문을 만듭니다.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2050542" cy="384048"/>
          </a:xfrm>
          <a:prstGeom prst="roundRect">
            <a:avLst>
              <a:gd name="adj" fmla="val 50000"/>
            </a:avLst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 질문 · 기대치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“몇 번이나 맞아야 돼요?”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95728"/>
            <a:ext cx="10515600" cy="73152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95728"/>
            <a:ext cx="68580" cy="73152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2395728"/>
            <a:ext cx="9829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“보통 한 번 맞고 반응을 봅니다. 좋으면 굳이 더 안 맞아도 되고요.”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28416"/>
            <a:ext cx="10515600" cy="91440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328416"/>
            <a:ext cx="68580" cy="91440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3328416"/>
            <a:ext cx="9829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“계속 맞는 치료가 아니라, 필요할 때만 쓰는 겁니다. 오늘 맞고 2주쯤 뒤에 어떤지 보고 정하시죠.”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43984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443984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443984"/>
            <a:ext cx="9326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“3번은 맞으셔야 돼요” — 처음부터 횟수를 못 박으면 상술로 보입니다.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‘반응 보고 정한다’가 가장 정직하면서 신뢰도 높은 답입니다.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879092" cy="384048"/>
          </a:xfrm>
          <a:prstGeom prst="roundRect">
            <a:avLst>
              <a:gd name="adj" fmla="val 50000"/>
            </a:avLst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 질문 ·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“방사선 많이 쬐는 거 아니에요?”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95728"/>
            <a:ext cx="10515600" cy="73152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95728"/>
            <a:ext cx="68580" cy="73152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2395728"/>
            <a:ext cx="9829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“위치 확인할 때만 잠깐씩 쓰고, 다 합쳐도 몇십 초 정도예요.”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28416"/>
            <a:ext cx="10515600" cy="73152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328416"/>
            <a:ext cx="68580" cy="73152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3328416"/>
            <a:ext cx="9829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“필요한 만큼만 최소로 쓰고, 정확히 놓기 위해서 쓰는 거라 오히려 더 안전합니다.”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61104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261104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261104"/>
            <a:ext cx="9326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“그 정도는 괜찮아요” — 숫자 없이 넘어가면 안심이 안 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879092" cy="384048"/>
          </a:xfrm>
          <a:prstGeom prst="roundRect">
            <a:avLst>
              <a:gd name="adj" fmla="val 50000"/>
            </a:avLst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 질문 · 안전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“신경 건드리면 마비되는 거 아니에요?”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95728"/>
            <a:ext cx="10515600" cy="91440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95728"/>
            <a:ext cx="68580" cy="91440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2395728"/>
            <a:ext cx="9829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“바늘이 향하는 건 신경이 아니라 뼈 위의 정해진 지점이에요. 뼈에 닿으면 거기서 멈춥니다.”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11296"/>
            <a:ext cx="10515600" cy="91440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511296"/>
            <a:ext cx="68580" cy="914400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3511296"/>
            <a:ext cx="9829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“그리고 깨어 계시니까, 다리로 찌릿한 느낌이 오면 바로 말씀해 주시면 제가 위치를 조정합니다.”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26864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626864"/>
            <a:ext cx="457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4544A"/>
                </a:solidFill>
                <a:latin typeface="Malgun Gothic"/>
                <a:ea typeface="Malgun Gothic"/>
                <a:cs typeface="Malgun Gothic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626864"/>
            <a:ext cx="93268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위험을 길게 나열하기 — 동의서에 있는 내용을 다시 읊으면 불안만 커집니다.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‘환자가 말해주는 것이 안전장치’라고 하면 불안이 참여로 바뀝니다.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E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>
                <a:solidFill>
                  <a:srgbClr val="185C7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703320"/>
            <a:ext cx="1828800" cy="50292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시술별 한마디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8920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9AD1DB"/>
                </a:solidFill>
                <a:latin typeface="Malgun Gothic"/>
                <a:ea typeface="Malgun Gothic"/>
                <a:cs typeface="Malgun Gothic"/>
              </a:rPr>
              <a:t>그 시술에서 꼭 해야 하는 말만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507491" cy="384048"/>
          </a:xfrm>
          <a:prstGeom prst="roundRect">
            <a:avLst>
              <a:gd name="adj" fmla="val 50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척추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경추 내측지신경차단  ·  흉추·요추 내측지신경차단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50292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029200" cy="621792"/>
          </a:xfrm>
          <a:prstGeom prst="roundRect">
            <a:avLst>
              <a:gd name="adj" fmla="val 5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5029200" cy="301752"/>
          </a:xfrm>
          <a:prstGeom prst="rect">
            <a:avLst/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029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경추 내측지신경차단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06324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8E2B"/>
                </a:solidFill>
                <a:latin typeface="Malgun Gothic"/>
                <a:ea typeface="Malgun Gothic"/>
                <a:cs typeface="Malgun Gothic"/>
              </a:rPr>
              <a:t>꼭 할 말 — 반복 촬영은 안전 절차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52044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“편하게 누워서 하니 얘기하시면서 하셔도 돼요.”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38912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“여러 번 찍는 건 정확히 보려고 하는 겁니다.”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525780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“어지럽거나 식은땀 나면 바로 말씀하세요.”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86000"/>
            <a:ext cx="50292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2286000"/>
            <a:ext cx="5029200" cy="621792"/>
          </a:xfrm>
          <a:prstGeom prst="roundRect">
            <a:avLst>
              <a:gd name="adj" fmla="val 5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606040"/>
            <a:ext cx="5029200" cy="30175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286000"/>
            <a:ext cx="5029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흉추·요추 내측지신경차단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06324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8E2B"/>
                </a:solidFill>
                <a:latin typeface="Malgun Gothic"/>
                <a:ea typeface="Malgun Gothic"/>
                <a:cs typeface="Malgun Gothic"/>
              </a:rPr>
              <a:t>꼭 할 말 — 표적은 신경이 아니라 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52044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“엎드려서 하고, 배에 베개 받쳐드릴게요.”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438912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“다리로 뻗치는 시술이 아니라 누르는 느낌 위주예요.”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525780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“바늘은 뼈에 닿으면 거기서 멈춥니다.”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507491" cy="384048"/>
          </a:xfrm>
          <a:prstGeom prst="roundRect">
            <a:avLst>
              <a:gd name="adj" fmla="val 50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척추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신경근차단  ·  경막외 차단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50292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029200" cy="621792"/>
          </a:xfrm>
          <a:prstGeom prst="roundRect">
            <a:avLst>
              <a:gd name="adj" fmla="val 5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5029200" cy="301752"/>
          </a:xfrm>
          <a:prstGeom prst="rect">
            <a:avLst/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029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신경근차단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06324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8E2B"/>
                </a:solidFill>
                <a:latin typeface="Malgun Gothic"/>
                <a:ea typeface="Malgun Gothic"/>
                <a:cs typeface="Malgun Gothic"/>
              </a:rPr>
              <a:t>꼭 할 말 — 찌릿하면 ‘말로만’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52044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“다리로 찌릿한 느낌이 잠깐 올 수 있어요.”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38912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“위치가 잘 왔다는 신호니 걱정 안 하셔도 됩니다.”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525780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“그때 움직이지 마시고 말로만 알려주세요.”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86000"/>
            <a:ext cx="50292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2286000"/>
            <a:ext cx="5029200" cy="621792"/>
          </a:xfrm>
          <a:prstGeom prst="roundRect">
            <a:avLst>
              <a:gd name="adj" fmla="val 5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606040"/>
            <a:ext cx="5029200" cy="30175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286000"/>
            <a:ext cx="5029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경막외 차단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06324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8E2B"/>
                </a:solidFill>
                <a:latin typeface="Malgun Gothic"/>
                <a:ea typeface="Malgun Gothic"/>
                <a:cs typeface="Malgun Gothic"/>
              </a:rPr>
              <a:t>꼭 할 말 — 응급 신호는 미리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52044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“등을 고양이처럼 말아주시면 수월해요.”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438912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“밀리는 느낌은 정상, 찌릿하면 말씀하세요.”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525780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“힘 빠짐이 심해지거나 소변이 안 나오면 연락 주세요.”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507491" cy="384048"/>
          </a:xfrm>
          <a:prstGeom prst="roundRect">
            <a:avLst>
              <a:gd name="adj" fmla="val 50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무릎 관절강내  ·  어깨 (견봉하)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50292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5029200" cy="621792"/>
          </a:xfrm>
          <a:prstGeom prst="roundRect">
            <a:avLst>
              <a:gd name="adj" fmla="val 5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5029200" cy="301752"/>
          </a:xfrm>
          <a:prstGeom prst="rect">
            <a:avLst/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029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무릎 관절강내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306324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8E2B"/>
                </a:solidFill>
                <a:latin typeface="Malgun Gothic"/>
                <a:ea typeface="Malgun Gothic"/>
                <a:cs typeface="Malgun Gothic"/>
              </a:rPr>
              <a:t>꼭 할 말 — 몇 주짜리 다리라는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52044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“다리 힘 빼세요. 긴장하면 더 뻐근합니다.”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438912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“약 들어가며 차오르는 느낌은 정상이에요.”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525780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“이 주사가 버는 시간에 운동·체중을 같이 잡으셔야 해요.”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86000"/>
            <a:ext cx="502920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80000" dist="35000" dir="5400000" rotWithShape="0">
              <a:srgbClr val="1B2C3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2286000"/>
            <a:ext cx="5029200" cy="621792"/>
          </a:xfrm>
          <a:prstGeom prst="roundRect">
            <a:avLst>
              <a:gd name="adj" fmla="val 5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606040"/>
            <a:ext cx="5029200" cy="30175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286000"/>
            <a:ext cx="5029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어깨 (견봉하)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063240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8E2B"/>
                </a:solidFill>
                <a:latin typeface="Malgun Gothic"/>
                <a:ea typeface="Malgun Gothic"/>
                <a:cs typeface="Malgun Gothic"/>
              </a:rPr>
              <a:t>꼭 할 말 — 효과는 2~3일 뒤부터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52044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“뒤에서 놓아 바늘은 안 보이실 거예요. 힘 빼세요.”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438912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“어지럽거나 메스꺼우면 바로 말씀하세요.”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5257800"/>
            <a:ext cx="44988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“약효는 2~3일 뒤부터라 바로 안 좋아져도 정상이에요.”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507491" cy="384048"/>
          </a:xfrm>
          <a:prstGeom prst="roundRect">
            <a:avLst>
              <a:gd name="adj" fmla="val 50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팔꿈치 (외측상과염)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단기 효과는 좋지만 장기적으로는 재발이 많은 시술입니다. 이 사실을 미리 말해두면 나중에 신뢰를 지킵니다.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880360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880360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“이 부위는 원래 예민해서 좀 뻐근하실 거예요. 최대한 천천히 놓겠습니다.”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21608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721608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3721608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“이 주사는 지금 아픈 걸 줄여주는 거고, 근본은 스트레칭이랑 근력운동이에요.”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21608"/>
            <a:ext cx="10515600" cy="713232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D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562856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562856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562856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“주사만 반복하면 오히려 나중에 더 안 좋을 수 있어서, 오늘 맞고 운동을 시작하시는 게 중요합니다.”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404104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404104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5404104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“오늘 밤이나 내일 잠깐 더 아플 수 있는데 2~3일이면 가라앉습니다.”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04104"/>
            <a:ext cx="10515600" cy="713232"/>
          </a:xfrm>
          <a:prstGeom prst="roundRect">
            <a:avLst>
              <a:gd name="adj" fmla="val 7000"/>
            </a:avLst>
          </a:prstGeom>
          <a:noFill/>
          <a:ln w="15240">
            <a:solidFill>
              <a:srgbClr val="D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E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>
                <a:solidFill>
                  <a:srgbClr val="185C7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703320"/>
            <a:ext cx="1828800" cy="50292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058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곤란한 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8920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9AD1DB"/>
                </a:solidFill>
                <a:latin typeface="Malgun Gothic"/>
                <a:ea typeface="Malgun Gothic"/>
                <a:cs typeface="Malgun Gothic"/>
              </a:rPr>
              <a:t>당황하면 신뢰가 무너지는 다섯 장면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C4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곤란한 순간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환자가 어지럽다고 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주사 후 실신은 대부분 15분 안에 생깁니다. 앉힌 채로 버티게 하면 넘어집니다.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063240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“어지러우시군요. 괜찮습니다, 바로 눕혀드릴게요.”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59352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959352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959352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“다리를 이렇게 올릴게요. 금방 편해지실 거예요. 천천히 숨 쉬세요.”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55464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855464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855464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“이제 혈색 돌아왔어요. 바로 일어나지 마시고 몇 분 더 누워 계세요.”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당황한 티를 내지 않는 것이 핵심입니다. ‘가끔 있는 일’이라고 말해주면 환자도 진정합니다.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C4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곤란한 순간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바늘을 무서워합니다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바늘 공포는 아주 흔합니다. 다그치면 그날 시술도, 다음 방문도 사라집니다.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063240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“바늘 무서워하시는 분 정말 많아요. 부끄러워하실 것 하나도 없습니다.”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59352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959352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959352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“안 보셔도 돼요. 저쪽 보시면서 저랑 얘기해요.”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55464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855464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855464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“준비되면 말씀하세요. 준비되실 때까지 기다릴게요.”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‘기다려주겠다’는 말이 통제권을 돌려줍니다. 실제로는 몇 초 안 걸립니다.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C4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곤란한 순간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다음 날 더 아프다고 전화가 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주사 후 일시적 통증 악화는 흔한 반응입니다. 미리 말해뒀다면 컴플레인이 아니라 확인 전화가 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063240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“네, 그럴 수 있다고 말씀드렸던 반응이에요. 보통 2~3일이면 가라앉습니다.”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59352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959352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959352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“얼음찜질 하루 두세 번 해보시고, 무리한 사용만 피해주세요.”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55464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855464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855464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“다만 붓고 벌겋게 열이 나거나 통증이 계속 심해지면 바로 오세요.”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시술 직후에 미리 예고해두면 이 전화 자체가 크게 줄어듭니다. 09번 슬라이드 ③번을 꼭 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C4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곤란한 순간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효과가 없다고 다시 왔습니다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여기서 방어적으로 나가면 환자를 잃습니다. 정보로 받아들이면 다음 치료가 정확해집니다.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063240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“그러셨군요. 언제부터 다시 아프기 시작했는지 알려주시겠어요?”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59352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959352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959352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“잠깐이라도 편했던 시간이 있었다면 그것도 중요한 정보예요.”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55464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855464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855464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“그럼 위치를 다시 보고, 다른 방법도 같이 생각해보겠습니다.”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‘효과 없음’도 진단 정보입니다. 이렇게 다루면 실패가 신뢰로 바뀝니다.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C45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곤란한 순간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07008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보호자가 옆에서 불안해합니다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10515600" cy="658368"/>
          </a:xfrm>
          <a:prstGeom prst="roundRect">
            <a:avLst>
              <a:gd name="adj" fmla="val 10000"/>
            </a:avLst>
          </a:prstGeom>
          <a:solidFill>
            <a:srgbClr val="FA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8755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보호자의 불안은 환자에게 그대로 옮겨갑니다. 보호자를 먼저 안심시켜야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063240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“보호자분, 옆에서 손 잡아주시면 큰 도움이 됩니다.”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59352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959352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959352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“지금 하는 건 위치를 확인하는 과정이라 시간이 좀 걸립니다. 정상이에요.”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55464"/>
            <a:ext cx="10515600" cy="713232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855464"/>
            <a:ext cx="68580" cy="713232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855464"/>
            <a:ext cx="9829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5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“끝나면 어떻게 지내셔야 하는지 같이 설명드릴게요.”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236208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보호자에게 역할을 주면 불안이 협조로 바뀝니다.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13232"/>
            <a:ext cx="1193292" cy="384048"/>
          </a:xfrm>
          <a:prstGeom prst="roundRect">
            <a:avLst>
              <a:gd name="adj" fmla="val 50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장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25296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3200" b="1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오늘부터 이것만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찌르기 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286000"/>
            <a:ext cx="8412480" cy="658368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228600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“잠깐 따끔하고 몇 초면 지나가요. 셋 셀게요.”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바늘 진행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063240"/>
            <a:ext cx="8412480" cy="658368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306324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“누르는 느낌은 정상이에요. 날카로우면 말씀하세요.”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8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시술 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3840480"/>
            <a:ext cx="8412480" cy="658368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84048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“절반쯤 지났어요. 잘하고 계세요.”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1772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124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끝난 직후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617720"/>
            <a:ext cx="8412480" cy="658368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461772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“잘 참으셨어요. 어지럽거나 불편한 데 없으세요?”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9496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94960"/>
            <a:ext cx="19659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보내기 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394960"/>
            <a:ext cx="8412480" cy="658368"/>
          </a:xfrm>
          <a:prstGeom prst="roundRect">
            <a:avLst>
              <a:gd name="adj" fmla="val 10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5394960"/>
            <a:ext cx="7863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B2C38"/>
                </a:solidFill>
                <a:latin typeface="Malgun Gothic"/>
                <a:ea typeface="Malgun Gothic"/>
                <a:cs typeface="Malgun Gothic"/>
              </a:rPr>
              <a:t>“내일 잠깐 뻐근할 수 있어요. 이상하면 바로 전화 주세요.”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144768"/>
            <a:ext cx="10543032" cy="12801"/>
          </a:xfrm>
          <a:prstGeom prst="rect">
            <a:avLst/>
          </a:prstGeom>
          <a:solidFill>
            <a:srgbClr val="D5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6236208"/>
            <a:ext cx="98755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74868E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E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960120"/>
            <a:ext cx="1021842" cy="384048"/>
          </a:xfrm>
          <a:prstGeom prst="roundRect">
            <a:avLst>
              <a:gd name="adj" fmla="val 50000"/>
            </a:avLst>
          </a:prstGeom>
          <a:solidFill>
            <a:srgbClr val="1B87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기억할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아픈 걸 숨기지 말고,</a:t>
            </a:r>
          </a:p>
          <a:p>
            <a:pPr algn="l">
              <a:lnSpc>
                <a:spcPct val="108000"/>
              </a:lnSpc>
            </a:pPr>
            <a:r>
              <a:rPr sz="4200" b="1">
                <a:solidFill>
                  <a:srgbClr val="9AD1DB"/>
                </a:solidFill>
                <a:latin typeface="Malgun Gothic"/>
                <a:ea typeface="Malgun Gothic"/>
                <a:cs typeface="Malgun Gothic"/>
              </a:rPr>
              <a:t>끝을 알려주세요.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794760"/>
            <a:ext cx="1920240" cy="45720"/>
          </a:xfrm>
          <a:prstGeom prst="rect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환자는 아프지 않아서가 아니라, </a:t>
            </a:r>
            <a:r>
              <a:rPr sz="1900" b="1">
                <a:solidFill>
                  <a:srgbClr val="D98E2B"/>
                </a:solidFill>
                <a:latin typeface="Malgun Gothic"/>
                <a:ea typeface="Malgun Gothic"/>
                <a:cs typeface="Malgun Gothic"/>
              </a:rPr>
              <a:t>아플 때 곁에 있어줘서</a:t>
            </a:r>
            <a:r>
              <a:rPr sz="1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다시 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578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D1DB"/>
                </a:solidFill>
                <a:latin typeface="Malgun Gothic"/>
                <a:ea typeface="Malgun Gothic"/>
                <a:cs typeface="Malgun Gothic"/>
              </a:rPr>
              <a:t>근거: 시술 직전 위협적 표현은 통증을 높이고(Varelmann 2010), 경고성 멘트는 통증·불안을 함께 올립니다(Lang 2005).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D1DB"/>
                </a:solidFill>
                <a:latin typeface="Malgun Gothic"/>
                <a:ea typeface="Malgun Gothic"/>
                <a:cs typeface="Malgun Gothic"/>
              </a:rPr>
              <a:t>반면 ‘따끔’ 같은 중립적 예고 자체는 통증을 높이지 않았습니다(Vijayan 2015).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