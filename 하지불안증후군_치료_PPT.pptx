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16052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326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FD3E6"/>
                </a:solidFill>
                <a:latin typeface="NanumGothic"/>
                <a:ea typeface="NanumGothic"/>
              </a:rPr>
              <a:t>하지불안증후군 · Willis–Ekbom Disease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NanumGothic"/>
                <a:ea typeface="NanumGothic"/>
              </a:rPr>
              <a:t>철분 교정을 기반으로 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NanumGothic"/>
                <a:ea typeface="NanumGothic"/>
              </a:rPr>
              <a:t>근거 기반 치료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AFC6DF"/>
                </a:solidFill>
                <a:latin typeface="NanumGothic"/>
                <a:ea typeface="NanumGothic"/>
              </a:rPr>
              <a:t>Restless Legs Syndrome — Evidence-based Iron · Injection · Pharmacotherapy (AASM 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구성: 진단·감별 → 병태생리 → 치료(철분 · 주사 · 경구약제 · ESWT) → 알고리즘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NanumGothic"/>
                <a:ea typeface="NanumGothic"/>
              </a:rPr>
              <a:t>직접 근거와 인접 근거를 구분해 정리 · 근거 없는 항목은 '없음'으로 정직하게 명시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A6B7B"/>
                </a:solidFill>
                <a:latin typeface="NanumGothic"/>
                <a:ea typeface="NanumGothic"/>
              </a:rPr>
              <a:t>교육·연구 참고용 문헌고찰. 개별 환자의 진단·처방 결정은 담당 의사(신경과/수면의학 등)의 판단에 따릅니다.   |   작성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하지불안증후군(RLS)이란 무엇인가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배경 · 임상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3093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1A202C"/>
                </a:solidFill>
                <a:latin typeface="NanumGothic"/>
                <a:ea typeface="NanumGothic"/>
              </a:rPr>
              <a:t>정의: 다리를 '움직이고 싶은 충동'을 핵심으로 하는 감각-운동 신경질환. 대개 불쾌한 다리 이상감각을 동반한다.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특징: 통증보다 '불편·안절부절·벌레가 기어가는 느낌' 등 이상감각이 주. 만져지는 근경직은 없다.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유병률: 성인 약 5~10%(여성·고령에서 증가). 수면개시·유지 장애로 삶의 질을 크게 떨어뜨린다.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동반: 수면 중 주기성 사지운동(PLMS)이 흔히 동반된다.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→ 관리의 성패는 정확한 진단(IRLSSG 5기준)과 철분 상태 평가에서 시작된다.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63040"/>
            <a:ext cx="4160520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핵심 수치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4884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5–10%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624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NanumGothic"/>
                <a:ea typeface="NanumGothic"/>
              </a:rPr>
              <a:t>성인 유병률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06324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여성·고령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5387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NanumGothic"/>
                <a:ea typeface="NanumGothic"/>
              </a:rPr>
              <a:t>유병 위험 증가군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977639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5가지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453127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NanumGothic"/>
                <a:ea typeface="NanumGothic"/>
              </a:rPr>
              <a:t>IRLSSG 필수 진단기준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89204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저녁·밤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367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NanumGothic"/>
                <a:ea typeface="NanumGothic"/>
              </a:rPr>
              <a:t>증상 악화(일주기)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2014(Sleep Med, IRLSSG); AASM 2025(J Clin Sleep Med)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왜 감별이 먼저인가 — 세 갈래 병태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진단 · 감별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감별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4747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74519"/>
            <a:ext cx="3474720" cy="182880"/>
          </a:xfrm>
          <a:prstGeom prst="rect">
            <a:avLst/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NanumGothic"/>
                <a:ea typeface="NanumGothic"/>
              </a:rPr>
              <a:t>하지불안증후군(RLS)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40280"/>
            <a:ext cx="3063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'움직이고 싶은 충동'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안정 시 악화·움직이면 완화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통증보다 불쾌한 이상감각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저녁~밤 뚜렷한 일주기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4747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41732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874519"/>
            <a:ext cx="3474720" cy="18288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1732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NanumGothic"/>
                <a:ea typeface="NanumGothic"/>
              </a:rPr>
              <a:t>야간 하지경련(NLC)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40280"/>
            <a:ext cx="3063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수면 중 통증성 근수축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만져지는 근경직(+)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족배굴곡으로 완화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종아리·발이 대부분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17320"/>
            <a:ext cx="34747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41732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874519"/>
            <a:ext cx="3474720" cy="182880"/>
          </a:xfrm>
          <a:prstGeom prst="rect">
            <a:avLst/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41732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NanumGothic"/>
                <a:ea typeface="NanumGothic"/>
              </a:rPr>
              <a:t>이차성 · mimic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240280"/>
            <a:ext cx="30632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철결핍·말기신부전·임신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말초신경병증·정맥울혈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약물유발(항히스타민 등)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'다리 불편'으로 위장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10835640" cy="11430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07492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B03A2E"/>
                </a:solidFill>
                <a:latin typeface="NanumGothic"/>
                <a:ea typeface="NanumGothic"/>
              </a:rPr>
              <a:t>임상 단서: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RLS는 '움직이면 완화'가 결정적이며 근경직이 없다. IRLSSG 2014 기준은 진단 시 '다리경련(NLC) 등 mimic를 반드시 감별·배제'하도록 명문화한다.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B7B"/>
                </a:solidFill>
                <a:latin typeface="NanumGothic"/>
                <a:ea typeface="NanumGothic"/>
              </a:rPr>
              <a:t>도파민제(pramipexole)·pregabalin에 반응한다면 임상상이 RLS임을 강하게 시사한다.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2014(Sleep Med, IRLSSG); 02_RLS 문헌고찰 서론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RLS vs NLC 상세 감별표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진단 · 감별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감별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17320"/>
          <a:ext cx="10835640" cy="3858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4297680"/>
                <a:gridCol w="42519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항목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하지불안증후군(RLS)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야간 하지경련(NLC)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핵심 증상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움직이고 싶은 충동 + 이상감각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통증성 근수축, 만져지는 근경직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주 증상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불편·안절부절(통증 아님)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강한 통증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완화 방법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걷기·움직임(멈추면 재발)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스트레칭·족배굴곡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만져지는 근경직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없음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있음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일주기·가족력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저녁~밤 악화 / 가족력 흔함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야간·수면 초반 / 가족력 드묾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1차 치료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철분 교정 + α2δ 리간드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비약물·원인교정 · 개별 약물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2014(IRLSSG); AASM 2025(J Clin Sleep Med); 문헌고찰 감별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진단 — IRLSSG 2014 필수 5기준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진단 ·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진단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731520" cy="768096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7315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00200" y="1371600"/>
            <a:ext cx="9966960" cy="768096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1463040"/>
            <a:ext cx="3200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355E"/>
                </a:solidFill>
                <a:latin typeface="NanumGothic"/>
                <a:ea typeface="NanumGothic"/>
              </a:rPr>
              <a:t>움직이고 싶은 충동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44752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>
                <a:solidFill>
                  <a:srgbClr val="1A202C"/>
                </a:solidFill>
                <a:latin typeface="NanumGothic"/>
                <a:ea typeface="NanumGothic"/>
              </a:rPr>
              <a:t>다리를 움직이고 싶은 강한 충동, 대개 불쾌한 다리 감각을 동반한다.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67712"/>
            <a:ext cx="731520" cy="768096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67712"/>
            <a:ext cx="7315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2267712"/>
            <a:ext cx="9966960" cy="768096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2359152"/>
            <a:ext cx="3200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44774"/>
                </a:solidFill>
                <a:latin typeface="NanumGothic"/>
                <a:ea typeface="NanumGothic"/>
              </a:rPr>
              <a:t>안정·비활동 시 악화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340864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>
                <a:solidFill>
                  <a:srgbClr val="1A202C"/>
                </a:solidFill>
                <a:latin typeface="NanumGothic"/>
                <a:ea typeface="NanumGothic"/>
              </a:rPr>
              <a:t>앉거나 누워 쉴 때 증상이 시작되거나 악화된다.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163824"/>
            <a:ext cx="731520" cy="768096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63824"/>
            <a:ext cx="7315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3163824"/>
            <a:ext cx="9966960" cy="768096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3255264"/>
            <a:ext cx="3200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C898A"/>
                </a:solidFill>
                <a:latin typeface="NanumGothic"/>
                <a:ea typeface="NanumGothic"/>
              </a:rPr>
              <a:t>움직이면 완화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236976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>
                <a:solidFill>
                  <a:srgbClr val="1A202C"/>
                </a:solidFill>
                <a:latin typeface="NanumGothic"/>
                <a:ea typeface="NanumGothic"/>
              </a:rPr>
              <a:t>걷기·스트레칭 등 움직임으로 부분적·일시적으로 완화된다(움직이는 동안 지속).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59935"/>
            <a:ext cx="731520" cy="768096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59935"/>
            <a:ext cx="7315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00200" y="4059935"/>
            <a:ext cx="9966960" cy="768096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74519" y="4151375"/>
            <a:ext cx="3200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저녁·밤 악화(일주기)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133087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>
                <a:solidFill>
                  <a:srgbClr val="1A202C"/>
                </a:solidFill>
                <a:latin typeface="NanumGothic"/>
                <a:ea typeface="NanumGothic"/>
              </a:rPr>
              <a:t>저녁·밤에 뚜렷하게 악화되는 circadian 패턴을 보인다.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56048"/>
            <a:ext cx="731520" cy="768096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56048"/>
            <a:ext cx="73152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00200" y="4956048"/>
            <a:ext cx="9966960" cy="768096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5047488"/>
            <a:ext cx="3200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NanumGothic"/>
                <a:ea typeface="NanumGothic"/>
              </a:rPr>
              <a:t>mimic 배제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5029200"/>
            <a:ext cx="6492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>
                <a:solidFill>
                  <a:srgbClr val="1A202C"/>
                </a:solidFill>
                <a:latin typeface="NanumGothic"/>
                <a:ea typeface="NanumGothic"/>
              </a:rPr>
              <a:t>다리경련·자세성 불편·근육통·정맥울혈 등 다른 질환으로 더 잘 설명되지 않는다.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6E70"/>
                </a:solidFill>
                <a:latin typeface="NanumGothic"/>
                <a:ea typeface="NanumGothic"/>
              </a:rPr>
              <a:t>요점: 5가지를 모두 충족해야 진단. 통증보다 이상감각이 주이며 촉지되는 근경직은 없다.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RP, et al. IRLSSG consensus criteria. Sleep Med. 2014;15(8):860-73.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진단 확정 후 — 철분 평가와 악화요인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진단 · workup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철분 평가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혈청 철분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463040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572768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ferritin · TSAT(트랜스페린포화도) 측정 — 모든 RLS 치료의 출발점이자 기반.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42032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42032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철분 판정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542032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651760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ferritin ≤75 → 경구 철분 고려 / ferritin ≤100(또는 경구 부적절) → 정맥 철분.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21024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21024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악화요인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621024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3730752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철결핍·임신·말기신부전 및 악화 약물(항히스타민·항우울제·도파민 차단제) 확인·조정.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00016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00016"/>
            <a:ext cx="2103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동반평가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4700016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4809744"/>
            <a:ext cx="8138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수면장애·PLMS·복용약 평가로 이차성 RLS를 감별한다.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06440"/>
            <a:ext cx="10835640" cy="54864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806440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NanumGothic"/>
                <a:ea typeface="NanumGothic"/>
              </a:rPr>
              <a:t>요점: 진단은 IRLSSG 5기준(임상)으로 내리고, 검사(ferritin/TSAT)는 치료 방향(철분 보충)을 정하기 위한 것.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2018(IRLSSG iron task force); AASM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병태생리 ① 뇌 철분 결핍 —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병태생리 · 기전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핵심 기전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혈청 철분이 정상이어도 흑질·기저핵 등 뇌 국소 철분이 부족하여 도파민 신호 이상을 초래한다.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이것이 '철분 보충'이라는 치료의 생물학적 근거 — RLS는 전신 빈혈이 아니라 뇌 국소 철분 문제일 수 있다.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철결핍이 동반되면 증상이 악화되고, 철분 교정으로 호전되는 경우가 많다.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뇌 철분 결핍은 이어서 도파민·아데노신 신호 이상으로 연결된다(다음 장).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→ 그래서 치료의 기반은 언제나 ferritin/TSAT 평가와 철분 교정이다.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왜 철분인가 (기전)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286000"/>
            <a:ext cx="36118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혈청 ferritin이 정상이어도 뇌 국소(흑질) 철분은 부족할 수 있다.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철분은 도파민 합성 효소(tyrosine hydroxylase)의 보조인자다.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뇌 철분 부족 → 도파민 신호 이상 → 야간 감각-운동 증상.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9FE0D8"/>
                </a:solidFill>
                <a:latin typeface="NanumGothic"/>
                <a:ea typeface="NanumGothic"/>
              </a:rPr>
              <a:t>→ 철분 교정이 이 상류(上流) 병태를 직접 겨냥한다.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IRLSSG; Allen 2018(Sleep Med); 문헌고찰 Part 1-1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병태생리 ② 도파민 · 아데노신 가설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병태생리 · 기전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835640" cy="16002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3619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355E"/>
                </a:solidFill>
                <a:latin typeface="NanumGothic"/>
                <a:ea typeface="NanumGothic"/>
              </a:rPr>
              <a:t>뇌 철분 결핍이 하류(下流)의 신경전달 이상으로 이어진다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011680"/>
            <a:ext cx="2103120" cy="786384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21031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뇌 국소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철분 결핍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011680"/>
            <a:ext cx="365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C898A"/>
                </a:solidFill>
                <a:latin typeface="NanumGothic"/>
                <a:ea typeface="NanumGothic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011680"/>
            <a:ext cx="2103120" cy="786384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011680"/>
            <a:ext cx="21031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도파민 신호 이상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아데노신 신호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011680"/>
            <a:ext cx="365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C898A"/>
                </a:solidFill>
                <a:latin typeface="NanumGothic"/>
                <a:ea typeface="NanumGothic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011680"/>
            <a:ext cx="2103120" cy="786384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2011680"/>
            <a:ext cx="21031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글루타메이트·도파민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과흥분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011680"/>
            <a:ext cx="365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C898A"/>
                </a:solidFill>
                <a:latin typeface="NanumGothic"/>
                <a:ea typeface="NanumGothic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2011680"/>
            <a:ext cx="2103120" cy="786384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011680"/>
            <a:ext cx="21031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야간 감각-운동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증상 · PLMS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0040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3832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도파민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84048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야간 도파민 기능 저하 가설.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도파민제는 단기 효과가 뚜렷하다.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B03A2E"/>
                </a:solidFill>
                <a:latin typeface="NanumGothic"/>
                <a:ea typeface="NanumGothic"/>
              </a:rPr>
              <a:t>그러나 장기 사용 시 augmentation(증상 악화·전이)을 유발 → 후순위.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0040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3832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아데노신 저하 가설(최근)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84048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뇌 철분 결핍이 아데노신 신호를 낮춘다.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→ 글루타메이트·도파민 과흥분을 유발한다는 가설.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2E7D32"/>
                </a:solidFill>
                <a:latin typeface="NanumGothic"/>
                <a:ea typeface="NanumGothic"/>
              </a:rPr>
              <a:t>dipyridamole 등 새로운 표적 치료의 이론적 근거.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IRLSSG; Garcia-Borreguero 2021(아데노신 가설); 문헌고찰 Part 1-2·1-3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병태생리 ③ 유전 · 이차 요인 · 악화 약물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병태생리 · 위험요인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012119" y="365760"/>
            <a:ext cx="67665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12119" y="365760"/>
            <a:ext cx="67665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위험요인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가족력이 흔하다(상염색체 우성 경향) — 조기 발병일수록 유전 기여가 크다.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이차성 RLS는 원인 교정으로 호전될 수 있어 반드시 선별한다.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246120"/>
          <a:ext cx="6035040" cy="2724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480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범주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대표 요인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철 대사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철결핍(기반 병태) — ferritin/TSAT 확인·교정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생리·전신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임신, 말기신부전(투석), 갑상선 이상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악화 약물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항히스타민, 항우울제(SSRI/SNRI 등), 도파민 차단제(항구토·항정신병)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생활요인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카페인·알코올·수면부족 — 악화 유발 가능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040880" y="1417320"/>
            <a:ext cx="4526280" cy="457200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69164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실무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397763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FFFFFF"/>
                </a:solidFill>
                <a:latin typeface="NanumGothic"/>
                <a:ea typeface="NanumGothic"/>
              </a:rPr>
              <a:t>이차 요인·악화 약물을 먼저 교정하면 약물 없이도 호전될 수 있다.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항우울제가 꼭 필요하면 RLS 악화가 적은 약제(예: bupropion 계열)를 고려.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임신·신부전 동반 RLS는 안전한 치료(철분 등)를 우선.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9FE0D8"/>
                </a:solidFill>
                <a:latin typeface="NanumGothic"/>
                <a:ea typeface="NanumGothic"/>
              </a:rPr>
              <a:t>→ '원인 교정'이 약물치료보다 앞선다.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IRLSSG; 문헌고찰 Part 1-4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치료 근거 한눈에 — 무엇이 되고 무엇이 안 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총괄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요약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83564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657600"/>
                <a:gridCol w="2011680"/>
                <a:gridCol w="19659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치료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RLS 직접 근거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근거·권고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위치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철분 교정(경구/정맥)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Earley 2024 RCT · IRLSSG 2018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강한 권고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기반 · 필수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α2δ 리간드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Allen 2014 등 RCT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강한 권고(1차)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1차 약물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IV 철분(FCM)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Earley 2024 RCT · 메타분석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강한 권고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철결핍 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dipyridamole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Garcia-Borreguero 2021 교차RCT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조건부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신규 · 아데노신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비골신경 자극(TOMAC)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Charlesworth 2023 sham 대조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조건부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비약물 대안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도파민 작용제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Winkelman 2006 RCT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장기 권고 안 함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augmentation로 후순위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보툴리눔독소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Mittal 2018 교차RCT(소규모)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근거 약함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연구 단계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체외충격파(ESWT)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없음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RLS 근거 없음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AASM 2025 지침 종합 · 02_RLS 문헌고찰 근거표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치료 3축 개관 — 기반 · 1차 · 보조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총괄 · 지형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개관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74519"/>
            <a:ext cx="3474720" cy="18288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NanumGothic"/>
                <a:ea typeface="NanumGothic"/>
              </a:rPr>
              <a:t>기반 · 철분 교정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40280"/>
            <a:ext cx="30632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뇌 철분 결핍을 직접 교정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경구(ferritin≤75)/정맥(≤100)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Earley 2024 RCT · IRLSSG 2018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AASM 2025 강한 권고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41732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874519"/>
            <a:ext cx="3474720" cy="182880"/>
          </a:xfrm>
          <a:prstGeom prst="rect">
            <a:avLst/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1732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NanumGothic"/>
                <a:ea typeface="NanumGothic"/>
              </a:rPr>
              <a:t>1차 · 경구약제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40280"/>
            <a:ext cx="30632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α2δ 리간드 = 1차(강한 권고)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도파민제는 augmentation로 후순위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dipyridamole 조건부(신규)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오피오이드는 난치성에 조건부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17320"/>
            <a:ext cx="34747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41732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874519"/>
            <a:ext cx="3474720" cy="182880"/>
          </a:xfrm>
          <a:prstGeom prst="rect">
            <a:avLst/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417320"/>
            <a:ext cx="3474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NanumGothic"/>
                <a:ea typeface="NanumGothic"/>
              </a:rPr>
              <a:t>보조 · 주사/비약물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240280"/>
            <a:ext cx="30632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IV 철분 = 주사 중 근거 최강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보툴리눔 연구단계 · 정맥경화 표현형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비골신경 자극(TOMAC) 조건부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ESWT는 RLS 근거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0835640" cy="86868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212080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NanumGothic"/>
                <a:ea typeface="NanumGothic"/>
              </a:rPr>
              <a:t>2024/2025 AASM 지침의 핵심 변화: 1차 약물을 도파민제에서 α2δ 리간드로 전환 — augmentation 위험 때문.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Winkelman 2025(AASM); 문헌고찰 치료 3축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기반 치료: 철분 교정 — 경구와 정맥의 분기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기반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효과 있음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34924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5349240" cy="566928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5349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NanumGothic"/>
                <a:ea typeface="NanumGothic"/>
              </a:rPr>
              <a:t>경구 철분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240280"/>
            <a:ext cx="48006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•  적응: ferritin ≤75(흡수 여지가 있을 때)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•  ferrous sulfate + 비타민 C(흡수↑)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•  격일 투여가 흡수·내약성에 유리할 수 있음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•  한계: ferritin ≥75에서는 흡수가 미미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•  부작용: 위장장애·변비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34924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49240" cy="566928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5349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NanumGothic"/>
                <a:ea typeface="NanumGothic"/>
              </a:rPr>
              <a:t>정맥 철분 (FCM)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40280"/>
            <a:ext cx="48006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•  적응: ferritin ≤100 또는 경구 부적절/불내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•  FCM 1000 mg 단회(또는 750 mg×2)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•  1시간 이내 점적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•  중등도~중증에 FCM 1000 mg은 Level 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•  안전: 일과성 저인산혈증 모니터링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23560"/>
            <a:ext cx="10835640" cy="6858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623560"/>
            <a:ext cx="10424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원칙: </a:t>
            </a:r>
            <a:r>
              <a:rPr sz="1300" b="0" i="0">
                <a:solidFill>
                  <a:srgbClr val="1A202C"/>
                </a:solidFill>
                <a:latin typeface="NanumGothic"/>
                <a:ea typeface="NanumGothic"/>
              </a:rPr>
              <a:t>철분 교정은 약물치료의 대안이 아니라 '기반'이다. 경구로 목표에 못 미치거나 흡수가 부족하면 정맥으로 전환한다.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2018(IRLSSG iron); Earley 2024(Sleep); AASM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주사 ① 정맥 철분(IV FCM) — 근거 최강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주사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효과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309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뇌 철분 결핍이라는 핵심 병태를 직접 교정하는, RLS 주사 치료 중 근거가 가장 확실하다.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Earley 2024(Sleep) 다기관 RCT: IRLS ≥15인 209명, FCM 750 mg(0일·5일 2회) vs 위약.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1" i="0">
                <a:solidFill>
                  <a:srgbClr val="2E7D32"/>
                </a:solidFill>
                <a:latin typeface="NanumGothic"/>
                <a:ea typeface="NanumGothic"/>
              </a:rPr>
              <a:t>42일째 IRLS·CGI가 위약 대비 유의하게 개선.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메타분석 2024(537명)도 효과·안전성을 확인.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경구 철분은 ferritin ≥75에서 흡수가 미미 → 정맥 투여가 유리한 경우가 많다.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→ 철결핍(또는 경구 부적절) 동반 RLS에서 AASM 2025 강한 권고.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17320"/>
            <a:ext cx="4160520" cy="452628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Earley 2024 (RCT 핵심)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94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8D6"/>
                </a:solidFill>
                <a:latin typeface="NanumGothic"/>
                <a:ea typeface="NanumGothic"/>
              </a:rPr>
              <a:t>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4505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NanumGothic"/>
                <a:ea typeface="NanumGothic"/>
              </a:rPr>
              <a:t>다기관 RCT · n=209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108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8D6"/>
                </a:solidFill>
                <a:latin typeface="NanumGothic"/>
                <a:ea typeface="NanumGothic"/>
              </a:rPr>
              <a:t>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3649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NanumGothic"/>
                <a:ea typeface="NanumGothic"/>
              </a:rPr>
              <a:t>FCM 750 mg (0·5일)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0233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8D6"/>
                </a:solidFill>
                <a:latin typeface="NanumGothic"/>
                <a:ea typeface="NanumGothic"/>
              </a:rPr>
              <a:t>결과(42일)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2793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NanumGothic"/>
                <a:ea typeface="NanumGothic"/>
              </a:rPr>
              <a:t>IRLS·CGI 유의 개선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4937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8D6"/>
                </a:solidFill>
                <a:latin typeface="NanumGothic"/>
                <a:ea typeface="NanumGothic"/>
              </a:rPr>
              <a:t>메타분석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1937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NanumGothic"/>
                <a:ea typeface="NanumGothic"/>
              </a:rPr>
              <a:t>537명 효과·안전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Earley CJ, et al. Sleep. 2024;47(7):zsae095. PMID 38625730; 메타분석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정맥 철분 — 용량 · 적응 · 안전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주사 · 기법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6858000" cy="3529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45720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항목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권고 요지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대표 약제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Ferric carboxymaltose (FCM)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용량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FCM 1000 mg 단회 (또는 750 mg×2)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투여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정맥 점적 · 1시간 이내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적응(IRLSSG 2018)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정맥: ferritin ≤100 또는 경구 부적절 / 경구: ferritin ≤75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근거수준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중등도~중증 FCM 1000 mg = Level 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권고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AASM 2025 강한 권고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63840" y="1417320"/>
            <a:ext cx="3657600" cy="457200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645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03A2E"/>
                </a:solidFill>
                <a:latin typeface="NanumGothic"/>
                <a:ea typeface="NanumGothic"/>
              </a:rPr>
              <a:t>안전 · 주의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103120"/>
            <a:ext cx="3246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3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00" b="0" i="0">
                <a:solidFill>
                  <a:srgbClr val="B03A2E"/>
                </a:solidFill>
                <a:latin typeface="NanumGothic"/>
                <a:ea typeface="NanumGothic"/>
              </a:rPr>
              <a:t>일과성 저인산혈증 — 반복·고용량 시 모니터링.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3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드물게 주입반응·과민반응 — 투여 중 관찰.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3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활동성 감염 시 정맥 철분은 신중.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83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00" b="0" i="0">
                <a:solidFill>
                  <a:srgbClr val="2E7D32"/>
                </a:solidFill>
                <a:latin typeface="NanumGothic"/>
                <a:ea typeface="NanumGothic"/>
              </a:rPr>
              <a:t>경구 실패·불내·흡수부족에서 특히 유용.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200" b="1" i="0">
                <a:solidFill>
                  <a:srgbClr val="1F6E70"/>
                </a:solidFill>
                <a:latin typeface="NanumGothic"/>
                <a:ea typeface="NanumGothic"/>
              </a:rPr>
              <a:t>→ 철분 상태(ferritin/TSAT) 재평가로 반복 여부 결정.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2018(IRLSSG iron task force, Sleep Med); Earley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주사 ② 보툴리눔독소(BoNT-A) — 근거 약함·혼재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주사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연구 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Mittal 2018(Toxins) 이중맹검 교차(n=24): incobotulinumtoxinA 100단위를 전경골근·비복근·대퇴이두근에 주사.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0" i="0">
                <a:solidFill>
                  <a:srgbClr val="2E7D32"/>
                </a:solidFill>
                <a:latin typeface="NanumGothic"/>
                <a:ea typeface="NanumGothic"/>
              </a:rPr>
              <a:t>4·6주에 IRLS 점수·통증(VAS)이 유의하게 개선.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SR/MA(Healthcare 2021): RCT 2편·27명, IRLS SMD −0.819.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표본이 매우 작아 확정 불가 → 대규모 RCT 필요.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위치: 표준치료가 아니다. 특정 표현형·연구단계 옵션으로 본다.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요점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4884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표적: 전경골근·비복근·대퇴이두근.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용량: incoA 100U(Mittal 프로토콜).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근거: RCT 2편·소표본(Level 낮음).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5A6B7B"/>
                </a:solidFill>
                <a:latin typeface="NanumGothic"/>
                <a:ea typeface="NanumGothic"/>
              </a:rPr>
              <a:t>기전은 국소적이며 RLS 중추 병태를 겨냥하지 않음.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250" b="1" i="0">
                <a:solidFill>
                  <a:srgbClr val="1F6E70"/>
                </a:solidFill>
                <a:latin typeface="NanumGothic"/>
                <a:ea typeface="NanumGothic"/>
              </a:rPr>
              <a:t>→ 근거 확립 전까지 표준치료 아님.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Mittal 2018(Toxins 10(10):401); SR/MA Healthcare 2021;9(11):1538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주사 ③ 정맥 경화요법 — 정맥질환 동반 표현형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주사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01807" y="365760"/>
            <a:ext cx="886968" cy="347472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1807" y="365760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표현형 한정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정맥류·만성정맥부전(CVI)이 동반된 RLS 표현형을 표적으로 하는 접근.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Pyne 2023(JVIR)·Sundaresan 2019(Cureus): 하지정맥 치료 후 IRLS 점수 개선.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1" i="0">
                <a:solidFill>
                  <a:srgbClr val="2E7D32"/>
                </a:solidFill>
                <a:latin typeface="NanumGothic"/>
                <a:ea typeface="NanumGothic"/>
              </a:rPr>
              <a:t>IRLS 19.83 → 7.89 (약 63% 호전).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기전: 정맥울혈·측부 자극이라는 말초 유발요인을 제거한다는 해석.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위치: 정맥질환이 확인된 특정 표현형에서 의미. 특발성 RLS 전반의 표준은 아니다.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핵심 수치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31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8D6"/>
                </a:solidFill>
                <a:latin typeface="NanumGothic"/>
                <a:ea typeface="NanumGothic"/>
              </a:rPr>
              <a:t>IRLS 점수 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6517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19.83 → 7.89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3375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약 63% 호전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069080"/>
            <a:ext cx="3657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적응: 정맥류·CVI가 확인된 RLS.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표적: 하지 표재정맥 치료(경화·소작).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→ 원인(정맥질환) 표적치료로서 의미.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Pyne 2023(JVIR 34(4):534-42); Sundaresan 2019(Cureus 11(4):e4368)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경구약제 개관 — 1차 패러다임의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경구약제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약제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3093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2024/2025 AASM 지침의 핵심: 1차 약물을 도파민제에서 α2δ 리간드로 전환.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이유: 도파민제의 장기 augmentation(연 7~10%) 위험이 α2δ 리간드보다 크다.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철분 교정을 기반으로 하고, 그 위에 경구약제를 얹는다.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고령·신기능 저하: 낙상·진정·부종을 고려해 저용량에서 서서히 적정.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463040"/>
            <a:ext cx="4160520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약물군 · 권고 요지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2240280"/>
            <a:ext cx="146304" cy="40233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219456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55E"/>
                </a:solidFill>
                <a:latin typeface="NanumGothic"/>
                <a:ea typeface="NanumGothic"/>
              </a:rPr>
              <a:t>α2δ 리간드  </a:t>
            </a:r>
            <a:r>
              <a:rPr sz="1150" b="0" i="0">
                <a:solidFill>
                  <a:srgbClr val="5A6B7B"/>
                </a:solidFill>
                <a:latin typeface="NanumGothic"/>
                <a:ea typeface="NanumGothic"/>
              </a:rPr>
              <a:t>1차 · 강한 권고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953511"/>
            <a:ext cx="146304" cy="40233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2907791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55E"/>
                </a:solidFill>
                <a:latin typeface="NanumGothic"/>
                <a:ea typeface="NanumGothic"/>
              </a:rPr>
              <a:t>철분(경구)  </a:t>
            </a:r>
            <a:r>
              <a:rPr sz="1150" b="0" i="0">
                <a:solidFill>
                  <a:srgbClr val="5A6B7B"/>
                </a:solidFill>
                <a:latin typeface="NanumGothic"/>
                <a:ea typeface="NanumGothic"/>
              </a:rPr>
              <a:t>기반 · 필수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3666744"/>
            <a:ext cx="146304" cy="402336"/>
          </a:xfrm>
          <a:prstGeom prst="rect">
            <a:avLst/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7" y="3621024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55E"/>
                </a:solidFill>
                <a:latin typeface="NanumGothic"/>
                <a:ea typeface="NanumGothic"/>
              </a:rPr>
              <a:t>dipyridamole  </a:t>
            </a:r>
            <a:r>
              <a:rPr sz="1150" b="0" i="0">
                <a:solidFill>
                  <a:srgbClr val="5A6B7B"/>
                </a:solidFill>
                <a:latin typeface="NanumGothic"/>
                <a:ea typeface="NanumGothic"/>
              </a:rPr>
              <a:t>조건부 · 신규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4379976"/>
            <a:ext cx="146304" cy="402336"/>
          </a:xfrm>
          <a:prstGeom prst="rect">
            <a:avLst/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7" y="4334256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55E"/>
                </a:solidFill>
                <a:latin typeface="NanumGothic"/>
                <a:ea typeface="NanumGothic"/>
              </a:rPr>
              <a:t>오피오이드(서방형)  </a:t>
            </a:r>
            <a:r>
              <a:rPr sz="1150" b="0" i="0">
                <a:solidFill>
                  <a:srgbClr val="5A6B7B"/>
                </a:solidFill>
                <a:latin typeface="NanumGothic"/>
                <a:ea typeface="NanumGothic"/>
              </a:rPr>
              <a:t>난치성 · 조건부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5093208"/>
            <a:ext cx="146304" cy="402336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7" y="5047488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355E"/>
                </a:solidFill>
                <a:latin typeface="NanumGothic"/>
                <a:ea typeface="NanumGothic"/>
              </a:rPr>
              <a:t>도파민 작용제  </a:t>
            </a:r>
            <a:r>
              <a:rPr sz="1150" b="0" i="0">
                <a:solidFill>
                  <a:srgbClr val="5A6B7B"/>
                </a:solidFill>
                <a:latin typeface="NanumGothic"/>
                <a:ea typeface="NanumGothic"/>
              </a:rPr>
              <a:t>장기 권고 안 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Winkelman 2025(AASM, J Clin Sleep Med); 문헌고찰 Part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경구약제 ① α2δ 리간드 — 1차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경구약제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1차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gabapentin enacarbil · gabapentin · pregabalin. AASM 2025 1차 강한 권고.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Allen 2014(NEJM) 52주 RCT: pregabalin 300 mg이 효과적이며,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1" i="0">
                <a:solidFill>
                  <a:srgbClr val="2E7D32"/>
                </a:solidFill>
                <a:latin typeface="NanumGothic"/>
                <a:ea typeface="NanumGothic"/>
              </a:rPr>
              <a:t>augmentation 1.7% vs pramipexole 0.5 mg 9.0%로 유의하게 낮음.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Gabapentin enacarbil: Winkelman 2011(PSG) 각성·PLM 감소, Bogan 2010 장기 유지.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부작용: 어지럼·졸림·부종·체중증가. 고령·신기능 저하 시 감량.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왜 1차인가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286000"/>
            <a:ext cx="36118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도파민제보다 augmentation이 유의하게 적다(1.7% vs 9.0%).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수면과 감각증상을 함께 개선한다.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철분 교정과 병행하는 것이 기반이다.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9FE0D8"/>
                </a:solidFill>
                <a:latin typeface="NanumGothic"/>
                <a:ea typeface="NanumGothic"/>
              </a:rPr>
              <a:t>→ 장기 관리에 유리한 프로파일.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2014(NEJM 370(7):621-31); Winkelman 2011(Mov Disord); AASM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α2δ 리간드 — 약물 · 특징 · 주의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경구약제 · 기법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기법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83564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79095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약물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특징 · 근거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Gabapentin enacarbil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전구약물로 흡수 안정적. PSG상 각성·PLM 감소(Winkelman 2011), 장기 유지(Bogan 2010)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Pregabalin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Allen 2014 NEJM 52주: 300 mg 효과적, augmentation 1.7%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Gabapentin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저비용·범용. 흡수 변동 있어 분할·적정 필요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공통 부작용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어지럼 · 졸림 · 말초부종 · 체중증가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고령·신기능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용량 감량 · 저용량에서 서서히 적정 · 낙상 주의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6E70"/>
                </a:solidFill>
                <a:latin typeface="NanumGothic"/>
                <a:ea typeface="NanumGothic"/>
              </a:rPr>
              <a:t>소결: α2δ 리간드는 augmentation 위험이 낮고 수면·감각증상을 함께 개선 → 철분 교정 위의 1차 약물.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Allen 2014(NEJM); Winkelman 2011(Mov Disord); Bogan 2010(Mayo Clin Proc)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경구약제 ② 도파민 작용제 — augmentation 위험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경구약제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17275" y="365760"/>
            <a:ext cx="571500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7275" y="365760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후순위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pramipexole · ropinirole · rotigotine. 단기 효능은 확립되어 있다.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Winkelman 2006(Neurology): pramipexole 12주 IRLS·CGI 개선.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B03A2E"/>
                </a:solidFill>
                <a:latin typeface="NanumGothic"/>
                <a:ea typeface="NanumGothic"/>
              </a:rPr>
              <a:t>그러나 수개월~수년 후 augmentation(증상 악화·전이, 연 7~10%)이 문제.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B03A2E"/>
                </a:solidFill>
                <a:latin typeface="NanumGothic"/>
                <a:ea typeface="NanumGothic"/>
              </a:rPr>
              <a:t>AASM 2025는 도파민제의 장기 표준 사용을 '권고하지 않음(against)'.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복용 중이면 정기 점검 · 철분 재평가 · α2δ 리간드로 단계적 전환을 고려.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8288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NanumGothic"/>
                <a:ea typeface="NanumGothic"/>
              </a:rPr>
              <a:t>⚠ Augmentation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468880"/>
            <a:ext cx="3566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증상이 더 이르게·더 넓은 부위로 악화.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도파민제 용량을 올릴수록 악화되는 악순환.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연 7~10%에서 발생.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→ 장기 1차로 권고되지 않음.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Winkelman 2006(Neurology 67(6):1034-9); Allen 2014(NEJM); AASM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경구약제 ③ Dipyridamole — 신규·아데노신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경구약제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17275" y="365760"/>
            <a:ext cx="571500" cy="347472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7275" y="365760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조건부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아데노신 저하 가설에 기반한 새로운 표적 — 아데노신 재흡수를 억제한다.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Garcia-Borreguero 2021(Mov Disord) 교차 RCT.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1" i="0">
                <a:solidFill>
                  <a:srgbClr val="2E7D32"/>
                </a:solidFill>
                <a:latin typeface="NanumGothic"/>
                <a:ea typeface="NanumGothic"/>
              </a:rPr>
              <a:t>IRLS 24.1 → 11.1 (위약군 18.7)로 유의한 개선.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도파민 경로가 아니므로 augmentation 우려가 상대적으로 적다는 이론적 장점.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위치: 조건부(신규). 표본·추적이 제한적이라 추가 근거가 필요.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Garcia-Borreguero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31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8D6"/>
                </a:solidFill>
                <a:latin typeface="NanumGothic"/>
                <a:ea typeface="NanumGothic"/>
              </a:rPr>
              <a:t>IRLS (약물군)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65176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24.1 → 11.1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383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위약군 18.7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114800"/>
            <a:ext cx="3657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설계: 위약대조 교차 RCT.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기전: 아데노신 신호 회복 가설.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→ 도파민 비의존 표적의 첫 근거.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Garcia-Borreguero D, et al. Mov Disord. 2021;36(10):2387-92. PMID 34137476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경구약제 ④ 오피오이드 — 난치성·조건부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경구약제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17275" y="365760"/>
            <a:ext cx="571500" cy="347472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7275" y="365760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난치성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저용량 서방형 oxycodone 등 μ-오피오이드는 난치성 RLS 및 도파민제 augmentation 상황에서 조건부로 사용된다.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부프레노르핀은 상대적으로 위험이 낮은 선택지로 거론된다. 다만 진정·호흡 억제 위험으로 신중한 적응·감시가 필요하다.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3429000" cy="502920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429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NanumGothic"/>
                <a:ea typeface="NanumGothic"/>
              </a:rPr>
              <a:t>적응 (조건부)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370832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α2δ 리간드·철분 교정에 불응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도파민제 augmentation 발생·전환기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중증·삶의 질 저하가 뚜렷한 경우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703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3703320"/>
            <a:ext cx="3429000" cy="502920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703320"/>
            <a:ext cx="3429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NanumGothic"/>
                <a:ea typeface="NanumGothic"/>
              </a:rPr>
              <a:t>약물 · 원칙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4370832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저용량 서방형 oxycodone/μ-오피오이드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부프레노르핀은 상대적 저위험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최소 유효용량 · 정기 재평가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703320"/>
            <a:ext cx="34290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3703320"/>
            <a:ext cx="3429000" cy="502920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3703320"/>
            <a:ext cx="3429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NanumGothic"/>
                <a:ea typeface="NanumGothic"/>
              </a:rPr>
              <a:t>주의 · 안전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4370832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진정 · 호흡 억제 · 변비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의존·오남용 위험 평가 필수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A202C"/>
                </a:solidFill>
                <a:latin typeface="NanumGothic"/>
                <a:ea typeface="NanumGothic"/>
              </a:rPr>
              <a:t>•  고령·수면무호흡 동반 시 특히 신중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AASM 2025(J Clin Sleep Med); 문헌고찰 Part 5-5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체외충격파(ESWT) — RLS 직접 근거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치료 · ESWT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06963" y="365760"/>
            <a:ext cx="781812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06963" y="365760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근거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B03A2E"/>
                </a:solidFill>
                <a:latin typeface="NanumGothic"/>
                <a:ea typeface="NanumGothic"/>
              </a:rPr>
              <a:t>RLS를 결과변수로 ESWT를 평가한 RCT·전향연구·증례는 검색되지 않는다(2026-07 기준).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ESWT의 확립된 근거는 근골격계 통증·경직 영역으로, RLS(뇌 철분·도파민·아데노신)와 병태가 다르다.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미세순환·NO·운동신경원 조절이 이론상 거론되나 RLS 핵심 병태와 직접 연결하는 근거는 없다.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근거를 창작하지 않는다 → RLS에 ESWT는 권고할 수 없다.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근거 있는 대안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286000"/>
            <a:ext cx="36118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비약물이 필요하면 충격파가 아니라 '말초 비골신경 자극'.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Charlesworth 2023: sham 대조에서 증상 개선·수면 무방해.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FFFFFF"/>
                </a:solidFill>
                <a:latin typeface="NanumGothic"/>
                <a:ea typeface="NanumGothic"/>
              </a:rPr>
              <a:t>AASM 2025 조건부 권고.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9FE0D8"/>
                </a:solidFill>
                <a:latin typeface="NanumGothic"/>
                <a:ea typeface="NanumGothic"/>
              </a:rPr>
              <a:t>→ 다음 장에서 상술.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문헌고찰 Part 3(직접 근거 부재); Charlesworth 2023(대안)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근거 있는 비약물 — 말초 비골신경 자극(TOMAC)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비약물 · 기기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17275" y="365760"/>
            <a:ext cx="571500" cy="34747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17275" y="365760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조건부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008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Charlesworth 2023(J Clin Sleep Med): 양측 고빈도 비침습적 비골신경 자극(NPNS/TOMAC).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중등도~중증 RLS에서 sham(가짜자극) 대조로 평가.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350" b="1" i="0">
                <a:solidFill>
                  <a:srgbClr val="2E7D32"/>
                </a:solidFill>
                <a:latin typeface="NanumGothic"/>
                <a:ea typeface="NanumGothic"/>
              </a:rPr>
              <a:t>다리 근육의 긴장성 활성을 유발하여, 수면을 방해하지 않고 증상을 개선.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약물 부작용(augmentation·진정)이 없는 비약물 옵션.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AASM 2025 조건부 권고 → 비약물이 필요할 때의 우선 고려 대상.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6E70"/>
                </a:solidFill>
                <a:latin typeface="NanumGothic"/>
                <a:ea typeface="NanumGothic"/>
              </a:rPr>
              <a:t>요점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4884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방식: 양측 비골신경 고빈도 자극.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대상: 중등도~중증 RLS.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1A202C"/>
                </a:solidFill>
                <a:latin typeface="NanumGothic"/>
                <a:ea typeface="NanumGothic"/>
              </a:rPr>
              <a:t>근거: sham 대조 시험(Charlesworth 2023).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2E7D32"/>
                </a:solidFill>
                <a:latin typeface="NanumGothic"/>
                <a:ea typeface="NanumGothic"/>
              </a:rPr>
              <a:t>장점: 수면 무방해 · 전신 부작용 없음.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250" b="1" i="0">
                <a:solidFill>
                  <a:srgbClr val="1F6E70"/>
                </a:solidFill>
                <a:latin typeface="NanumGothic"/>
                <a:ea typeface="NanumGothic"/>
              </a:rPr>
              <a:t>→ ESWT의 자리를 대신하는 비약물 대안.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Charlesworth JD, et al. J Clin Sleep Med. 2023;19(7):1199-209. PMID 36856064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종합 치료 알고리즘 / 사다리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종합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685800" cy="8229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685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1371600"/>
            <a:ext cx="10012680" cy="8229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48132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B355E"/>
                </a:solidFill>
                <a:latin typeface="NanumGothic"/>
                <a:ea typeface="NanumGothic"/>
              </a:rPr>
              <a:t>진단 확정 (IRLSSG 5기준)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63040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1A202C"/>
                </a:solidFill>
                <a:latin typeface="NanumGothic"/>
                <a:ea typeface="NanumGothic"/>
              </a:rPr>
              <a:t>움직임 충동·안정 시 악화·움직이면 완화·저녁 악화·mimic 배제. NLC 등 감별.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22576"/>
            <a:ext cx="685800" cy="822960"/>
          </a:xfrm>
          <a:prstGeom prst="roundRect">
            <a:avLst>
              <a:gd name="adj" fmla="val 8000"/>
            </a:avLst>
          </a:prstGeom>
          <a:solidFill>
            <a:srgbClr val="2447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22576"/>
            <a:ext cx="685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2322576"/>
            <a:ext cx="10012680" cy="8229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2432304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44774"/>
                </a:solidFill>
                <a:latin typeface="NanumGothic"/>
                <a:ea typeface="NanumGothic"/>
              </a:rPr>
              <a:t>철분 평가·교정 (기반)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414016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1A202C"/>
                </a:solidFill>
                <a:latin typeface="NanumGothic"/>
                <a:ea typeface="NanumGothic"/>
              </a:rPr>
              <a:t>ferritin/TSAT. 경구(≤75)/정맥(≤100 또는 경구 부적절, FCM 1000 mg). 악화약물 조정.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73552"/>
            <a:ext cx="685800" cy="822960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73552"/>
            <a:ext cx="685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4480" y="3273552"/>
            <a:ext cx="10012680" cy="8229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38328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C898A"/>
                </a:solidFill>
                <a:latin typeface="NanumGothic"/>
                <a:ea typeface="NanumGothic"/>
              </a:rPr>
              <a:t>1차 약물 — α2δ 리간드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364992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1A202C"/>
                </a:solidFill>
                <a:latin typeface="NanumGothic"/>
                <a:ea typeface="NanumGothic"/>
              </a:rPr>
              <a:t>gabapentin enacarbil·gabapentin·pregabalin. 수면·감각 개선, augmentation 적음.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224528"/>
            <a:ext cx="685800" cy="822960"/>
          </a:xfrm>
          <a:prstGeom prst="roundRect">
            <a:avLst>
              <a:gd name="adj" fmla="val 8000"/>
            </a:avLst>
          </a:prstGeom>
          <a:solidFill>
            <a:srgbClr val="1F6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24528"/>
            <a:ext cx="685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54480" y="4224528"/>
            <a:ext cx="10012680" cy="8229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4334256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도파민제는 후순위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315968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1A202C"/>
                </a:solidFill>
                <a:latin typeface="NanumGothic"/>
                <a:ea typeface="NanumGothic"/>
              </a:rPr>
              <a:t>단기 효과 O이나 augmentation(연 7~10%)로 장기 권고 안 함. 복용 중이면 전환 고려.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75504"/>
            <a:ext cx="685800" cy="82296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175504"/>
            <a:ext cx="685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NanumGothic"/>
                <a:ea typeface="NanumGothic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54480" y="5175504"/>
            <a:ext cx="10012680" cy="8229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285232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32"/>
                </a:solidFill>
                <a:latin typeface="NanumGothic"/>
                <a:ea typeface="NanumGothic"/>
              </a:rPr>
              <a:t>난치성 옵션 (선택)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5266944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0" i="0">
                <a:solidFill>
                  <a:srgbClr val="1A202C"/>
                </a:solidFill>
                <a:latin typeface="NanumGothic"/>
                <a:ea typeface="NanumGothic"/>
              </a:rPr>
              <a:t>dipyridamole(조건부)·오피오이드(서방형)·비골신경 자극(TOMAC). ESWT는 RLS 근거 없음.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AASM 2025 지침 · 문헌고찰 종합 결론(치료 사다리)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근거 요약표 — RLS 치료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종합 · 근거표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22431" y="365760"/>
            <a:ext cx="4663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22431" y="365760"/>
            <a:ext cx="4663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요약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83564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834640"/>
                <a:gridCol w="260604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영역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대표 문헌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설계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핵심 결과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IV 철분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Earley 2024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다기관 RCT n=209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42일 IRLS·CGI 개선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IV 철분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메타분석 2024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SR/MA 537명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효과·안전 확인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α2δ 리간드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Allen 2014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RCT n=719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augmentation 1.7% vs 9.0%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도파민제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Winkelman 2006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RCT n=344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단기 IRLS 개선(장기 augmentation)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dipyridamole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Garcia-Borreguero 2021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교차 RCT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IRLS 24.1 → 11.1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보툴리눔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Mittal 2018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교차 RCT n=24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4·6주 IRLS·VAS 개선(소표본)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비골신경 자극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Charlesworth 2023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sham 대조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증상 개선·수면 무방해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ESWT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RLS 표적 연구 없음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직접 근거 없음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02_RLS 참고문헌 근거 요약표 · PubMed 대조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핵심 메시지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FFFFFF"/>
                </a:solidFill>
                <a:latin typeface="NanumGothic"/>
                <a:ea typeface="NanumGothic"/>
              </a:rPr>
              <a:t>철분 교정이 기반, α2δ 리간드가 1차 — 도파민제는 후순위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85416"/>
            <a:ext cx="146304" cy="6035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9FE0D8"/>
                </a:solidFill>
                <a:latin typeface="NanumGothic"/>
                <a:ea typeface="NanumGothic"/>
              </a:rPr>
              <a:t>병태생리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48840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뇌 국소 철분 결핍 → 도파민·아데노신 신호 이상. 유전·이차요인이 악화.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26664"/>
            <a:ext cx="146304" cy="6035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90088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9FE0D8"/>
                </a:solidFill>
                <a:latin typeface="NanumGothic"/>
                <a:ea typeface="NanumGothic"/>
              </a:rPr>
              <a:t>진단·감별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90088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IRLSSG 5기준(움직임 충동·안정 시 악화·움직이면 완화·저녁 악화·mimic 배제). NLC와 감별.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67912"/>
            <a:ext cx="146304" cy="6035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831336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9FE0D8"/>
                </a:solidFill>
                <a:latin typeface="NanumGothic"/>
                <a:ea typeface="NanumGothic"/>
              </a:rPr>
              <a:t>기반·1차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831336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철분 교정(경구≤75/정맥≤100)이 기반, α2δ 리간드가 1차 강한 권고.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09160"/>
            <a:ext cx="146304" cy="6035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72584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9FE0D8"/>
                </a:solidFill>
                <a:latin typeface="NanumGothic"/>
                <a:ea typeface="NanumGothic"/>
              </a:rPr>
              <a:t>주사·비약물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672584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IV 철분(FCM)이 근거 최강. 보툴리눔·정맥경화는 표현형·연구단계. 비약물은 비골신경 자극.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550408"/>
            <a:ext cx="146304" cy="603504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513832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9FE0D8"/>
                </a:solidFill>
                <a:latin typeface="NanumGothic"/>
                <a:ea typeface="NanumGothic"/>
              </a:rPr>
              <a:t>주의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513832"/>
            <a:ext cx="7589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NanumGothic"/>
                <a:ea typeface="NanumGothic"/>
              </a:rPr>
              <a:t>도파민제는 augmentation로 장기 후순위. ESWT는 RLS 근거 없음 — 근거를 창작하지 않는다.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참고문헌 (1/2) — 진단 · 병태 · 철분 · 주사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참고문헌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81183" y="365760"/>
            <a:ext cx="1307592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81183" y="365760"/>
            <a:ext cx="13075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Allen RP, et al. RLS/WED diagnostic criteria: updated IRLSSG consensus criteria. Sleep Med. 2014;15(8):860-73. PMID 25023924.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Winkelman JW, et al. Treatment of RLS/PLMD: AASM clinical practice guideline. J Clin Sleep Med. 2025;21(1):137-52. PMID 39324694.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Allen RP, et al. IRLSSG task force: iron treatment of RLS/WED. Sleep Med. 2018;41:27-44. PMID 29425576.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Earley CJ, et al. IV ferric carboxymaltose for RLS: multicenter RCT. Sleep. 2024;47(7):zsae095. PMID 38625730.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Clinical efficacy and safety of IV ferric carboxymaltose in RLS: meta-analysis of 537 patients. Sleep Med. 2024. PMID 39326219.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Mittal SO, et al. Botulinum toxin in RLS: double-blind placebo-controlled crossover study. Toxins (Basel). 2018;10(10):401. PMC6215171.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Effectiveness and safety of botulinum toxin type A in RLS: systematic review &amp; meta-analysis. Healthcare (Basel). 2021;9(11):1538. PMC8623507.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Pyne R, et al. Varicose veins with RLS and nocturnal leg cramps. J Vasc Interv Radiol. 2023;34(4):534-42. PMID 36526075.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PubMed/PMC 대조 검증 — RLS 표적 ESWT 임상연구는 확인되지 않아 '직접 근거 없음'으로 명시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B355E"/>
                </a:solidFill>
                <a:latin typeface="NanumGothic"/>
                <a:ea typeface="NanumGothic"/>
              </a:rPr>
              <a:t>참고문헌 (2/2) — 비약물 · 경구약제 · 신규 표적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참고문헌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81183" y="365760"/>
            <a:ext cx="1307592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81183" y="365760"/>
            <a:ext cx="13075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Sundaresan S, et al. Treatment of leg veins for restless leg syndrome: retrospective review. Cureus. 2019;11(4):e4368. PMID 31192073.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Charlesworth JD, et al. Bilateral high-frequency noninvasive peroneal nerve stimulation for RLS. J Clin Sleep Med. 2023;19(7):1199-209. PMID 36856064.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Allen RP, et al. Comparison of pregabalin with pramipexole for RLS. N Engl J Med. 2014;370(7):621-31. PMID 24521108.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Winkelman JW, et al. Efficacy and safety of pramipexole in RLS. Neurology. 2006;67(6):1034-9. PMID 16931507.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Winkelman JW, et al. Randomized polysomnography study of gabapentin enacarbil in RLS. Mov Disord. 2011;26(11):2065-72. PMID 21611981.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Bogan RK, et al. Long-term maintenance treatment of RLS with gabapentin enacarbil: RCT. Mayo Clin Proc. 2010;85(6):512-21. PMID 20511481.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1A202C"/>
                </a:solidFill>
                <a:latin typeface="NanumGothic"/>
                <a:ea typeface="NanumGothic"/>
              </a:rPr>
              <a:t>Garcia-Borreguero D, et al. Dipyridamole for RLS: placebo-controlled crossover study. Mov Disord. 2021;36(10):2387-92. PMID 34137476.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PubMed/PMC 대조 검증 — RLS 표적 ESWT 임상연구는 확인되지 않아 '직접 근거 없음'으로 명시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