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Lumbar Epidural Block · 문헌고찰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요추 경막외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안전한 술기 · Loss of Resistance 인지법 · 실패한 조영제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Safety · LOR Identification · Failed Contrast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중재적 통증시술 문헌고찰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왜 이 주제인가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LOR은 진단이 아니라 가설이다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51599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구조적 위양성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황색인대는 정중선에서 자주 융합하지 않는다. 요추 L1–2 22.2%, L2–L5 약 10%에서 정중부 결손(midline gap).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91256"/>
            <a:ext cx="146304" cy="51599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292608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가짜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54680"/>
            <a:ext cx="740664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황색인대 바로 뒤에 Okada 후경막강이 있다. 경추 층간 접근에서 위양성 LOR 30–65%.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59936"/>
            <a:ext cx="146304" cy="51599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23360"/>
            <a:ext cx="292608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놓치는 혈관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23360"/>
            <a:ext cx="740664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흡인 음성은 혈관내 위치를 배제하지 못한다. 실시간 투시 민감도 60–71%.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28616"/>
            <a:ext cx="146304" cy="51599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292608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검증 수단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892040"/>
            <a:ext cx="740664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가설을 검증하는 것은 조영제다. 스테로이드 주입 전 실시간 투시 확인은 타협 대상이 아니다.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오늘 다룰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5543" y="365760"/>
            <a:ext cx="713232" cy="347472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5543" y="365760"/>
            <a:ext cx="7132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4개 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1 · 해부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왜 실패가 구조적으로 일어나는가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경막외강 · 황색인대 정중부 결손 · Okada 후경막강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2 · LOR 인지법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5개 계열 24가지 방법 총정리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음압법 · 저항소실법 · 기구 · 영상 · 전기·광학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3 · 안전 술기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시술 전·진입·확인·후 단계별 체크리스트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MSIS 합의 · ASRA 항혈전제 · CLO view · 비입자성 스테로이드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4 · 조영제 패턴 판독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정상 1가지, 실패 7가지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B03A2E"/>
                </a:solidFill>
                <a:latin typeface="NanumGothic"/>
                <a:ea typeface="NanumGothic"/>
              </a:rPr>
              <a:t>혈관내 · 경막하 · 지주막하 · Okada · 근육 · 후관절 · 유착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경막외강 — 잠재적 공간의 실제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1 · 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대후두공에서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천골열공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까지 이어지는 잠재적 공간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내용물: 경막외 지방,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Batson 정맥총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, 림프관, 분절 신경근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후방 깊이는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요추에서 5–6 mm로 최대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, 두측으로 갈수록 좁아짐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→ 요추 접근이 경·흉추보다 구조적으로 안전한 이유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피부–경막외강 거리 평균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4–6 cm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(BMI에 비례)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1F6E70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F6E70"/>
                </a:solidFill>
                <a:latin typeface="NanumGothic"/>
                <a:ea typeface="NanumGothic"/>
              </a:rPr>
              <a:t>척수원추는 통상 </a:t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L1–L2</a:t>
            </a:r>
            <a:r>
              <a:rPr sz="1350" b="0" i="0">
                <a:solidFill>
                  <a:srgbClr val="1F6E70"/>
                </a:solidFill>
                <a:latin typeface="NanumGothic"/>
                <a:ea typeface="NanumGothic"/>
              </a:rPr>
              <a:t>에서 종료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→ </a:t>
            </a: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L4–5, L5–S1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이 가장 안전한 천자 높이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실무 함의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B03A2E"/>
                </a:solidFill>
                <a:latin typeface="NanumGothic"/>
                <a:ea typeface="NanumGothic"/>
              </a:rPr>
              <a:t>높은 분절 층간 접근은 </a:t>
            </a:r>
            <a:r>
              <a:rPr sz="1100" b="1" i="0">
                <a:solidFill>
                  <a:srgbClr val="B03A2E"/>
                </a:solidFill>
                <a:latin typeface="NanumGothic"/>
                <a:ea typeface="NanumGothic"/>
              </a:rPr>
              <a:t>척수 손상 위험이 실재</a:t>
            </a:r>
            <a:r>
              <a:rPr sz="1100" b="0" i="0">
                <a:solidFill>
                  <a:srgbClr val="B03A2E"/>
                </a:solidFill>
                <a:latin typeface="NanumGothic"/>
                <a:ea typeface="NanumGothic"/>
              </a:rPr>
              <a:t>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원추 종료 위치는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개인차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가 있으므로 영상 확인 없이 고위 접근 금지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경막외강이 좁을수록 과진입 여유가 없다 — 흉추·경추에서 LOR 사고가 집중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황색인대는 정중선에서 자주 붙어 있지 않다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1 · 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65760"/>
            <a:ext cx="1481328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65760"/>
            <a:ext cx="14813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LOR 위음성의 근원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108960"/>
                <a:gridCol w="53492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분절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정중부 결손 빈도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해석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C3–4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66%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경추는 과반이 결손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C5–6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74%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최고 빈도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C7–T1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51%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경흉추 이행부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하부 흉추 (T6–9)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2–4%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T10–12에서 정점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L1–2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22.2%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요추 중 최다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L2–L5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약 10%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드물지만 0은 아니다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Lirk 등 사체 연구 · 결손부 평균 폭 1.0 ± 0.3 mm →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엄격한 정중 접근에서 황색인대가 바늘을 막아준다고 신뢰할 수 없다.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 이것이 방정중 접근의 해부학적 근거다.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Okada 후경막강 (Retrodural space)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1 · 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7175" y="36576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7175" y="365760"/>
            <a:ext cx="1371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가짜 LOR의 주범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1981년 Okada가 경추 후관절 조영술 개발 중 기술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황색인대 배측(dorsal)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의 잠재적 공간 — 경막외강 바로 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모든 척추 분절에 존재. 동측·인접 후관절, 추간공, 협부결손, 극간 점액낭, 척추주위 조직과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교통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여기 들어가면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경막외 진입과 구별되지 않는 LOR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이 발생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경추 층간 접근 위양성 LOR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30–65%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퇴행성 후관절 변화가 심할수록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빈도 증가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FD3E6"/>
                </a:solidFill>
                <a:latin typeface="NanumGothic"/>
                <a:ea typeface="NanumGothic"/>
              </a:rPr>
              <a:t>감별의 열쇠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AP 단독 판독으로는 구별 불가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lateral / CLO view 병행이 유일한 실전 감별법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조영제가 후관절로 역류하거나 인접 분절로 새는 양상이 단서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경막외 특유의 종축 확산 + 신경근 곁가지를 만들지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접근법별 특성과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2 · 접근법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194560"/>
                <a:gridCol w="2377440"/>
                <a:gridCol w="35204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접근법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복측 확산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혈관내 주입률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요점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정중 층간 (MIL)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31.7%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낮음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전통적 · 술기 단순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방정중 층간 (PIL)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89.7%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낮음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병변측 lamina 내측연 진입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경추간공 (TF)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높음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11.2%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분절 선택성 우수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미추 (Caudal)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낮음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10.9%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경막천자 위험 최소 · 대용량 필요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Ghai 등(Anesth Analg 2013, 무작위 이중맹검): PIL이 MIL 대비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6개월 유효 진통 68.4% vs 16.7%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, 총 주사 횟수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29 vs 41회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로 감소.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3 · Loss of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LOR 인지법 — 5개 계열로 정리한다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A · 음압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Hanging drop(Gutierrez) · Odom · Dawkins 모세관 · Macintosh 풍선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B · 저항 소실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LOR to air · saline · saline+기포 · 간헐/지속 진입 · Bromage grip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C · 기구·자동화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5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Episure · Epidrum · Epi-Jet · EpiFaith · APAD · CompuFlo · 파형분석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D · 영상 유도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35424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투시 AP/lateral/CLO · 조영제 · DSA · 초음파(PSO·SMI) · 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21807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1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E · 전기·광학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85231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Tsui 전기자극 · 자가형광 분광 · OCT+딥러닝 · 생체임피던스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A · 경막외강의 음압을 이용하는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A계열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음압 원리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937760"/>
                <a:gridCol w="3154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기법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원리 · 술기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한계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Hanging drop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(Gutierrez, 1933)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 허브에 식염수 한 방울 → 진입 시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빨려 들어감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요추는 음압이 약해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위음성 흔함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Odom's indicator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유리관 내 액체·기포 주의 이동 관찰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현재 거의 사용 안 함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Dawkins 모세관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모세관 압력계로 압력 강하 감지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정량적이나 번거로움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Macintosh 풍선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(1950)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허브의 소형 풍선이 진입 시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갑자기 수축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팽창압 표준화 어려움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주의: 음압은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경막외강 고유의 성질이 아니다.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 바늘 끝의 경막 압박(tenting)과 흉곽내압 전달로 생기는 현상이며,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요추·앙와위·비만 환자에서는 약하거나 소실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B · 저항 소실 — 실제로 쓰는 방법들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B계열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표준 술기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B1 · LOR to air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(Dogliotti, 1933) — 공기 2–3 mL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B03A2E"/>
                </a:solidFill>
                <a:latin typeface="NanumGothic"/>
                <a:ea typeface="NanumGothic"/>
              </a:rPr>
              <a:t>촉감 예민, 조영제 희석 없음 / 공기 특이 합병증 다수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B2 · LOR to saline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생리식염수 2–3 mL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공기 합병증 회피 / CSF와 감별 곤란(포도당·온도·pH 확인)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F6E70"/>
                </a:solidFill>
                <a:latin typeface="NanumGothic"/>
                <a:ea typeface="NanumGothic"/>
              </a:rPr>
              <a:t>B3 · LOR to saline + 기포</a:t>
            </a:r>
            <a:r>
              <a:rPr sz="1450" b="1" i="0">
                <a:solidFill>
                  <a:srgbClr val="1F6E70"/>
                </a:solidFill>
                <a:latin typeface="NanumGothic"/>
                <a:ea typeface="NanumGothic"/>
              </a:rPr>
              <a:t> (compressibility test)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F6E70"/>
                </a:solidFill>
                <a:latin typeface="NanumGothic"/>
                <a:ea typeface="NanumGothic"/>
              </a:rPr>
              <a:t>기포만 압축되고 주입 안 되면 </a:t>
            </a:r>
            <a:r>
              <a:rPr sz="1363" b="1" i="0">
                <a:solidFill>
                  <a:srgbClr val="1F6E70"/>
                </a:solidFill>
                <a:latin typeface="NanumGothic"/>
                <a:ea typeface="NanumGothic"/>
              </a:rPr>
              <a:t>아직 인대 안</a:t>
            </a:r>
            <a:r>
              <a:rPr sz="1363" b="0" i="0">
                <a:solidFill>
                  <a:srgbClr val="1F6E70"/>
                </a:solidFill>
                <a:latin typeface="NanumGothic"/>
                <a:ea typeface="NanumGothic"/>
              </a:rPr>
              <a:t> → 촉감의 객관화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B4 · 간헐적 진입</a:t>
            </a: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 — 조금 전진 → 압력 확인 → 반복. 안전하나 느림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B5 · 지속 압력 유지</a:t>
            </a: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 — 즉시 인지 / </a:t>
            </a: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관성에 의한 과진입 위험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2E7D32"/>
                </a:solidFill>
                <a:latin typeface="NanumGothic"/>
                <a:ea typeface="NanumGothic"/>
              </a:rPr>
              <a:t>B6 · Bromage grip / 양손 고정</a:t>
            </a:r>
            <a:r>
              <a:rPr sz="1450" b="1" i="0">
                <a:solidFill>
                  <a:srgbClr val="2E7D32"/>
                </a:solidFill>
                <a:latin typeface="NanumGothic"/>
                <a:ea typeface="NanumGothic"/>
              </a:rPr>
              <a:t> — 손을 환자 등에 고정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2E7D32"/>
                </a:solidFill>
                <a:latin typeface="NanumGothic"/>
                <a:ea typeface="NanumGothic"/>
              </a:rPr>
              <a:t>과진입을 </a:t>
            </a:r>
            <a:r>
              <a:rPr sz="1363" b="1" i="0">
                <a:solidFill>
                  <a:srgbClr val="2E7D32"/>
                </a:solidFill>
                <a:latin typeface="NanumGothic"/>
                <a:ea typeface="NanumGothic"/>
              </a:rPr>
              <a:t>물리적으로 차단</a:t>
            </a:r>
            <a:r>
              <a:rPr sz="1363" b="0" i="0">
                <a:solidFill>
                  <a:srgbClr val="2E7D32"/>
                </a:solidFill>
                <a:latin typeface="NanumGothic"/>
                <a:ea typeface="NanumGothic"/>
              </a:rPr>
              <a:t>하는 가장 확실한 안전장치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공기 vs 식염수 — 무엇이 맞는가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B계열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Cochrane 체계적 문헌고찰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 (Antibas 등, 2014)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7편 RCT · 852명. 경막외강 확인 실패, 카테터 위치 이상, CSE 실패, 미차단 분절, 통증 —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모두 유의차 없음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근거 수준은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낮음(low quality)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, 대부분 산과 환자에서 도출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그러나 공기에는 특이 합병증이 있다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기뇌증 · 신경근/척수 압박 · 후복막 공기 · 피하기종 · 종격기종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정맥 공기색전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 · 경막외 공기가 약물 확산을 막아 </a:t>
            </a: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반점상 차단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메타분석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: Epidrum 등 대체법이 공기 대비 확인 실패 유의 감소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RR 0.29 (95% CI 0.11–0.77; P=0.01)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실무 권고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2E7D32"/>
                </a:solidFill>
                <a:latin typeface="NanumGothic"/>
                <a:ea typeface="NanumGothic"/>
              </a:rPr>
              <a:t>투시 유도 만성통증 시술에서는 </a:t>
            </a:r>
            <a:r>
              <a:rPr sz="1100" b="1" i="0">
                <a:solidFill>
                  <a:srgbClr val="2E7D32"/>
                </a:solidFill>
                <a:latin typeface="NanumGothic"/>
                <a:ea typeface="NanumGothic"/>
              </a:rPr>
              <a:t>식염수 기반 LOR</a:t>
            </a:r>
            <a:r>
              <a:rPr sz="1100" b="0" i="0">
                <a:solidFill>
                  <a:srgbClr val="2E7D32"/>
                </a:solidFill>
                <a:latin typeface="NanumGothic"/>
                <a:ea typeface="NanumGothic"/>
              </a:rPr>
              <a:t>을 기본으로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2E7D32"/>
                </a:solidFill>
                <a:latin typeface="NanumGothic"/>
                <a:ea typeface="NanumGothic"/>
              </a:rPr>
              <a:t>공기를 쓴다면 </a:t>
            </a:r>
            <a:r>
              <a:rPr sz="1100" b="1" i="0">
                <a:solidFill>
                  <a:srgbClr val="2E7D32"/>
                </a:solidFill>
                <a:latin typeface="NanumGothic"/>
                <a:ea typeface="NanumGothic"/>
              </a:rPr>
              <a:t>1–2 mL 이하</a:t>
            </a:r>
            <a:r>
              <a:rPr sz="1100" b="0" i="0">
                <a:solidFill>
                  <a:srgbClr val="2E7D32"/>
                </a:solidFill>
                <a:latin typeface="NanumGothic"/>
                <a:ea typeface="NanumGothic"/>
              </a:rPr>
              <a:t>로 제한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식염수는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조영제 판독을 방해하지 않는다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는 이점도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C · 주관적 촉감을 객관적 신호로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C계열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56087" y="365760"/>
            <a:ext cx="932688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6087" y="365760"/>
            <a:ext cx="9326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기구·자동화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754880"/>
                <a:gridCol w="33375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장치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원리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Episure™ AutoDetect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내장 스프링이 플런저에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일정 압력 지속 인가</a:t>
                      </a:r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→ 진입 시 자동 하강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유리주사기 5례 실패 vs 스프링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0례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Epidrum®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허브 부착 팽창막이 진입 시 즉시 함몰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공기 대비 확인 실패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RR 0.29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Epi-Jet®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압력 지시 장치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산과 240명 RCT에서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Epidrum보다 우월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EpiFaith®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스프링 로디드 주사기 (공기/식염수)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임상 연구 진행 중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APAD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 끝 압력을 </a:t>
                      </a:r>
                      <a:r>
                        <a:rPr sz="12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음향 + 시각 신호</a:t>
                      </a:r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로 실시간 변환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FDA 승인 · 교육·문서화에 유용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공통 목적: "저항이 사라진 느낌"이라는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술자 의존적 판단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을 장치가 읽는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재현 가능한 신호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로 바꾼다.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CompuFlo® — 압력을 연속 정량 측정한다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C계열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압력 파형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판정 기준 두 가지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① 압력의 </a:t>
            </a: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급강하 후 저압 고평부(plateau)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 형성 = 경막외강 진입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② 진입 후 </a:t>
            </a: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동맥 박동과 동기화된 박동성 파형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 확인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경막외압은 본래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박동성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이며 동맥 박동과 동기화된다 — 이것이 원리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근거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투시·전통 LOR 대비 성공률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비열등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(무작위 대조)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600례 연속 증례 보고 · 케이스 시리즈 다수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경막외 파형 분석(EWA)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 — 카테터/바늘을 압력 트랜스듀서에 연결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박동성 파형 유무로 위치 확인. CSE 후 카테터 확인에 유용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FD3E6"/>
                </a:solidFill>
                <a:latin typeface="NanumGothic"/>
                <a:ea typeface="NanumGothic"/>
              </a:rPr>
              <a:t>왜 중요한가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LOR의 근본 문제는 기록이 남지 않는다는 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압력 파형은 객관적 기록이 되어 교육·문서화·의료분쟁 대응에 쓰인다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B03A2E"/>
                </a:solidFill>
                <a:latin typeface="NanumGothic"/>
                <a:ea typeface="NanumGothic"/>
              </a:rPr>
              <a:t>다만 Okada 공간에서도 저압은 나온다 — 조영제 확인을 대체하지 못한다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D · "느낌"에서 "확인"으로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D계열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영상 유도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4181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4480560"/>
                <a:gridCol w="35204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방법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무엇을 주는가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한계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투시 AP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분절 · 정중선 · 바늘 궤적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깊이 판단 불가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투시 True lateral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깊이 판단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양측 lamina 겹쳐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 끝 흐림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투시 CLO (대측 사위)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VILL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= 경막외강 후방경계 지표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표적 반대측 약 45° 회전 필요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조영제 경막외조영술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LOR 가설의 최종 검증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패턴 판독 능력이 필요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DSA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혈관내 주입 검출률 향상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장비 · 피폭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초음파 (PSO 사전스캔)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분절 · 깊이 · 정중선 사전 결정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실시간 바늘 추적 어려움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CT 투시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정확도 최고 · Okada 검출 유리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피폭 · 접근성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CLO view와 VILL — 깊이를 객관화하는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D계열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표적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반대측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으로 C-arm을 약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45°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회전 (경추는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50°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AP에서 층간 개구부 중점에 진입, 표적측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pedicle 방향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으로 조준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1F6E70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VILL (ventral interlaminar line)</a:t>
            </a:r>
            <a:r>
              <a:rPr sz="1350" b="0" i="0">
                <a:solidFill>
                  <a:srgbClr val="1F6E70"/>
                </a:solidFill>
                <a:latin typeface="NanumGothic"/>
                <a:ea typeface="NanumGothic"/>
              </a:rPr>
              <a:t> = 복측 층간선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lamina 복측면을 잇는 선 = </a:t>
            </a: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경막외강 후방 경계의 방사선학적 지표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바늘 끝을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1–2 mm 이내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정밀도로 조준 가능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조영제도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VILL을 따라 lamina 복측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으로 흐르는지 확인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근거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Gill 등(Pain Med 2015): 경추·경흉추에서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lateral view보다 우월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 — 바늘 끝 가시성, 궤적 예측력, 후방경계 지표 모두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PLOS One 2021: 요추 층간 29례에서 복측 경막외강 도달률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93.1%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, 합병증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0례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왜 lateral보다 나은가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lateral은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좌우 lamina가 겹쳐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 바늘 끝이 어디인지 모호하다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CLO는 표적측 층간 개구부를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정면으로 펼쳐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 보여준다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ASRA도 "정밀함과 용이함의 결합"으로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CLO를 선호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한다고 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초음파 · 전기자극 · 광학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3 · LOR — D·E계열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56087" y="365760"/>
            <a:ext cx="932688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6087" y="365760"/>
            <a:ext cx="9326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보조·신기술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초음파 — 방정중 시상 사위(PSO)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lamina 사이로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황색인대–경막 복합체(posterior complex)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가 선상 고에코로 보임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분절 ·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깊이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· 정중선을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천자 전에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결정 → 시도 횟수 감소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SMI·color Doppler로 주입 시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황색인대 파열 신호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관찰 가능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Tsui test — 전기자극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F6E70"/>
                </a:solidFill>
                <a:latin typeface="NanumGothic"/>
                <a:ea typeface="NanumGothic"/>
              </a:rPr>
              <a:t>0→10 mA 증가. </a:t>
            </a:r>
            <a:r>
              <a:rPr sz="1269" b="1" i="0">
                <a:solidFill>
                  <a:srgbClr val="1F6E70"/>
                </a:solidFill>
                <a:latin typeface="NanumGothic"/>
                <a:ea typeface="NanumGothic"/>
              </a:rPr>
              <a:t>1–10 mA 근절 반응 = 경막외 정상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&amp;lt;1 mA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 = 지주막하 또는 신경근 직접 접촉 / </a:t>
            </a: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&amp;gt;10 mA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 = 경막외강 밖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민감도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80–100%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광학 · 임피던스 (연구 단계)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자가형광: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황색인대 형광 강도가 타 조직의 최소 10배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→ 성공률 87%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OCT(해상도 ~10 µm, 초음파·투시의 10–100배) + 딥러닝 / 생체임피던스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정리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모든 신기술의 방향은 하나 —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주관적 촉감을 객관적 신호로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그러나 현재 임상 표준은 여전히 </a:t>
            </a:r>
            <a:r>
              <a:rPr sz="1100" b="1" i="0">
                <a:solidFill>
                  <a:srgbClr val="1A202C"/>
                </a:solidFill>
                <a:latin typeface="NanumGothic"/>
                <a:ea typeface="NanumGothic"/>
              </a:rPr>
              <a:t>영상 + 조영제 확인</a:t>
            </a:r>
            <a:r>
              <a:rPr sz="1100" b="0" i="0">
                <a:solidFill>
                  <a:srgbClr val="1A202C"/>
                </a:solidFill>
                <a:latin typeface="NanumGothic"/>
                <a:ea typeface="NanumGothic"/>
              </a:rPr>
              <a:t>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B03A2E"/>
                </a:solidFill>
                <a:latin typeface="NanumGothic"/>
                <a:ea typeface="NanumGothic"/>
              </a:rPr>
              <a:t>장비는 LOR을 </a:t>
            </a:r>
            <a:r>
              <a:rPr sz="1100" b="1" i="0">
                <a:solidFill>
                  <a:srgbClr val="B03A2E"/>
                </a:solidFill>
                <a:latin typeface="NanumGothic"/>
                <a:ea typeface="NanumGothic"/>
              </a:rPr>
              <a:t>보조</a:t>
            </a:r>
            <a:r>
              <a:rPr sz="1100" b="0" i="0">
                <a:solidFill>
                  <a:srgbClr val="B03A2E"/>
                </a:solidFill>
                <a:latin typeface="NanumGothic"/>
                <a:ea typeface="NanumGothic"/>
              </a:rPr>
              <a:t>할 뿐 조영제 확인을 </a:t>
            </a:r>
            <a:r>
              <a:rPr sz="1100" b="1" i="0">
                <a:solidFill>
                  <a:srgbClr val="B03A2E"/>
                </a:solidFill>
                <a:latin typeface="NanumGothic"/>
                <a:ea typeface="NanumGothic"/>
              </a:rPr>
              <a:t>대체하지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시술 전 — 준비가 안전의 절반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4 · 안전 술기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5543" y="365760"/>
            <a:ext cx="71323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5543" y="365760"/>
            <a:ext cx="7132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시술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A202C"/>
                </a:solidFill>
                <a:latin typeface="NanumGothic"/>
                <a:ea typeface="NanumGothic"/>
              </a:rPr>
              <a:t>1 · 적응증·금기 재확인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영상(MRI/CT)에서 황색인대 결손 · 유착 · 수술 기왕력 확인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1F6E70"/>
                </a:solidFill>
                <a:latin typeface="NanumGothic"/>
                <a:ea typeface="NanumGothic"/>
              </a:rPr>
              <a:t>2 · 항혈전제 관리 — ASRA 가이드라인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1">
                <a:solidFill>
                  <a:srgbClr val="1A202C"/>
                </a:solidFill>
                <a:latin typeface="NanumGothic"/>
                <a:ea typeface="NanumGothic"/>
              </a:rPr>
              <a:t>Interventional Spine and Pain Procedures in Patients on Antiplatelet and Anticoagulant Medications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 (2015 초판 · 2018 개정 · </a:t>
            </a:r>
            <a:r>
              <a:rPr sz="1363" b="1" i="0">
                <a:solidFill>
                  <a:srgbClr val="1A202C"/>
                </a:solidFill>
                <a:latin typeface="NanumGothic"/>
                <a:ea typeface="NanumGothic"/>
              </a:rPr>
              <a:t>2022 제2판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시술을 출혈위험 </a:t>
            </a:r>
            <a:r>
              <a:rPr sz="1363" b="1" i="0">
                <a:solidFill>
                  <a:srgbClr val="1A202C"/>
                </a:solidFill>
                <a:latin typeface="NanumGothic"/>
                <a:ea typeface="NanumGothic"/>
              </a:rPr>
              <a:t>저·중·고위험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으로 층화 — 층간 경막외 주입은 고위험군에 준하여 관리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2E7D32"/>
                </a:solidFill>
                <a:latin typeface="NanumGothic"/>
                <a:ea typeface="NanumGothic"/>
              </a:rPr>
              <a:t>3 · 비입자성 스테로이드(dexamethasone) 우선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동물실험에서 </a:t>
            </a:r>
            <a:r>
              <a:rPr sz="1363" b="1" i="0">
                <a:solidFill>
                  <a:srgbClr val="1A202C"/>
                </a:solidFill>
                <a:latin typeface="NanumGothic"/>
                <a:ea typeface="NanumGothic"/>
              </a:rPr>
              <a:t>입자성 스테로이드의 동맥내 주입만</a:t>
            </a:r>
            <a:r>
              <a:rPr sz="1363" b="0" i="0">
                <a:solidFill>
                  <a:srgbClr val="1A202C"/>
                </a:solidFill>
                <a:latin typeface="NanumGothic"/>
                <a:ea typeface="NanumGothic"/>
              </a:rPr>
              <a:t> 영구적 중추신경 손상 유발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2E7D32"/>
                </a:solidFill>
                <a:latin typeface="NanumGothic"/>
                <a:ea typeface="NanumGothic"/>
              </a:rPr>
              <a:t>효능은 대등 → </a:t>
            </a:r>
            <a:r>
              <a:rPr sz="1363" b="1" i="0">
                <a:solidFill>
                  <a:srgbClr val="2E7D32"/>
                </a:solidFill>
                <a:latin typeface="NanumGothic"/>
                <a:ea typeface="NanumGothic"/>
              </a:rPr>
              <a:t>안전성이 선택을 결정</a:t>
            </a:r>
            <a:r>
              <a:rPr sz="1363" b="0" i="0">
                <a:solidFill>
                  <a:srgbClr val="2E7D32"/>
                </a:solidFill>
                <a:latin typeface="NanumGothic"/>
                <a:ea typeface="NanumGothic"/>
              </a:rPr>
              <a:t>한다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4 · 깊은 진정 금지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63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363" b="0" i="0">
                <a:solidFill>
                  <a:srgbClr val="B03A2E"/>
                </a:solidFill>
                <a:latin typeface="NanumGothic"/>
                <a:ea typeface="NanumGothic"/>
              </a:rPr>
              <a:t>환자와의 </a:t>
            </a:r>
            <a:r>
              <a:rPr sz="1363" b="1" i="0">
                <a:solidFill>
                  <a:srgbClr val="B03A2E"/>
                </a:solidFill>
                <a:latin typeface="NanumGothic"/>
                <a:ea typeface="NanumGothic"/>
              </a:rPr>
              <a:t>의사소통 유지</a:t>
            </a:r>
            <a:r>
              <a:rPr sz="1363" b="0" i="0">
                <a:solidFill>
                  <a:srgbClr val="B03A2E"/>
                </a:solidFill>
                <a:latin typeface="NanumGothic"/>
                <a:ea typeface="NanumGothic"/>
              </a:rPr>
              <a:t>가 신경손상 조기 인지의 핵심 안전장치 (MSIS 2015)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진입 — 되돌릴 수 없는 순간을 관리한다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4 · 안전 술기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가능한 낮은 분절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 (L4–5, L5–S1) — 척수원추 아래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방정중 / 외측방시상 접근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 — 황색인대 정중부 결손 회피 + 복측 확산 우수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CLO view(≈45°)에서 VILL을 지표로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 바늘 전진 — 깊이 인지의 객관화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E7D32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양손 고정(Bromage grip)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 — 과진입을 물리적으로 차단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바늘을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회전시키지 말 것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, 반복 천자 최소화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LOR은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식염수 기반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, 공기 사용 시 최소량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시술 중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이상감각·심한 통증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 호소 시 즉시 중단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FD3E6"/>
                </a:solidFill>
                <a:latin typeface="NanumGothic"/>
                <a:ea typeface="NanumGothic"/>
              </a:rPr>
              <a:t>기억할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경막외강 후방 깊이는 요추에서도 5–6 mm에 불과하다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과진입 여유는 밀리미터 단위다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그래서 손 고정과 CLO 깊이 확인이 장비보다 먼저다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4 · 안전 술기 ·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LOR을 느꼈다 ≠ 확인했다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흡인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혈액·CSF 확인. 단, 음성 흡인은 혈관내 위치를 배제하지 못한다.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실시간 투시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조영제는 반드시 live fluoroscopy 하에. 정지 영상만으로는 혈관내 주입을 놓친다.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DSA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5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고위험 분절에서는 디지털 감산을 고려한다.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패턴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35424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전형적 경막외 패턴을 확인한 뒤에만 스테로이드를 주입한다.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21807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1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환자 반응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85231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테스트 용량 + 주입 중 증상 지속 확인. 대화가 되는 진정 수준을 유지한다.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정상 경막외 패턴 — 어떻게 퍼지는가로 판정한다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조영제 판독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정상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AP — 종축 확산 + 신경근 곁가지 ("크리스마스 트리")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G1 · Epidural Contrast Patterns: An Educational Review (PMC12078379)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01_normal_epidural_ap.jpg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2836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436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436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CLO — VILL을 따라 lamina 복측으로 흐르는 조영제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436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F3 · PLOS One 2021 (CC BY)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436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02_normal_epidural_clo.jpg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정상의 3요소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척추관 중심의 종축 확산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몸통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1F6E70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신경근을 따라가는 곁가지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 — 가지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AP에서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지방 공포화(fat vacuolization)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양호한 위치의 방증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CLO에서 조영제가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VILL을 따라 lamina 복측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으로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이 셋이 없으면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경막외가 아니다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혈관내 주입 (Intravascular) — 씻겨 나간다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85272" y="365760"/>
            <a:ext cx="603503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5272" y="365760"/>
            <a:ext cx="60350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혈관내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178040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혈관내 — 가는 혈관 음영, 즉시 washout, 잔류 음영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H1 · Accuracy of Live Fluoroscopy to Detect Intravascular Injection (PMC2884208)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03_vascular.jpg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CF4F2"/>
          </a:solidFill>
          <a:ln w="12700">
            <a:solidFill>
              <a:srgbClr val="E7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03A2E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가늘게 흐르며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즉시 사라진다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정맥총 따라 두미측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빠른 유출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잔류 음영 없음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결정적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빈도 요천추 TF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11.2%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· 미추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10.9%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흡인 → 재위치 → 재확인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흡인과 눈으로는 부족하다 — 숫자로 보는 검출력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85272" y="365760"/>
            <a:ext cx="603503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5272" y="365760"/>
            <a:ext cx="60350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검출력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3017520"/>
                <a:gridCol w="36118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검출 방법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검출률 · 민감도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함의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흡인 (aspiration)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음성이어도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배제 불가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간헐적 투시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낮음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정지 영상은 놓친다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실시간 투시 (요추 TF)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민감도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71.0%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DSA가 잡은 9례를 놓침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실시간 투시 (경막외 확산 동시 발생 시)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민감도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60%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가장 위험한 상황에서 가장 약함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DSA 추가 (경추 TF)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17.9% →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32.8%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검출률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거의 2배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(P=.0471)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DSA 추가 (요추)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+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2.25%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추가 검출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실시간 투시 음성 증례 중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요약: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혈관내 주입은 흡인으로 배제되지 않으며, 실시간 투시로도 3–4건 중 1건을 놓친다.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 경막외 확산과 동시에 일어날 때 검출력이 가장 낮다는 점이 특히 위험하다.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경막하 주입 (Subdural) — 가장 속기 쉬운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85272" y="365760"/>
            <a:ext cx="603503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5272" y="365760"/>
            <a:ext cx="60350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경막하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경막하 AP — 좌우대칭 선상 음영 "railroad / tram track", 다분절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G2 · Fluoroscopic Subdural Contrast Flow Pattern in the Lumbar Spine, Pain Med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04_subdural_ap.jpg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2836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436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436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경막하 측면 — 진하고 오래 잔류, 신경근 곁가지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436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G6 · Inadvertent Subdural Injection during Cervical TFESI (PMC3893774, CC BY)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436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05_subdural_lat.jpg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CF4F2"/>
          </a:solidFill>
          <a:ln w="12700">
            <a:solidFill>
              <a:srgbClr val="E7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03A2E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AP: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좌우 대칭의 가늘고 긴 선상 음영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같은 용량으로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훨씬 여러 분절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두측 확산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신경근 곁가지가 없다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 — 결정적 차이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CSF에 희석 안 돼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더 진하고 더 오래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남음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빈도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0.8–1.6%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드물지 않다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경막하 주입이 위험한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36631" y="365760"/>
            <a:ext cx="1152144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6631" y="365760"/>
            <a:ext cx="11521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경막하 · 임상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경막과 지주막 사이의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잠재적 공간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에 약물이 갇힌다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예상보다 광범위한 차단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 — 소량으로도 여러 분절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지연성 발현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 — 주입 직후가 아니라 15–30분 뒤 나타날 수 있다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감각·운동 차단, 신경 자극 증상, 자율신경 반응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드물게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호흡마비 · 혈역학 불안정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까지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배측에 국한된 경우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AP에서 </a:t>
            </a:r>
            <a:r>
              <a:rPr sz="1269" b="1" i="0">
                <a:solidFill>
                  <a:srgbClr val="1A202C"/>
                </a:solidFill>
                <a:latin typeface="NanumGothic"/>
                <a:ea typeface="NanumGothic"/>
              </a:rPr>
              <a:t>경계가 뚜렷한 둥근 덩어리</a:t>
            </a:r>
            <a:r>
              <a:rPr sz="1269" b="0" i="0">
                <a:solidFill>
                  <a:srgbClr val="1A202C"/>
                </a:solidFill>
                <a:latin typeface="NanumGothic"/>
                <a:ea typeface="NanumGothic"/>
              </a:rPr>
              <a:t> 모양 — 경막층이 갈라지지 않은 형태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종괴 효과로 </a:t>
            </a:r>
            <a:r>
              <a:rPr sz="1269" b="1" i="0">
                <a:solidFill>
                  <a:srgbClr val="B03A2E"/>
                </a:solidFill>
                <a:latin typeface="NanumGothic"/>
                <a:ea typeface="NanumGothic"/>
              </a:rPr>
              <a:t>신경 압박</a:t>
            </a:r>
            <a:r>
              <a:rPr sz="1269" b="0" i="0">
                <a:solidFill>
                  <a:srgbClr val="B03A2E"/>
                </a:solidFill>
                <a:latin typeface="NanumGothic"/>
                <a:ea typeface="NanumGothic"/>
              </a:rPr>
              <a:t>을 일으킬 수 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FD3E6"/>
                </a:solidFill>
                <a:latin typeface="NanumGothic"/>
                <a:ea typeface="NanumGothic"/>
              </a:rPr>
              <a:t>발견했다면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즉시 주입 중단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바늘 제거 후 관찰 — 지연성 발현 가능성 때문에 조기 귀가 금지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활력징후 · 호흡 · 운동 감각 연속 감시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그날은 재시도하지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지주막하 주입 (Subarachnoid / Intrathecal)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5543" y="365760"/>
            <a:ext cx="713232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5543" y="365760"/>
            <a:ext cx="7132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지주막하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178040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지주막하 — 척수조영(myelogram) 양상, 정중 대칭, CSF에 희석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G8 · Contrast mimicking SAH after lumbar percutaneous epidural neuroplasty (PMC3637364)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06_intrathecal.jpg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CF4F2"/>
          </a:solidFill>
          <a:ln w="12700">
            <a:solidFill>
              <a:srgbClr val="E7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03A2E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척수조영술 양상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경막낭을 채운다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정중부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좌우 대칭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, CSF에 빠르게 희석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lamina 내측연 음영 없음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 — 감별점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신경근이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음영결손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으로 드러남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빈도 최대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1.2%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 · 마미증후군·지주막염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Okada 후경막강 주입 — 가짜 LOR의 결과물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Okada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178040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Okada 후경막강 — 황색인대 배측, 후관절로 역류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G4 · Contrast flow pattern in the space of Okada (PMC11646783)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07_okada.jpg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CF4F2"/>
          </a:solidFill>
          <a:ln w="12700">
            <a:solidFill>
              <a:srgbClr val="E7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03A2E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초기엔 경막외와 유사해 보인다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후관절로 역류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·인접 분절로 새는 양상이 단서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종축 확산도 신경근 곁가지도 없다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1F6E70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lateral/CLO에서 황색인대 배측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임이 확인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위험인자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퇴행성 후관절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 · AP 단독 판독 금물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근육·연부조직 / 후관절내 주입 — 퍼지지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⑤⑥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36631" y="365760"/>
            <a:ext cx="1152144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6631" y="365760"/>
            <a:ext cx="11521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연부조직·후관절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근육·연부조직 — 무정형 얼룩(blush), 확산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G3 · ECR 2015 전자포스터 C-1816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08_muscle_softtissue.jpg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2836" y="1371600"/>
            <a:ext cx="3506724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436" y="260604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436" y="297180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후관절내 — 관절 윤곽을 그리는 국한된 조영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436" y="3977640"/>
            <a:ext cx="30495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B10 · Inadvertent Intrafacet Injection during Lumbar ILESI, AJNR 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436" y="4983480"/>
            <a:ext cx="30495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09_facet.jpg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근육·연부조직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국소 무정형 얼룩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6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986" b="0" i="0">
                <a:solidFill>
                  <a:srgbClr val="1A202C"/>
                </a:solidFill>
                <a:latin typeface="NanumGothic"/>
                <a:ea typeface="NanumGothic"/>
              </a:rPr>
              <a:t>조직면 따라 </a:t>
            </a:r>
            <a:r>
              <a:rPr sz="986" b="1" i="0">
                <a:solidFill>
                  <a:srgbClr val="1A202C"/>
                </a:solidFill>
                <a:latin typeface="NanumGothic"/>
                <a:ea typeface="NanumGothic"/>
              </a:rPr>
              <a:t>깃털·줄무늬</a:t>
            </a:r>
            <a:r>
              <a:rPr sz="986" b="0" i="0">
                <a:solidFill>
                  <a:srgbClr val="1A202C"/>
                </a:solidFill>
                <a:latin typeface="NanumGothic"/>
                <a:ea typeface="NanumGothic"/>
              </a:rPr>
              <a:t>. 바늘이 얕거나 외측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후관절내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관절낭 모양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의 국한된 조영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6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986" b="0" i="0">
                <a:solidFill>
                  <a:srgbClr val="1A202C"/>
                </a:solidFill>
                <a:latin typeface="NanumGothic"/>
                <a:ea typeface="NanumGothic"/>
              </a:rPr>
              <a:t>통상 투시가 CT 투시보다 더 흔하다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공통점: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확산이 없다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 → 재위치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유착 · 편측 · 국소화 — 실패인 동시에 진단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실패 패턴 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유착·편측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178040" cy="4526280"/>
          </a:xfrm>
          <a:prstGeom prst="rect">
            <a:avLst/>
          </a:prstGeom>
          <a:solidFill>
            <a:srgbClr val="F4F7F5"/>
          </a:solidFill>
          <a:ln w="20320">
            <a:solidFill>
              <a:srgbClr val="BCCA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A9A94"/>
                </a:solidFill>
                <a:latin typeface="NanumGothic"/>
                <a:ea typeface="NanumGothic"/>
              </a:rPr>
              <a:t>실제 임상 사진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유착 / filling defect — 편측 확산, 분절 결손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1" i="0">
                <a:solidFill>
                  <a:srgbClr val="1F6E70"/>
                </a:solidFill>
                <a:latin typeface="NanumGothic"/>
                <a:ea typeface="NanumGothic"/>
              </a:rPr>
              <a:t>출처 후보 · L1 · Clinical Significance of Epidurography Contrast Patterns after Adhesiolysis (PMC5901487)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A94"/>
                </a:solidFill>
                <a:latin typeface="NanumGothic"/>
                <a:ea typeface="NanumGothic"/>
              </a:rPr>
              <a:t>10_adhesion_defect.jpg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364992" cy="4526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판독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29968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한쪽으로만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가거나 분절에서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끊긴다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"크리스마스 트리"의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가지가 결손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된 형태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경막외 </a:t>
            </a:r>
            <a:r>
              <a:rPr sz="1050" b="1" i="0">
                <a:solidFill>
                  <a:srgbClr val="1A202C"/>
                </a:solidFill>
                <a:latin typeface="NanumGothic"/>
                <a:ea typeface="NanumGothic"/>
              </a:rPr>
              <a:t>섬유화·유착</a:t>
            </a: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 — 특히 FBSS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1F6E70"/>
                </a:solidFill>
                <a:latin typeface="NanumGothic"/>
                <a:ea typeface="NanumGothic"/>
              </a:rPr>
              <a:t>●  </a:t>
            </a:r>
            <a:r>
              <a:rPr sz="1050" b="1" i="0">
                <a:solidFill>
                  <a:srgbClr val="1F6E70"/>
                </a:solidFill>
                <a:latin typeface="NanumGothic"/>
                <a:ea typeface="NanumGothic"/>
              </a:rPr>
              <a:t>결손이 증상 분절과 일치</a:t>
            </a:r>
            <a:r>
              <a:rPr sz="1050" b="0" i="0">
                <a:solidFill>
                  <a:srgbClr val="1F6E70"/>
                </a:solidFill>
                <a:latin typeface="NanumGothic"/>
                <a:ea typeface="NanumGothic"/>
              </a:rPr>
              <a:t> → 진단적 가치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56" b="1" i="0">
                <a:solidFill>
                  <a:srgbClr val="B03A2E"/>
                </a:solidFill>
                <a:latin typeface="NanumGothic"/>
                <a:ea typeface="NanumGothic"/>
              </a:rPr>
              <a:t>●  </a:t>
            </a:r>
            <a:r>
              <a:rPr sz="1050" b="0" i="0">
                <a:solidFill>
                  <a:srgbClr val="B03A2E"/>
                </a:solidFill>
                <a:latin typeface="NanumGothic"/>
                <a:ea typeface="NanumGothic"/>
              </a:rPr>
              <a:t>단, 확산 개선이 </a:t>
            </a:r>
            <a:r>
              <a:rPr sz="1050" b="1" i="0">
                <a:solidFill>
                  <a:srgbClr val="B03A2E"/>
                </a:solidFill>
                <a:latin typeface="NanumGothic"/>
                <a:ea typeface="NanumGothic"/>
              </a:rPr>
              <a:t>통증 완화를 보장하진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조영제 패턴 감별표 — 시술대에서 볼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5 · 조영제 판독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56087" y="365760"/>
            <a:ext cx="932688" cy="347472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6087" y="365760"/>
            <a:ext cx="9326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한 장 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424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017520"/>
                <a:gridCol w="3200400"/>
                <a:gridCol w="23317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패턴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AP 소견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결정적 감별점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조치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정상 경막외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종축 확산 + 신경근 곁가지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곁가지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있음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진행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혈관내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가늘게 흐르다 소실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잔류 음영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흡인·재위치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경막하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좌우대칭 선상, 다분절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곁가지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+ 광범위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중단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·관찰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지주막하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정중 대칭, CSF 희석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lamina 내측연 음영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중단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·관찰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Okada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경막외와 유사 가능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lateral/CLO에서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배측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재천자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근육·연부조직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국소 얼룩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확산 없음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재위치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후관절내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관절 윤곽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관절 모양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재위치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유착·편측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분절 결손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결손이 증상과 일치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진단 활용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합병증 — 인지와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6 · 합병증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대응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35640" cy="4181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023360"/>
                <a:gridCol w="41605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합병증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인지 단서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대응</a:t>
                      </a:r>
                    </a:p>
                  </a:txBody>
                  <a:tcPr marL="82296" marR="64008" marT="27432" marB="27432" anchor="ctr">
                    <a:solidFill>
                      <a:srgbClr val="1B355E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경막천자 / PDPH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CSF 역류 · 체위성 두통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보존적 → 혈액봉합술(EBP)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3A2E"/>
                          </a:solidFill>
                          <a:latin typeface="NanumGothic"/>
                          <a:ea typeface="NanumGothic"/>
                        </a:rPr>
                        <a:t>경막외 혈종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시술 후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진행성 하지 마비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·요통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응급 MRI + 신경외과</a:t>
                      </a:r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 — 시간이 예후</a:t>
                      </a:r>
                    </a:p>
                  </a:txBody>
                  <a:tcPr marL="82296" marR="64008" marT="27432" marB="27432" anchor="ctr">
                    <a:solidFill>
                      <a:srgbClr val="FBEAE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경막외 농양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발열 · 국소압통 · 신경증상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영상 + 항생제 ± 배농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척수·신경근 손상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시술 중 </a:t>
                      </a:r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이상감각·심한 통증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즉시 중단 — 깊은 진정 금지의 이유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색전성 경색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입자성 스테로이드 동맥내 주입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비입자성 스테로이드로 예방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기뇌증 · 공기색전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공기 LOR 후 두통·의식저하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공기 최소화 · 식염수 대체</a:t>
                      </a:r>
                    </a:p>
                  </a:txBody>
                  <a:tcPr marL="82296" marR="64008" marT="27432" marB="27432" anchor="ctr">
                    <a:solidFill>
                      <a:srgbClr val="EEF2F6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반점상 차단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미차단 분절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공기량 감소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다학제 합의 — FDA Safe Use Initiative (2015)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6 · 가이드라인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합의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537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FDA Safe Use Initiative + 다학제 전문가 그룹 +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13개 전문학회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협력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71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Rathmell 등, </a:t>
            </a:r>
            <a:r>
              <a:rPr sz="1350" b="0" i="1">
                <a:solidFill>
                  <a:srgbClr val="1A202C"/>
                </a:solidFill>
                <a:latin typeface="NanumGothic"/>
                <a:ea typeface="NanumGothic"/>
              </a:rPr>
              <a:t>Anesthesiology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2015 — 경막외 스테로이드 주입의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신경학적 합병증 예방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 합의 권고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핵심 네 가지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①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영상 유도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 없이 시행하지 않는다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②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조영제 확인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 후에만 스테로이드를 주입한다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③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비입자성 스테로이드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를 우선한다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      –  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④ </a:t>
            </a:r>
            <a:r>
              <a:rPr sz="1269" b="1" i="0">
                <a:solidFill>
                  <a:srgbClr val="2E7D32"/>
                </a:solidFill>
                <a:latin typeface="NanumGothic"/>
                <a:ea typeface="NanumGothic"/>
              </a:rPr>
              <a:t>의사소통 가능한 진정 수준</a:t>
            </a:r>
            <a:r>
              <a:rPr sz="1269" b="0" i="0">
                <a:solidFill>
                  <a:srgbClr val="2E7D32"/>
                </a:solidFill>
                <a:latin typeface="NanumGothic"/>
                <a:ea typeface="NanumGothic"/>
              </a:rPr>
              <a:t>을 유지한다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함께 볼 것: ASRA 항혈전제 가이드라인(2022 2판), WIP Benelux 권고(2018)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05072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BFD3E6"/>
                </a:solidFill>
                <a:latin typeface="NanumGothic"/>
                <a:ea typeface="NanumGothic"/>
              </a:rPr>
              <a:t>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45643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드물지만 뇌졸중·척수 손상 등 치명적 신경 손상이 실제로 발생했다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경추 TF에서 입자성 스테로이드의 추골동맥 분지 주입이 색전성 뇌졸중을 유발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92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100" b="0" i="0">
                <a:solidFill>
                  <a:srgbClr val="FFFFFF"/>
                </a:solidFill>
                <a:latin typeface="NanumGothic"/>
                <a:ea typeface="NanumGothic"/>
              </a:rPr>
              <a:t>이 합의는 사고에서 역산된 권고다 — 그래서 지킬 값어치가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요추 경막외 차단 문헌고찰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Take-home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기억할 여덟 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1 · LOR은 가설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황색인대 정중부 결손(L1–2 22%, L2–5 약 10%)과 Okada 공간 때문에 위양성은 구조적으로 발생한다.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91206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54630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2 · 검증은 조영제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54630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스테로이드 주입 전 실시간 투시 하 조영제 확인은 타협 대상이 아니다.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59836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23260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3 · CLO와 VILL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23260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바늘 깊이를 객관화하는 가장 실용적 도구. lateral보다 우월하다.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28465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91889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4 · 방정중 접근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91889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해부학적으로도, 임상적으로도 유리하다 (복측 확산 89.7% vs 31.7%).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97096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5 · 혈관내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60520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흡인으로 배제되지 않는다. 실시간 투시 민감도 60–71%, DSA가 검출률을 2배로.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665726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629150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6 · 경막하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29150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"railroad track" + 곁가지 없음. 모르면 반드시 속는다. 빈도 0.8–1.6%.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34355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097779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7 · 기본 안전장치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097779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비입자성 스테로이드 + 얕은 진정 + 낮은 분절.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602985"/>
            <a:ext cx="146304" cy="27836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566409"/>
            <a:ext cx="292608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8 · 기술의 방향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566409"/>
            <a:ext cx="7406640" cy="421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장비와 신기술은 모두 주관적 촉감을 객관적 신호로 바꾸는 쪽으로 간다.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주요 참고문헌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7175" y="36576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7175" y="365760"/>
            <a:ext cx="1371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Rathmell JP 등. Safeguards to prevent neurologic complications after epidural steroid injections. Anesthesiology 2015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ASRA. Interventional Spine and Pain Procedures in Patients on Antiplatelet and Anticoagulant Medications, 2nd ed. 2022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Antibas PL 등. Air versus saline in the loss of resistance technique. Cochrane Database Syst Rev 2014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Lirk P 등. Cervical and high thoracic ligamentum flavum frequently fails to fuse in the midline. Anesthesiology 2003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Lirk P 등. Incidence of lower thoracic ligamentum flavum midline gaps. Br J Anaesth 2005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The Incidence of Lumbar Ligamentum Flavum Midline Gaps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Retrodural space of Okada in the posterior ligamentous complex region. 2022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Contrast flow pattern in the space of Okada during interlaminar lumbar epidural injection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Epidural Contrast Patterns and Clinical Implications: An Educational Review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Fluoroscopic Subdural Contrast Flow Pattern in the Lumbar Spine. Pain Med 2018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Gill JS 등. Contralateral oblique view is superior to lateral view for interlaminar epidural access. Pain Med 2015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Novel method for modified interlaminar approach using contralateral oblique view. PLOS One 2021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Ghai B 등. Lateral parasagittal versus midline interlaminar lumbar ESI. Anesth Analg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Comparison between DSA and real-time fluoroscopy to detect intravascular injection. 2014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The rate of detection of intravascular injection with and without DSA. 2009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Accuracy of live fluoroscopy to detect intravascular injection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Identification of the epidural space: is loss of resistance to air a safe technique? 1997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Commonly-used versus less commonly-used methods in the LOR technique: meta-analysis. 2017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Comparison of Epidrum, Epi-Jet, and LOR syringe in obstetric patients. 2017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Identification of the epidural space using pressure waveform analysis (CompuFlo®). 2019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Acoustic puncture assist device (APAD): a novel technique to identify the epidural space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Electrophysiological stimulation (Tsui test) for epidural catheter positioning. 2013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Autofluorescence + fiberoptics for epidural space detection. Sensors 2018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Epidural anesthesia needle guidance by OCT and deep learning. Sci Rep 2022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Systematic Review: Particulate vs Nonparticulate Corticosteroids in Epidural Injections. 2016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Park CH 등. Epidurography Contrast Patterns after Adhesiolysis. Pain Res Manag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PubMed/저널 목록 대조 — 조작 인용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