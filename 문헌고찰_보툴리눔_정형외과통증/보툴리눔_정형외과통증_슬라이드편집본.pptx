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Botulinum Toxin in Orthopedic Pain · 문헌고찰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110578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Noto Sans KR"/>
              </a:rPr>
              <a:t>정형외과 통증과
보툴리눔 톡신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6908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C4E6"/>
                </a:solidFill>
                <a:latin typeface="Noto Sans KR"/>
              </a:rPr>
              <a:t>어디에 듣는가 · 어떻게 놓는가 · 얼마나 · 무엇을 조심하는가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sz="1150" b="1">
                <a:solidFill>
                  <a:srgbClr val="8B7BE8"/>
                </a:solidFill>
                <a:latin typeface="Noto Sans KR"/>
              </a:rPr>
              <a:t>목어깨 · 팔 · 허리 · 엉덩이 · 무릎 · 종아리 · 발 · 수술후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Noto Sans KR"/>
              </a:rPr>
              <a:t>정형외과 통증 · 보툴리눔 톡신 문헌고찰 · 2026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들어가며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이 발표의 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“보톡스가 통증에 듣는다”를 부위별로 검증한다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Safarpour &amp; Jabbari, Toxicon 2018 · 부위별 최신 메타분석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보툴리눔 톡신은 근이완제이면서 동시에 진통제다 — 근력약화 없이도 통증이 주는 현상이 반복 관찰됐다.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그러나 부위마다 근거의 질이 완전히 다르다. 같은 약, 같은 용량이라도 족저근막염은 Level B, 목·어깨 근막통은 임상적 유의성 미달이다.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이 발표는 목에서 발까지 내려가며, 부위마다 ① 근거 → ② 주사기법 → ③ 용량 → ④ 부작용 → ⑤ 회피법 순으로 정리한다.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＊정형외과 통증 대부분에서 보툴리눔은 허가초과(off-label) 사용이다. 국내 급여는 뇌졸중 후 상지경직·경부근긴장이상 등에 한정된다.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285232"/>
            <a:ext cx="2654731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5376672"/>
            <a:ext cx="23986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63A96"/>
                </a:solidFill>
                <a:latin typeface="Noto Sans KR"/>
              </a:rPr>
              <a:t>18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평가된 통증 증후군 (Jabbari 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5285232"/>
            <a:ext cx="2654731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5979" y="5376672"/>
            <a:ext cx="23986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63A96"/>
                </a:solidFill>
                <a:latin typeface="Noto Sans KR"/>
              </a:rPr>
              <a:t>3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Level A 적응증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8999" y="5285232"/>
            <a:ext cx="2654731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015" y="5376672"/>
            <a:ext cx="23986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63A96"/>
                </a:solidFill>
                <a:latin typeface="Noto Sans KR"/>
              </a:rPr>
              <a:t>6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Level B 적응증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035" y="5285232"/>
            <a:ext cx="2654731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051" y="5376672"/>
            <a:ext cx="23986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63A96"/>
                </a:solidFill>
                <a:latin typeface="Noto Sans KR"/>
              </a:rPr>
              <a:t>12–16주</a:t>
            </a:r>
          </a:p>
          <a:p>
            <a:pPr algn="l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1회 효과 지속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기전 ① · 근이완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4023" y="237744"/>
            <a:ext cx="138074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두 갈래 중 첫째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① 근육을 풀어 통증 고리를 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Matak &amp; Lacković 2014 (Prog Neurobiol) · 제품 첨부문서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55A"/>
                </a:solidFill>
                <a:latin typeface="Noto Sans KR"/>
              </a:rPr>
              <a:t>표적은 신경이 아니라 신경-근육 사이의 전달이다 — 자르는 것은 신경이 아니라 SNAP-25라는 단백질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68296"/>
            <a:ext cx="11057839" cy="3621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기전 ② · 직접 진통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4023" y="237744"/>
            <a:ext cx="1380744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두 갈래 중 둘째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② 통증 신호 자체를 줄인다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Mechanisms of BoNT-A action on pain (PMC6723487) · Matak &amp; Lacković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55A"/>
                </a:solidFill>
                <a:latin typeface="Noto Sans KR"/>
              </a:rPr>
              <a:t>보툴리눔의 진통은 근이완의 부산물이 아니다 — 이 두 번째 갈래가 있어야 관절강·근막 주사가 설명된다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68296"/>
            <a:ext cx="11057839" cy="3621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기전 · 임상적 함의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시간표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언제 나타나고 언제 사라지나 — 진료 설계의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제품 첨부문서 · 면역원성 리뷰 · Sitnikova 2024(TMD 2년 추적) · PLOS One 2024(족저근막 12개월)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발현 3–7일 · 최대 2–4주 · 지속 12–16주. 스테로이드처럼 “맞고 바로”가 아니다 → 환자에게 반드시 미리 설명.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진통이 근력약화보다 오래 간다. 근력은 6–8주에 돌아오는데 통증 완화는 12주 이상 가는 경우가 흔하다.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1회로 끝내지 않는다. 자세·작업·근력 같은 근본 부하를 함께 고치지 않으면 3–4개월 뒤 되돌아온다.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재주사는 최소 12주 간격. 3개월 미만 간격·3주 내 보충주사는 중화항체를 만든다.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끊을 수 있는 경우도 있다: 약효가 끝나도 재발하지 않는 환자군이 존재한다 — TMD 근막통은 단일 주사 후 2년까지 통증 감소 유지, 족저근막염은 12개월 기능 개선 유지. 반대로 경직·이긴장증처럼 원인이 계속 남는 병은 평생 반복이 원칙.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＊효과 판정은 4주 시점에 한다. 2주에 “효과 없다”고 판단하면 너무 이르다.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총괄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근거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부위별 근거 수준 — 어디까지 믿을 수 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Safarpour &amp; Jabbari, Toxicon 2018 + 2024–2025 최신 메타분석 갱신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부위 · 질환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근거 수준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핵심 근거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목 · 어깨 — 승모근 근막통증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C (제한적)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MA 7편: 통계적 유의, 임상적 유의성 미달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팔꿈치 — 외측상과염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C (상충)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위약엔 우월, 스테로이드와 대등 · 손가락 약화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허리 — 만성 요통 (방척추근)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Foster 2001 · SR/MA (Eur J Pain 2025)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엉덩이 — 이상근증후군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SR 7편 152명 · Fishman 2002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무릎 — 관절강내 (OA · 인공관절 후)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Singh 2010 · IA 메타 6편 348명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종아리 — 근경련 (당뇨병성 신경병증 · 협착)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Restivo 2018 RCT · Park 2017 RCT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발 — 족저근막염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RCT 7편 305명 메타 (PLOS One 2024)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수술후 절개부 신경통 (부위 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외상후신경통 — AAN 기준 effective (Jabbari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40740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A=효과 있음 · B=아마 효과 있음 · C=효과 가능성(AAN 분류) · 목에서 발까지 정렬하고, 부위를 가리지 않는 수술후 신경통을 맨 아래 두었다.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약제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제제·희석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단위(U)는 제품마다 다른 화폐다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제품 간 단위는 상호 교환 불가 — 문헌의 용량은 그 문헌의 제제 기준으로만 읽는다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제제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대표 제품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환산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메모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onabotulinumtoxinA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Botox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 (기준)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대부분 통증 문헌의 기준 단위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abobotulinumtoxinA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Dysport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2.5–3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문헌마다 비율 상이 — 기계적 환산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incobotulinumtoxinA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Xeomin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≈1 : 1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복합단백 없음 → 항체 위험 낮음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국내 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Botulax · Nabota · Coretox 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≈1 : 1 (표기상)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단위당 신경독소량은 제품별로 다름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16382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희석: 100 U + 생리식염수 2 mL = 5 U/0.1 mL가 표준 · 정밀 표적은 1 mL(고농도·소용적) · 희석을 늘릴수록 옆 근육이 약해진다.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승모근 · 근막통증 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긍정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Göbel 2006 — 가장 강한 긍정 RCT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Göbel H et al. Pain 2006;125:82-88 (Dysport Myofascial Pain Study Group)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대상: 상부 등·어깨 근막통증증후군(활성 유발점 보유) 환자를 위약과 비교한 다기관 이중맹검 RCT.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방법: Dysport 총 400 U를 최대 10개 유발점에 분할(한 점당 약 40 U) 1회 주사.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결과: 위약 대비 5주 시점 통증 없음/경미 비율이 유의하게 높았고 효과는 8주까지 유지.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핵심 조건 — “활성 유발점을 정확히 찌른 경우”. 같은 해 별도 논평에서 주사 정확도가 결과를 갈랐다는 지적이 나왔다.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왜 이 연구가 중요한가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근막통에서 충분한 용량을 쓴 몇 안 되는 RCT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음성 연구들은 대개 5 U/유발점 수준의 소량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2E6B3E"/>
                </a:solidFill>
                <a:latin typeface="Noto Sans KR"/>
              </a:rPr>
              <a:t>→ → 용량과 표적 정확도가 결과를 뒤집는다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A8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승모근 · 근막통증 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A8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반대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그런데 메타분석은 “권고할 수 없다”고 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Int J Rehabil Res 2025 (PMID 40237694) · Leonardi, Eur J Pain 2024 · Soares, Cochrane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2025 메타분석(RCT 7편 261명): 위약 대비 통합 평균차 −10.22 (0–100 척도).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통계적으로 유의하나 임상적으로는 미달. 저자 결론 — “권고할 수 없다”(근거 질 moderate).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Ojala 2006: 유발점당 5 U 소량 → 개선 없음. Cochrane(2014): 근거 불충분.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Leonardi 2024 SR(10편 651명): 결과 혼재 — 중등도–중증 + 활성 유발점에는 신중히 고려 가능.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정리: 1차 치료 아님. 운동·자세교정·유발점주사·건식침이 실패한 뒤의 선택지다.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용량이 갈림길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20–400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문헌들의 용량 범위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5 U/점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음성 연구의 전형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40 U/점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Göbel 양성 연구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−10 / 100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메타분석 효과크기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승모근 ③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승모근에 놓는 법 — 5점법과 흉막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Jiang 2021 (J Orthop Surg Res, 초음파 5점법) · 유발점 주사 기흉 증례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55A"/>
                </a:solidFill>
                <a:latin typeface="Noto Sans KR"/>
              </a:rPr>
              <a:t>승모근은 얇고 그 아래가 바로 흉곽이다 — 정확도(효과)와 깊이(안전)를 동시에 잡는 유일한 방법이 초음파다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68296"/>
            <a:ext cx="11057839" cy="3621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승모근 ④ · 용량과 안전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0639" y="237744"/>
            <a:ext cx="1024128" cy="274320"/>
          </a:xfrm>
          <a:prstGeom prst="roundRect">
            <a:avLst>
              <a:gd name="adj" fmla="val 28000"/>
            </a:avLst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용량·부작용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얼마나 놓고, 무엇이 생기고, 어떻게 피하나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Kapoor 2025 (승모근 계통적 리뷰) · 제품 안전성 정보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용량: 한쪽 50–100 U(onabot 기준)를 3–5점 분할. 한쪽 어깨 100 U를 넘기지 않는다.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가장 흔한 부작용: 승모근 경도 근력약화 — 계통적 리뷰에서 약 10.7%, 대개 1–3개월 내 회복.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드물지만 중요한 것: 심부 확산 시 목 신전근 약화(두부하수)·연하곤란, 반복 주사 시 승모근 위축과 어깨 윤곽 변화.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회피: 표재성·정해진 5점·고농도 소용적·짧은 바늘·집게로 근육 들기·경부 심층(견갑거근/사각근) 동시 고용량 회피.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설명해야 할 것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“어깨가 가벼워지지만 무거운 것을 들 때 힘이 덜 들어갈 수 있다”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미용 목적 승모근 축소와 통증 치료는 용량·목표가 다르다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A8352A"/>
                </a:solidFill>
                <a:latin typeface="Noto Sans KR"/>
              </a:rPr>
              <a:t>→ 삼킴·숨쉬기 이상은 즉시 연락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어깨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혼재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어깨 — 표적을 어디로 잡느냐가 결과를 갈랐다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Stroke 2021 (견갑하근 RCT) · Toxins 2023 (대흉근+견갑하근 RCT) · 만성 어깨통증 메타분석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견갑하근 표적(Stroke 2021, n=36): 초음파 유도 견갑하근 주사가 편마비성 어깨통증을 유의하게 감소시켰다.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대흉근+견갑하근(Dysport 200 U): 통증은 줄었으나 통계적 유의성에는 이르지 못했다.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메타분석(만성 어깨통증): 관절강내·근육내 주사 모두에서 통증 개선 보고 — 다만 이질성이 크다.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임상 해석: 어깨는 내회전 구축을 만드는 견갑하근이 핵심 표적이다. “아픈 곳”이 아니라 “당기는 근육”을 겨냥한다.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유착성 관절낭염(오십견) 자체에 대한 근거는 아직 약하다 — 관절낭 문제이지 근육 문제가 아니기 때문.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어깨 주사 시 주의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A8352A"/>
                </a:solidFill>
                <a:latin typeface="Noto Sans KR"/>
              </a:rPr>
              <a:t>· 견갑하근은 흉벽에 접해 있다 → 초음파 필수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삼각근 확산 시 거상 근력 저하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33355A"/>
                </a:solidFill>
                <a:latin typeface="Noto Sans KR"/>
              </a:rPr>
              <a:t>→ 재활(스트레칭·자세)과 반드시 병행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· 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0639" y="237744"/>
            <a:ext cx="1024128" cy="274320"/>
          </a:xfrm>
          <a:prstGeom prst="roundRect">
            <a:avLst>
              <a:gd name="adj" fmla="val 28000"/>
            </a:avLst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감별이 먼저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“팔에 쥐가 난다” — 원인마다 표적이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“쥐가 난다”는 호소는 최소 6가지 서로 다른 병태를 포함한다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임상 유형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무엇이 문제인가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보툴리눔 표적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근거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진성 근경련 (cramp)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말초 운동신경 과흥분·자발발화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경련 나는 근육 자체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 (RCT)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경직 (뇌졸중·척수손상 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상위운동신경 손상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주동 굴곡근군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A · 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국소 이긴장증 (서경 등)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작업 특이적 이상 동시수축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해당 전완근 (EMG 유도)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표준치료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흉곽출구증후군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사각근·소흉근에 의한 압박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전·중사각근, 소흉근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U (RCT 음성)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근막통증 (전완 신전근)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유발점·건부착부 과부하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ECRB/EDC 근복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C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대사·전해질·약물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탈수·이뇨제·statin·투석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해당 없음 — 원인 교정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—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785616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＊빨간 칸을 먼저 배제하지 않으면 다른 모든 치료가 헛돈다. 경추 신경근증·다발신경병증도 동일하게 선행 감별.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① · 진성 근경련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68535" y="237744"/>
            <a:ext cx="1856232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 · RCT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Restivo 2018 — 경련에 대한 가장 좋은 직접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Restivo DA et al. Ann Neurol 2018 (PMID 30225985) · Bertolasi 1997 (경련-근속연축 증후군)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대상: 약물 불응성 종아리·발 경련을 가진 당뇨병성 말초신경병증 50명, 무작위 이중맹검 위약대조.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방법: 각 측 비복근 100 U 또는 발 소근육 30 U 주사 (onabot 기준), 위약은 생리식염수.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결과: 통증 강도(1차 결과)·경련 빈도 모두 위약 대비 유의 개선. 1주부터 나타나 14주까지 지속, 20주 추적.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팔에도 적용되는 논리: 경련의 발화점은 근육 끝의 말초 운동신경 종말 — 부위와 무관하게 같은 표적이다.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＊단, 상지 경련에 대한 전용 RCT는 없다. 하지 근거의 외삽이며 저용량부터 시작한다.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경련 계열 근거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n=50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Restivo 2018 RCT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1–14주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효과 발현–지속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100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비복근 · 한쪽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30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발 소근육 · 한쪽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② · 경직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87407" y="237744"/>
            <a:ext cx="173736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A · 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뇌졸중 후 상지 경직 — 유일하게 급여되는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onabotA 400 U 상지경직 RCT · 국내 급여기준(뇌졸중 후 상지경직) 고시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표적: 팔꿈치 굴곡(상완이두근·상완근·상완요골근), 손목·손가락 굴곡(FCR·FCU·FDS·FDP), 엄지 내전근.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용량: 성인 상지 총 300–400 U(onabot)까지 RCT로 검증 — 400 U군이 240 U군보다 팔꿈치 굴곡근 긴장 감소가 컸다.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국내 급여: 뇌졸중 발병 3년 내 상지 경직(어깨 제외), MAS 2–3등급. 1회 최대 300 U, 최소 3개월 간격, 3년 내 최대 6회.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주의: 소아 경직 치료에서 확산에 의한 전신 증상 보고가 가장 많다(FDA 박스경고). 체중당 용량 준수.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유도 방법의 가치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전완근은 작고 겹쳐 있다 — 촉진만으로는 부정확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초음파 · 전기자극 · EMG 중 하나는 필수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A8352A"/>
                </a:solidFill>
                <a:latin typeface="Noto Sans KR"/>
              </a:rPr>
              <a:t>→ 비표적 근육 약화가 이 영역 실패의 1위 원인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③ · 흉곽출구증후군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25151" y="237744"/>
            <a:ext cx="1499616" cy="274320"/>
          </a:xfrm>
          <a:prstGeom prst="roundRect">
            <a:avLst>
              <a:gd name="adj" fmla="val 28000"/>
            </a:avLst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U · RCT 음성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사각근 주사 — 해부는 명확한데 근거는 그렇지 않다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증례군: 64%에서 50%↑ 증상 감소·평균 88일 · Finlayson 2011 RCT(n=38): 6주 VAS 위약 대비 차이 없음(P=.36)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④ · 국소 이긴장증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표준치료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81A2E"/>
                </a:solidFill>
                <a:latin typeface="Noto Sans KR"/>
              </a:rPr>
              <a:t>서경(writer’s cramp) — “쥐”라 부르지만 이긴장증이다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Focal hand dystonia 계통적 리뷰 · 유도법 비교 연구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양상: 글씨·악기 등 특정 동작에서만 손·전완이 굳는다. 진성 경련과 달리 쉬면 풀리고 통증은 부수적.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효과: 대조연구 통합 139명에서 약 73%가 호전 — 이 영역의 1차 치료다.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한계: 효과를 제한하는 것은 언제나 비표적 근육의 약화. 전완근은 작고 층층이 겹친다.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기법: 표적근을 EMG(수의수축 중 신호) 또는 전기자극으로 확정한 뒤 소량 주사. 표면 해부학만으로는 부정확.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저용량에서 시작해 4주 뒤 반응을 보고 증량하는 것이 원칙 — 처음부터 충분히 넣지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유도법 비교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촉진만: 전완 심층근 부정확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전기자극: 표적 확인 직관적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EMG: 이상 동시수축 근육 특정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33355A"/>
                </a:solidFill>
                <a:latin typeface="Noto Sans KR"/>
              </a:rPr>
              <a:t>→ 초음파 병용이 가장 안전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⑤ · 외측상과염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87407" y="237744"/>
            <a:ext cx="1737360" cy="274320"/>
          </a:xfrm>
          <a:prstGeom prst="roundRect">
            <a:avLst>
              <a:gd name="adj" fmla="val 28000"/>
            </a:avLst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C · 상충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테니스엘보 — 듣기는 하는데, 손가락 힘을 대가로 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Wong 2005 (PMID 16330790) · Placzek 2007 (PMID 17272437) · Espandar 2010 (PMID 20421357) · 메타분석 2021–2024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Wong 2005(n=60): Botox 60 U 단일 주사 → 4주·12주 통증 유의 감소. 단 손가락 신전 약화 발생.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Placzek 2007·Espandar 2010: 위약 대비 개선 확인 — 해부학적 계측 주사로 16주까지 감소.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메타분석: 위약보다 우월(최대 16주) · 스테로이드는 2–4주 우월, 12주 후 대등 · 용량 20–60 U.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대가: 2–4주 악력 저하(고용량 8–12주). 손 쓰는 직업이면 사실상 금기에 가깝다.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언제 고려하나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6개월 이상 지속 · 스테로이드 실패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수술을 미루고 싶은 환자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악력 저하를 감수할 수 있는 생활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A8352A"/>
                </a:solidFill>
                <a:latin typeface="Noto Sans KR"/>
              </a:rPr>
              <a:t>→ 연주자·조리사·미용사 → 신중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팔 ⑥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외측상과염 — 건이 아니라 근복에 놓는다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건 부착부(enthesis)가 아닌 ECRB/EDC 근복이 표적 — 건 내 주입은 이론적 이득이 없고 손상 위험만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허리 ① · 만성 요통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Foster 2001 — 방척추근 주사가 요통을 줄였다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Foster L et al. Neurology 2001;56:1290-3 (PMID 11376175) · Wagrees, Eur J Pain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방법: 만성 요통 31명 이중맹검 — Botox 200 U를 통증 심한 쪽 방척추 5레벨에 40 U씩.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결과: 3주 ≥50% 완화 73.3% vs 25%, 8주 Oswestry 기능장애도 유의 개선.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2025 SR/MA: 대조 대비 통증·기능 유의 개선, 중대 부작용 없음 — Level B 재확인.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표적이 관건: 방척추근 외에 요방형근·이상근이 진짜 발생원일 수 있다 — 먼저 확인.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＊구조적 원인(추간판·협착)은 해결되지 않는다. 근육성 요통이 표적이다.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Foster 2001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73.3%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BTX군 · 3주 ≥50% 완화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25%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위약군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200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총 용량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40 U × 5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레벨당 용량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허리 ②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요추 방척추 주사 — 5레벨 · 한쪽 · 40 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Foster 2001 프로토콜 · 흉추로 올라갈수록 기흉 위험이 커진다 — 흉추 레벨은 초음파 없이는 피한다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엉덩이 · 이상근증후군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이상근증후군 — 스테로이드보다 나은 몇 안 되는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Fishman LM et al. 2002 (PMID 12362115) · SR: J Clin Orthop Trauma 2022 (PMC9294329)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Fishman 2002: BTX-A 100 U군에서 50% 이상 통증 개선 65%, 트리암시놀론+리도카인군 32%.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계통적 리뷰(7편 152명): RCT 3편 포함, 용량 100–300 U, 근거 질 fair, 안전성 양호.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왜 듣나: 이상근의 지속 수축이 좌골신경을 누르고, 그 통증이 다시 수축을 부른다 — 그 고리를 끊는다.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필수 조건: 이상근은 깊고 좌골신경이 바로 아래(또는 관통)를 지난다. 영상 유도 없는 맹목 주사는 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Fishman 2002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65%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BTX군 ≥50% 개선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32%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스테로이드+리도카인군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100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사용 용량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100–300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문헌 전체 범위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엉덩이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이상근 — 신경을 먼저 찾고, 그 다음에 근육을 찌른다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초음파·투시·EMG 중 하나는 필수 · 대둔근에만 들어가면 무효, 신경 내로 들어가면 손상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무릎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무릎 — 근육이 아니라 관절강에 놓는다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IA BoNT-A 메타분석 (Toxicon 2023·2024) · Singh JA, J Rheumatol 2010 · Singer BJ, Br J Sports Med 2011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관절강내(무릎 OA): 메타분석 6편 348명 — 히알루론산보다 우수, 스테로이드와 대등·안전성 우위.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용량: 관절강내 100 U 단회 — 소규모 RCT 3편에서 단기 개선.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TKA 후 난치성 통증(Singh 2010): 관절강내 주사로 유의 개선 — 수술로 더 할 게 없는 환자의 선택지.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전방 슬관절통(Singer): 원위 외측광근 주사 + 운동 → 개선(“비수술적 외측 유리술”).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＊작용 기전은 근이완이 아니라 관절 내 통각 종말 억제다.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무릎 요약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100 U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관절강내 표준 용량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6편 348명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IA 메타분석 규모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&gt; HA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히알루론산 대비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700" b="1">
                <a:solidFill>
                  <a:srgbClr val="463A96"/>
                </a:solidFill>
                <a:latin typeface="Noto Sans KR"/>
              </a:rPr>
              <a:t>≈ 스테로이드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효과는 대등·안전성 우위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종아리 ① · 야간 경련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68535" y="237744"/>
            <a:ext cx="1856232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 · RCT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Park 2017 — 요추관협착 동반 야간 종아리경련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Park 2017, Arch Phys Med Rehabil (PMID 28209505)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대상: 요추관협착증에 동반된 야간 종아리 경련 환자 50명, 무작위 배정.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비교: 비복근 BTX-A 주사 vs gabapentin 경구.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결과: 전 추적 시점에서 통증·경련 빈도·강도 모두 유의 감소(P&lt;0.01) — 주사 계열 중 근거 수준이 가장 높다.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임상적 의미: 경구약 부작용(졸림·어지럼)을 피하고 싶은 고령 환자에서 특히 매력적인 대안.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단점 — 고가, 3–4개월마다 반복, 그리고 족저굴곡 근력약화. 낙상 위험군에서는 감량하거나 피한다.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종아리 경련 근거 정리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2E6B3E"/>
                </a:solidFill>
                <a:latin typeface="Noto Sans KR"/>
              </a:rPr>
              <a:t>· Park 2017: 협착 동반 야간경련 RCT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2E6B3E"/>
                </a:solidFill>
                <a:latin typeface="Noto Sans KR"/>
              </a:rPr>
              <a:t>· Restivo 2018: 당뇨 신경병증 경련 RCT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Bertolasi 1997: 경련-근속연축 증후군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33355A"/>
                </a:solidFill>
                <a:latin typeface="Noto Sans KR"/>
              </a:rPr>
              <a:t>→ → 원인이 달라도 비복근 표적은 공통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종아리 ② · 운동유발 통증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B0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탐색적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만성 운동유발 구획증후군 — 수술 대신 화학적 감압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Isner-Horobeti M-E et al. Am J Sports Med 2013 · 상·하지 16례 후향 연구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발상: 근막을 절개(근막절개술)하는 대신 근육 부피를 줄여 구획내압을 낮춘다.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Isner-Horobeti 2013: 전방·전외측 구획증후군 환자에서 주사 후 구획내압이 유의하게 감소하고 통증이 소실.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용량 예: 한 다리 총 150 U를 내측 비복근·외측 비복근·외측 구획에 50 U씩 분할(100 U/mL 고농도).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한계: 후속 16례 보고에서는 초기 호전 후 재발이 흔했다 — 특히 부분 반응군. 근거는 증례 수준.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33355A"/>
                </a:solidFill>
                <a:latin typeface="Noto Sans KR"/>
              </a:rPr>
              <a:t>→ 운동선수에게는 근력 저하가 곧 경기력 저하다. 시즌 중 사용은 신중히.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이 영역의 위치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수술을 피하고 싶은 환자의 가교 치료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33355A"/>
                </a:solidFill>
                <a:latin typeface="Noto Sans KR"/>
              </a:rPr>
              <a:t>· 진단적 가치도 있음(압력↓ = 기전 확인)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A8352A"/>
                </a:solidFill>
                <a:latin typeface="Noto Sans KR"/>
              </a:rPr>
              <a:t>→ RCT 없음 → 연구·개별 동의 틀 안에서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종아리 ③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비복근 — 어디에, 얼마나, 무엇을 피하며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근복 중앙·다점 분할이 원칙 · 깊게 들어가면 경골신경, 외측으로 치우치면 총비골신경(족하수)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발 · 족저근막염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족저근막염 — 정형외과 통증 중 근거가 가장 단단한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PLOS One 2024 메타분석 · Arch Phys Med Rehabil 2021 (PMID 34688605) · Elizondo-Rodriguez, Foot Ankle 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6358257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메타분석(RCT 7편 305명, 2024): 1개월 시점 통증 유의 감소, 12개월까지 기능 개선 유지, 부작용은 대조군과 차이 없음.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2021 Arch Phys Med Rehabil 메타: 0–6개월 통증 강도 유의 감소.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스테로이드 비교: 초기엔 비슷하나 6개월 시점에서는 보툴리눔이 우수 — 근막 파열 위험도 없다.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용량-반응이 단조롭지 않다: 200 U 고용량 연구는 효과가 거의 없었다 — 70 U 전후가 재현 구간.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26353" y="1499616"/>
            <a:ext cx="4498413" cy="4581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0945" y="1645920"/>
            <a:ext cx="4169229" cy="428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63A96"/>
                </a:solidFill>
                <a:latin typeface="Noto Sans KR"/>
              </a:rPr>
              <a:t>왜 스테로이드보다 나은가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A8352A"/>
                </a:solidFill>
                <a:latin typeface="Noto Sans KR"/>
              </a:rPr>
              <a:t>· 스테로이드: 근막 파열·지방패드 위축 위험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2E6B3E"/>
                </a:solidFill>
                <a:latin typeface="Noto Sans KR"/>
              </a:rPr>
              <a:t>· 보툴리눔: 구조 손상 보고 없음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0">
                <a:solidFill>
                  <a:srgbClr val="2E6B3E"/>
                </a:solidFill>
                <a:latin typeface="Noto Sans KR"/>
              </a:rPr>
              <a:t>· 효과 지속 더 김 (6개월 비교 우위)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050" b="1">
                <a:solidFill>
                  <a:srgbClr val="33355A"/>
                </a:solidFill>
                <a:latin typeface="Noto Sans KR"/>
              </a:rPr>
              <a:t>→ 단점 — 비용·발현 지연(1–2주)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발 · 주사기법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술기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족저근막 2점법 — 그리고 종아리라는 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Babcock 2005 (Am J Phys Med Rehabil) 2점법 · 비복근 내측두 접근은 “근막을 당기는 원인”을 겨냥한 변형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11057839" cy="4489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수술후 · 절개부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81767" y="237744"/>
            <a:ext cx="1143000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Level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수술후 절개부 신경통 — 우리가 만든 통증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Safarpour &amp; Jabbari, Toxicon 2018 · 절단 후 통증 SR · Arch Phys Med Rehabil 2025 (신경종 주위 주사)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왜 맨 마지막인가: 이것만 부위가 아니라 원인으로 묶인다 — 절개·견인·금속물 주변에서 생기는 외상후 신경통.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근거는 이 발표에서 가장 높다: 외상후신경통은 AAN 기준 Level A(효과 있음). 수술 절개부 신경통이 그 하위 범주다.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주사법이 완전히 다르다: 근육이 아니라 통증 부위 피내·피하에 격자로 소량 분할 — 2.5–5 U씩 1–2 cm 간격, 총 50–100 U.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절단 후 통증: 잔단통은 6개월 개선, 환상통은 변화 없음 — 표적이 말초임을 보여준다. 신경종 주위 주사는 1개월 시점 개선 보고.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안 되는 것: 복합부위통증증후군(CRPS)·수근관증후군은 근거 불충분 — 특히 수근관은 부정적 결과가 많다.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그 밖의 부위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확장 적응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문의가 많은 나머지 부위들 — 한 장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각 항목의 상세는 참고문헌 슬라이드 참조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부위 · 질환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표적 · 용량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근거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한 줄 평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턱관절 · 저작근 근막통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교근 25–50 U, 측두근 10–25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B–C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효과 명확, 반복 시 교근 위축·저작곤란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경추성 두통 · 후두신경통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후경부 근육 ~100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소규모 RCT 혼재 · 만성편두통과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레이노 · 수지 허혈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한 손 50–100 U (원위 수장부)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C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통증·궤양 치유엔 유망 · 총 50 U 이하면 약화 거의 없음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천장관절 · 후관절 통증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관절내 25–100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증례군 수준 — 표준치료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대전자 통증증후군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중둔근 주변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없음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직접 근거 부재 — 권고 불가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7472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＊근거가 없다와 효과가 없다는 다르지만, 설명·동의·비용의 기준은 “근거가 없다” 쪽에 맞춘다.
＊수근관증후군은 뺐다 — 부정적 결과가 많아 권할 자리가 아니다(30쪽에 한 줄로만 남김).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용량 · 총정리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25151" y="237744"/>
            <a:ext cx="1499616" cy="274320"/>
          </a:xfrm>
          <a:prstGeom prst="roundRect">
            <a:avLst>
              <a:gd name="adj" fmla="val 28000"/>
            </a:avLst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onabotA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한 장으로 보는 부위별 용량표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각 부위 근거 문헌의 용량을 onabotulinumtoxinA 단위로 정리 — Dysport는 2.5–3배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부위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총 용량 (한쪽)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분할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희석 · 바늘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상부 승모근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50–100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3–5점 (10–20 U/점)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 mL · 27G 13 mm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전·중 사각근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25–75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1–2점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 mL · 25–27G · 초음파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견갑하근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~100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2–3점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 mL · 장침 + 초음파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ECRB/EDC (테니스엘보)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20–60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1–2점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 mL · 27G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요추 방척추근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200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5레벨 × 40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2–4 mL · 25G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이상근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100–200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1–2점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 mL · 장침 + 영상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비복근 (경련)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100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4–6점 (내·외측두)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1–2 mL · 27G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족저근막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70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40 U 종골내측 + 30 U 족궁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 mL · 25–27G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무릎 관절강내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100 U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단회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2 mL · 21–23G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71830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세션 총량 ≤400 U / 12주(성인 통상) · 소아·저체중·근감소증 고령자는 체중당 환산 · 한 점에 50 U를 넘기지 않는다.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A8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부작용 · 총정리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A83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안전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무엇이, 얼마나 자주, 어디서 생기나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FDA Boxed Warning (Distant Spread of Toxin Effect) · 부위별 계통적 리뷰 종합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99616"/>
          <a:ext cx="11057839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범주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증상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빈도 · 경과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</a:rPr>
                        <a:t>고위험 부위</a:t>
                      </a:r>
                    </a:p>
                  </a:txBody>
                  <a:tcPr>
                    <a:solidFill>
                      <a:srgbClr val="181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국소 반응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주사부 통증·멍·부종·혈종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흔함 · 수일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모든 부위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전신 경미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감기유사 증상·피로·두통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수 % · 1–2주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고용량 세션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표적근 약화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해당 근육 힘 빠짐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용량 의존 · 4–8주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승모근 약 10.7%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인접근 확산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연하곤란 · 목 신전근 약화 · 발성장애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드묾 · 2–8주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경부(사각근·SCM)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기능적 위해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손가락 신전 약화 / 족저굴곡 약화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용량 의존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전완 · 종아리</a:t>
                      </a:r>
                    </a:p>
                  </a:txBody>
                  <a:tcPr>
                    <a:solidFill>
                      <a:srgbClr val="F4F3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술기 합병증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기흉 · 신경 손상 · 혈관 내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매우 드묾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흉벽 위 · 이상근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전신 확산(박스경고)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전신쇠약 · 복시 · 호흡곤란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매우 드묾 · 수시간~수주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경직 치료(특히 소아)</a:t>
                      </a:r>
                    </a:p>
                  </a:txBody>
                  <a:tcPr>
                    <a:solidFill>
                      <a:srgbClr val="E8E6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면역원성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이차 무반응(효과 소실)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누적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55A"/>
                          </a:solidFill>
                          <a:latin typeface="Noto Sans KR"/>
                        </a:rPr>
                        <a:t>잦은 재주사 · 고용량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40740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463A96"/>
                </a:solidFill>
                <a:latin typeface="Noto Sans KR"/>
              </a:rPr>
              <a:t>＊빨간 칸이 FDA 박스경고 영역 — 삼킴·호흡 곤란은 생명을 위협할 수 있다. “이런 증상이면 즉시 연락”을 문서로 남긴다.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부작용 회피 · 술기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8383" y="237744"/>
            <a:ext cx="786384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3원칙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주사 자체로 막을 수 있는 것 —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희석-확산 연구 (PMID 15545544) · 초음파 유도 안전성 연구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55A"/>
                </a:solidFill>
                <a:latin typeface="Noto Sans KR"/>
              </a:rPr>
              <a:t>부작용의 대부분은 약이 아니라 바늘 끝의 문제다 — 농도, 거리, 각도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68296"/>
            <a:ext cx="11057839" cy="3621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63A96"/>
                </a:solidFill>
                <a:latin typeface="Noto Sans KR"/>
              </a:rPr>
              <a:t>［ 일러스트 ］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000" b="0">
                <a:solidFill>
                  <a:srgbClr val="6B7280"/>
                </a:solidFill>
                <a:latin typeface="Noto Sans KR"/>
              </a:rPr>
              <a:t>이 쪽의 그림은 디자인 덱(웹 HTML · PPTX)에 있습니다.
이 편집본은 글자만 담은 사본입니다.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부작용 회피 ① · 놓기 전에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주사 전에 결정되는 안전 — 6가지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이 여섯 가지가 술기 관련 합병증의 대부분을 차단한다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① 최소 유효 용량에서 시작한다. 과다는 되돌릴 수 없다 — 세션 ≤400 U, 한 점 ≤50 U.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② 고농도·소용적으로 만든다. 표적이 작을수록 희석을 줄인다 — 1 mL/100 U.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③ 유도 장비를 쓴다. 전완·사각근·이상근·견갑하근·심부 경부는 초음파(또는 EMG·전기자극) 없이는 하지 않는다. 촉진은 근육 두께를 알려주지 않는다.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④ 흉벽 위에서는 집게로 들고 접선으로, 13 mm 바늘로. 50–60 mm 바늘은 실시간 유도 없이는 금지 — 기흉의 대부분이 여기서 나온다.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2E6B3E"/>
                </a:solidFill>
                <a:latin typeface="Noto Sans KR"/>
              </a:rPr>
              <a:t>· ⑤ 신경을 먼저 화면에 띄운다. 좌골신경·상완신경총·척골신경을 확인한 뒤 반대편에서 진입. 주입 전 흡인, 이상감각 시 즉시 중단.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⑥ 기저 근력을 숫자로 기록한다. 악력 · 족저굴곡력 · 경부 신전력.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63A96"/>
                </a:solidFill>
                <a:latin typeface="Noto Sans KR"/>
              </a:rPr>
              <a:t>부작용 회피 ② · 환자와 약제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9511" y="237744"/>
            <a:ext cx="905256" cy="274320"/>
          </a:xfrm>
          <a:prstGeom prst="roundRect">
            <a:avLst>
              <a:gd name="adj" fmla="val 28000"/>
            </a:avLst>
          </a:prstGeom>
          <a:solidFill>
            <a:srgbClr val="2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KR"/>
              </a:rPr>
              <a:t>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누구에게 놓지 않을 것인가 — 그리고 그 다음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910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제품 첨부문서 금기·경고 · 면역원성 리뷰 · 신경근접합부 질환 증례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99616"/>
            <a:ext cx="11057839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절대 피한다: 중증근무력증·Lambert-Eaton·ALS 등 신경근접합부 질환, 주사 부위 활동성 감염, 과민반응.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신중히: 임신·수유(안전성 미확립), 아미노글리코사이드·근이완제 병용(효과 증강), 항응고 치료(혈종), 심한 근감소증·낙상 고위험 고령.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A8352A"/>
                </a:solidFill>
                <a:latin typeface="Noto Sans KR"/>
              </a:rPr>
              <a:t>· 부위별 “하지 말 것”: 양측 흉쇄유돌근 동시 고용량(연하곤란), 손 쓰는 직업의 전완 고용량, 보행 불안정 환자의 비복근 고용량(낙상).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항체를 막는 법: 재주사 간격 ≥12주, 3주 내 보충주사 금지, 누적용량 최소화, 필요 시 복합단백 없는 제제 고려.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0">
                <a:solidFill>
                  <a:srgbClr val="33355A"/>
                </a:solidFill>
                <a:latin typeface="Noto Sans KR"/>
              </a:rPr>
              <a:t>· 주사 후: 주사부 문지르지 않기, 당일 격한 운동 회피, 4주 재평가 예약, 삼킴·호흡·복시 시 즉시 연락.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1250" b="1">
                <a:solidFill>
                  <a:srgbClr val="A8352A"/>
                </a:solidFill>
                <a:latin typeface="Noto Sans KR"/>
              </a:rPr>
              <a:t>→ ＊한 번의 “조금 더 넣어달라”가 몇 년치 반응성을 잃게 만들 수 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Clinical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Noto Sans KR"/>
              </a:rPr>
              <a:t>진료에서는 이 순서로 결정한다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1 · 감별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“쥐가 난다·아프다”를 경련 / 경직 / 이긴장증 / 신경포착 / 근막통 / 대사로 먼저 나눈다. 여기서 틀리면 나머지가 다 헛돈다.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4144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2 · 순서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보툴리눔은 2차 이상이다. 운동·자세·부하 교정, 물리치료, 유발점주사·건식침, (필요 시) 스테로이드가 먼저다.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82696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3 · 부위별 기대치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요통·이상근·무릎·경련·족저근막염은 근거를 갖고 권한다. 승모근 근막통·테니스엘보는 “선택지 중 하나”로 설명한다.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23944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4 · 용량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문헌 용량의 하한에서 시작하고 4주에 평가해 올린다. 한 점 ≤50 U, 세션 ≤400 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65192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5 · 안전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흉벽 위·신경 옆은 초음파. 고농도·소용적. 기저 근력 기록. 재주사 ≥12주.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75193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Key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Noto Sans KR"/>
              </a:rPr>
              <a:t>오늘 남길 다섯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002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기전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보툴리눔의 진통은 근이완의 부산물이 아니다 — 통각 종말의 신경펩타이드 방출을 직접 막는다.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4144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가장 강한 곳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근거가 가장 단단한 곳은 수술후 절개부 신경통(A), 그다음 요통·이상근·무릎·경련·족저근막염(B).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82696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가장 약한 곳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가장 흔히 요청받는 승모근 근막통은 메타분석에서 임상적 유의성에 미달했다 — 기대치를 정직하게 낮춰 설명한다.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23944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용량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음성 연구는 대개 용량이 모자랐고, 부작용 연구는 대개 용량이 과했다. 정답은 문헌 용량의 하한에서 시작하는 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65192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7BE8"/>
                </a:solidFill>
                <a:latin typeface="Noto Sans KR"/>
              </a:rPr>
              <a:t>부작용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150" b="0">
                <a:solidFill>
                  <a:srgbClr val="DDDAEE"/>
                </a:solidFill>
                <a:latin typeface="Noto Sans KR"/>
              </a:rPr>
              <a:t>합병증의 대부분은 약제가 아니라 농도·거리·각도에서 온다.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참고문헌 ① — 기전 · 근막통증 · 승모근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Safarpour Y, Jabbari B. Botulinum toxin treatment of pain syndromes — an evidence based review. Toxicon. 2018.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https://pubmed.ncbi.nlm.nih.gov/29409817/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Matak I, Lacković Z. Botulinum toxin A, brain and pain. Prog Neurobiol. 2014.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https://pubmed.ncbi.nlm.nih.gov/24915026/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Mechanisms of botulinum toxin type A action on pain. Toxins. 2019.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https://pmc.ncbi.nlm.nih.gov/articles/PMC6723487/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Göbel H, et al. Dysport for upper back myofascial pain syndrome: multicentre RCT. Pain. 2006;125:82-8.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https://pubmed.ncbi.nlm.nih.gov/16750294/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Ojala T, et al. Small doses of BoNT-A in neck-shoulder myofascial pain: crossover RCT. Clin J Pain. 2006.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https://pubmed.ncbi.nlm.nih.gov/16691083/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5575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Soares A, et al. Botulinum toxin for myofascial pain syndromes in adults. Cochrane. 2014.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https://pubmed.ncbi.nlm.nih.gov/25062018/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Leonardi L, et al. BoNT for upper back myofascial pain syndrome: SR of RCTs. Eur J Pain. 2024.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https://onlinelibrary.wiley.com/doi/10.1002/ejp.2198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Efficacy of BoNT in myofascial pain in neck and shoulder — SR &amp; meta-analysis. Int J Rehabil Res. 2025.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https://pubmed.ncbi.nlm.nih.gov/40237694/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Jiang Y, et al. Ultrasound-guided five-point injection of BoNT for trapezius. J Orthop Surg Res. 2021.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https://pubmed.ncbi.nlm.nih.gov/34686203/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Kapoor KM, et al. BoNT-A for trapezius contouring: systematic review (안전성). 2025.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https://journals.sagepub.com/doi/10.1177/30499240251320906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참고문헌 ② — 상지 · 근경련 · 하지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Wong SM, et al. Lateral epicondylitis treated with botulinum toxin: RCT. Ann Intern Med. 2005.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https://pubmed.ncbi.nlm.nih.gov/16330790/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Placzek R, et al. Chronic radial epicondylitis with BoNT-A: multicentre RCT. J Bone Joint Surg Am. 2007.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https://pubmed.ncbi.nlm.nih.gov/17272437/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Espandar R, et al. Anatomic measurement–guided BoNT for lateral epicondylitis: RCT. CMAJ. 2010.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https://pubmed.ncbi.nlm.nih.gov/20421357/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Finlayson HC, et al. BoNT injection for thoracic outlet syndrome: double-blind RCT. Pain. 2011.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https://pubmed.ncbi.nlm.nih.gov/21628084/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Torriani M, et al. BoNT in neurogenic TOS: ultrasound-guided approach. 2010.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https://pubmed.ncbi.nlm.nih.gov/20186413/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Botulinum toxin therapy in writer’s cramp and musician’s dystonia. 2021.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https://pmc.ncbi.nlm.nih.gov/articles/PMC8708945/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5575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Restivo DA, et al. BoNT-A for treating cramps in diabetic neuropathy. Ann Neurol. 2018.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https://pubmed.ncbi.nlm.nih.gov/30225985/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Bertolasi L, et al. Botulinum toxin treatment of muscle cramps. 1997.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https://pubmed.ncbi.nlm.nih.gov/9029067/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Park J, et al. BoNT for nocturnal calf cramps in lumbar spinal stenosis: RCT. Arch Phys Med Rehabil. 2017.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https://pubmed.ncbi.nlm.nih.gov/28209505/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Isner-Horobeti M-E, et al. Intramuscular pressure and BoNT in chronic exertional compartment syndrome. 2013.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https://journals.sagepub.com/doi/10.1177/0363546513499183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Babcock MS, et al. Plantar fasciitis pain treated with BoNT-A: RCT. Am J Phys Med Rehabil. 2005.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https://pubmed.ncbi.nlm.nih.gov/16034223/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Elizondo-Rodríguez J, et al. BoNT-A vs corticosteroid vs anesthetic for plantar fasciitis. Foot Ankle Int.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https://journals.sagepub.com/doi/abs/10.1177/1071100720961093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463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1A2E"/>
                </a:solidFill>
                <a:latin typeface="Noto Sans KR"/>
              </a:rPr>
              <a:t>참고문헌 ③ — 체간 · 관절 · 안전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Clinical efficacy of BoNT in plantar fasciitis — SR &amp; meta-analysis of RCTs. Arch Phys Med Rehabil. 2021.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https://pubmed.ncbi.nlm.nih.gov/34688605/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Efficacy and safety of BoNT-A in plantar fasciitis — SR &amp; meta-analysis. PLOS One. 2024.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https://pmc.ncbi.nlm.nih.gov/articles/PMC11651609/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Foster L, et al. Botulinum toxin A and chronic low back pain: RCT. Neurology. 2001.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https://pubmed.ncbi.nlm.nih.gov/11376175/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Wagrees W, et al. BoNT-A in chronic low back pain: SR, meta-analysis, TSA. Eur J Pain. 2025.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https://onlinelibrary.wiley.com/doi/10.1002/ejp.4796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Fishman LM, et al. BoNT type A in piriformis muscle syndrome: pilot study. 2002.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https://pubmed.ncbi.nlm.nih.gov/12362115/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Use of botulinum neurotoxin in piriformis syndrome — systematic review. 2022.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https://pmc.ncbi.nlm.nih.gov/articles/PMC9294329/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5575" y="1499616"/>
            <a:ext cx="5419191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81A2E"/>
                </a:solidFill>
                <a:latin typeface="Noto Sans KR"/>
              </a:rPr>
              <a:t>Intra-articular BoNT-A for knee osteoarthritis — meta-analysis of RCTs. Toxicon. 2023.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https://pubmed.ncbi.nlm.nih.gov/36640812/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Singh JA, et al. Intraarticular BoNT-A for refractory painful TKA: RCT. J Rheumatol. 2010.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https://www.jrheum.org/content/37/11/2377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Ultrasound-guided BoNT-A into subscapularis for hemiplegic shoulder pain: RCT. Stroke. 2021.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https://www.ahajournals.org/doi/full/10.1161/STROKEAHA.121.034049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Hsu AT, et al. Effect of volume and concentration on diffusion of botulinum exotoxin A. 2004.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https://pubmed.ncbi.nlm.nih.gov/15545544/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Immunogenicity of botulinum toxin — review (이차 무반응 · 주사 간격). 2022.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https://pmc.ncbi.nlm.nih.gov/articles/PMC8795657/</a:t>
            </a:r>
          </a:p>
          <a:p>
            <a:pPr algn="l">
              <a:lnSpc>
                <a:spcPct val="118000"/>
              </a:lnSpc>
              <a:spcBef>
                <a:spcPts val="900"/>
              </a:spcBef>
            </a:pPr>
            <a:r>
              <a:rPr sz="1000" b="1">
                <a:solidFill>
                  <a:srgbClr val="181A2E"/>
                </a:solidFill>
                <a:latin typeface="Noto Sans KR"/>
              </a:rPr>
              <a:t>FDA Boxed Warning — Distant Spread of Toxin Effect (BOTOX Product Monograph).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Noto Sans KR"/>
              </a:rPr>
              <a:t>https://www.botoxone.com/content/dam/botoxone/pdf/BOTOX%20Product%20Monograph%20-%20All%20Indications.pdf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