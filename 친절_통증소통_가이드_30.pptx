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-1371600"/>
            <a:ext cx="5120640" cy="5120640"/>
          </a:xfrm>
          <a:prstGeom prst="ellipse">
            <a:avLst/>
          </a:prstGeom>
          <a:solidFill>
            <a:srgbClr val="126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108960"/>
            <a:ext cx="4023360" cy="4023360"/>
          </a:xfrm>
          <a:prstGeom prst="ellipse">
            <a:avLst/>
          </a:prstGeom>
          <a:solidFill>
            <a:srgbClr val="106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2646616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기반 환자 소통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말과 친절이</a:t>
            </a:r>
          </a:p>
          <a:p>
            <a:pPr algn="l">
              <a:lnSpc>
                <a:spcPct val="105000"/>
              </a:lnSpc>
            </a:pPr>
            <a:r>
              <a:rPr sz="6000" b="1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통증을 바꾼다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4160520"/>
            <a:ext cx="1920240" cy="45720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89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노시보를 줄이고 안심을 더하는 진료실 커뮤니케이션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척추 중재시술 · 사지 관절 주사 실무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51560"/>
            <a:ext cx="1146429" cy="384048"/>
          </a:xfrm>
          <a:prstGeom prst="roundRect">
            <a:avLst>
              <a:gd name="adj" fmla="val 50000"/>
            </a:avLst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통증은 자극만으로</a:t>
            </a:r>
          </a:p>
          <a:p>
            <a:pPr algn="l">
              <a:lnSpc>
                <a:spcPct val="108000"/>
              </a:lnSpc>
            </a:pPr>
            <a:r>
              <a:rPr sz="42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정해지지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6052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같은 주사도 </a:t>
            </a:r>
            <a:r>
              <a:rPr sz="20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어떤 말을 듣느냐에 따라</a:t>
            </a:r>
            <a:r>
              <a:rPr sz="20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 더 아플 수도, 덜 아플 수도 있습니다.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이것은 위안의 문제가 아니라 뇌·척수에서 일어나는 실제 현상입니다.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979866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발표가 답하는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세 걸음으로 이어집니다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383280" cy="594360"/>
          </a:xfrm>
          <a:prstGeom prst="roundRect">
            <a:avLst>
              <a:gd name="adj" fmla="val 6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3383280" cy="27432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383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290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왜 말과 친절이</a:t>
            </a:r>
          </a:p>
          <a:p>
            <a:pPr algn="l">
              <a:lnSpc>
                <a:spcPct val="110000"/>
              </a:lnSpc>
            </a:pPr>
            <a:r>
              <a:rPr sz="21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통증을 바꾸는가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006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노시보·플라시보·불안의 근거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46888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468880"/>
            <a:ext cx="3383280" cy="594360"/>
          </a:xfrm>
          <a:prstGeom prst="roundRect">
            <a:avLst>
              <a:gd name="adj" fmla="val 6000"/>
            </a:avLst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788920"/>
            <a:ext cx="3383280" cy="274320"/>
          </a:xfrm>
          <a:prstGeom prst="rect">
            <a:avLst/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468880"/>
            <a:ext cx="3383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290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어떻게 말할 것인가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8006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진료실 4가지 핵심 원칙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46888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468880"/>
            <a:ext cx="3383280" cy="594360"/>
          </a:xfrm>
          <a:prstGeom prst="roundRect">
            <a:avLst>
              <a:gd name="adj" fmla="val 6000"/>
            </a:avLst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788920"/>
            <a:ext cx="3383280" cy="274320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3383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4290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무엇을 말할 것인가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8006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시술별로 바로 쓰는 문장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146B6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49039"/>
            <a:ext cx="1828800" cy="54864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왜 말과 친절이 통증을 바꾸는가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93775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노시보 · 플라시보 · 공감 · 불안의 과학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979741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기본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통증은 </a:t>
            </a:r>
            <a:r>
              <a:rPr sz="3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뇌가 만드는 경험</a:t>
            </a:r>
            <a:r>
              <a:rPr sz="34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같은 자극이라도 다음 네 가지가 실제 통각을 바꿉니다.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2514600" cy="192024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128016" cy="1920240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52044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기대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434340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무엇을 예상하는가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200400"/>
            <a:ext cx="2514600" cy="192024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3200400"/>
            <a:ext cx="128016" cy="1920240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352044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불안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434340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얼마나 두려운가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00400"/>
            <a:ext cx="2514600" cy="192024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200400"/>
            <a:ext cx="128016" cy="1920240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52044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434340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어디에 집중하는가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3200400"/>
            <a:ext cx="2514600" cy="192024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3200400"/>
            <a:ext cx="128016" cy="1920240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352044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태도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434340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어떻게 대하는가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Blasini 2017; Colloca &amp; Benedetti 2007 — 하행통증조절 회로의 신경생물학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479803" cy="384048"/>
          </a:xfrm>
          <a:prstGeom prst="roundRect">
            <a:avLst>
              <a:gd name="adj" fmla="val 50000"/>
            </a:avLst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① 노시보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6949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부정적인 말이</a:t>
            </a:r>
          </a:p>
          <a:p>
            <a:pPr algn="l">
              <a:lnSpc>
                <a:spcPct val="105000"/>
              </a:lnSpc>
            </a:pPr>
            <a:r>
              <a:rPr sz="33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통증을 </a:t>
            </a:r>
            <a:r>
              <a:rPr sz="33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키웁니다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6766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만삭 산모 </a:t>
            </a:r>
            <a:r>
              <a:rPr sz="16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140명</a:t>
            </a: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무작위시험.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주사 직전 </a:t>
            </a:r>
            <a:r>
              <a:rPr sz="16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말 한마디만 다르게</a:t>
            </a: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했습니다.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×  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“벌에 쏘이듯 아플 거예요, 여기가 제일 아파요”</a:t>
            </a: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○  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“마취약을 넣어 편안하게 해드릴게요”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46304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0E5C57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874519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통증 점수 (VAS 중앙값)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423160"/>
            <a:ext cx="3429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2600" b="0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   vs   </a:t>
            </a:r>
            <a:r>
              <a:rPr sz="6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79476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위협 예고</a:t>
            </a:r>
            <a:r>
              <a:rPr sz="1300" b="1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        안심 표현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4526280"/>
            <a:ext cx="2331720" cy="27432"/>
          </a:xfrm>
          <a:prstGeom prst="rect">
            <a:avLst/>
          </a:prstGeom>
          <a:solidFill>
            <a:srgbClr val="146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470916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 &lt; 0.001 · 말만 바꿔 통증이 갈렸다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Varelmann et al., Anesth Analg 2010 (n=140)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479803" cy="384048"/>
          </a:xfrm>
          <a:prstGeom prst="roundRect">
            <a:avLst>
              <a:gd name="adj" fmla="val 50000"/>
            </a:avLst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① 노시보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“아플 거예요”라는 경고가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통증과 불안을 </a:t>
            </a:r>
            <a:r>
              <a:rPr sz="30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동시에 키웁니다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중재적 방사선 시술 159건을 분석했습니다.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시술이 끝난 뒤 “많이 아프셨죠”라는 부정적 공감조차 불안을 더 키웠습니다.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1772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617720"/>
            <a:ext cx="3108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경고 → 통증 ↑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P &lt; 0.05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461772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4617720"/>
            <a:ext cx="3108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경고 → 불안 ↑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P &lt; 0.001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Lang et al., “Can words hurt?” Pain 2005 (159건)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479803" cy="384048"/>
          </a:xfrm>
          <a:prstGeom prst="roundRect">
            <a:avLst>
              <a:gd name="adj" fmla="val 50000"/>
            </a:avLst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① 노시보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“따끔할 거예요”는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통증을 </a:t>
            </a:r>
            <a:r>
              <a:rPr sz="32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줄여주지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‘따끔’ 경고와 중립 신호(“준비되셨어요?”)의 통증 점수는 </a:t>
            </a:r>
            <a:r>
              <a:rPr sz="17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사실상 같았습니다.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통증 단어는 이득 없이 </a:t>
            </a:r>
            <a:r>
              <a:rPr sz="17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부정 암시의 위험만</a:t>
            </a:r>
            <a:r>
              <a:rPr sz="1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남깁니다.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경고를 들은 환자는 소리 내어 아파하는 반응이 유의하게 늘었습니다.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Vijayan et al., Pain Pract 2015 · Dutt-Gupta et al., Br J Anaesth 2007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46491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② 플라시보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7040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안심시키는 말은</a:t>
            </a:r>
          </a:p>
          <a:p>
            <a:pPr algn="l">
              <a:lnSpc>
                <a:spcPct val="105000"/>
              </a:lnSpc>
            </a:pPr>
            <a:r>
              <a:rPr sz="33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통증을 </a:t>
            </a:r>
            <a:r>
              <a:rPr sz="33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낮춥니다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6858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효과는 </a:t>
            </a:r>
            <a:r>
              <a:rPr sz="16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‘작지만 분명’</a:t>
            </a: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정보 · 주의분산 · 통제감과 </a:t>
            </a:r>
            <a:r>
              <a:rPr sz="16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함께 쓸 때 커집니다.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단, 어떤 말도 진통제를 대체하지는 못합니다.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600200"/>
            <a:ext cx="3429000" cy="3749039"/>
          </a:xfrm>
          <a:prstGeom prst="roundRect">
            <a:avLst>
              <a:gd name="adj" fmla="val 6000"/>
            </a:avLst>
          </a:prstGeom>
          <a:solidFill>
            <a:srgbClr val="E9F4F1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2103120"/>
            <a:ext cx="34290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51</a:t>
            </a:r>
            <a:r>
              <a:rPr sz="20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개 RCT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3429000"/>
            <a:ext cx="3429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5,079</a:t>
            </a:r>
            <a:r>
              <a:rPr sz="18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43484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소통은 급성 통증에 유의한(작은) 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Mistiaen et al., Eur J Pain 2016 (체계적 문헌고찰)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813179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③ 공감·태도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태도가 </a:t>
            </a:r>
            <a:r>
              <a:rPr sz="3300" b="1">
                <a:solidFill>
                  <a:srgbClr val="E39A3B"/>
                </a:solidFill>
                <a:latin typeface="Malgun Gothic"/>
                <a:ea typeface="Malgun Gothic"/>
                <a:cs typeface="Malgun Gothic"/>
              </a:rPr>
              <a:t>스위치</a:t>
            </a:r>
            <a:r>
              <a:rPr sz="33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따뜻한 어조와 유능함이 함께일 때 비로소 불안이 유의하게 줄었습니다.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278892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1F9E93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따뜻함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만으로는 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3200400"/>
            <a:ext cx="640080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200400"/>
            <a:ext cx="278892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0E5C57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356616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유능함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52628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만으로도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640080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00400"/>
            <a:ext cx="278892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E39A3B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56616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E39A3B"/>
                </a:solidFill>
                <a:latin typeface="Malgun Gothic"/>
                <a:ea typeface="Malgun Gothic"/>
                <a:cs typeface="Malgun Gothic"/>
              </a:rPr>
              <a:t>둘 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52628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효과가 켜진다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Verheul et al. 2010 · Howe, Goyer &amp; Crum 2017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313116" cy="384048"/>
          </a:xfrm>
          <a:prstGeom prst="roundRect">
            <a:avLst>
              <a:gd name="adj" fmla="val 50000"/>
            </a:avLst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④ 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불안이 통증의 </a:t>
            </a:r>
            <a:r>
              <a:rPr sz="33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증폭기</a:t>
            </a:r>
            <a:r>
              <a:rPr sz="33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시술 전 불안이 높을수록 통증을 더 크게 느끼고, 진통제도 더 필요했습니다.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그래서 통증을 다루기 전에 불안을 먼저 다뤄야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06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965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정보 제공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0088" y="4206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0088" y="4206240"/>
            <a:ext cx="1965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주의 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7216" y="4206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7216" y="4206240"/>
            <a:ext cx="1965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통제감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4344" y="4206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4206240"/>
            <a:ext cx="1965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예측 가능성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91472" y="42062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4206240"/>
            <a:ext cx="19659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호흡 유도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불안–통증 고리를 끊는 5가지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Sorrentino et al. 2020 (자궁경 104명) · 이하 원칙의 근거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979741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왜 그럴까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뇌 속에는 두 갈래 길이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560320"/>
            <a:ext cx="20116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노시보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560320"/>
            <a:ext cx="82296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부정적 기대 · 불안</a:t>
            </a:r>
            <a:r>
              <a:rPr sz="15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   →   CCK 활성   →   </a:t>
            </a: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통증 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0624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206240"/>
            <a:ext cx="20116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플라시보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206240"/>
            <a:ext cx="82296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안심 · 긍정 기대</a:t>
            </a:r>
            <a:r>
              <a:rPr sz="15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   →   오피오이드·도파민   →   </a:t>
            </a: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통증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하행통증조절 회로(ACC–PAG–척수)가 통증 신호를 실제로 키우거나 줄인다 — Benedetti 2006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146B6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49039"/>
            <a:ext cx="1828800" cy="54864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어떻게 말할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93775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진료실에서 지키는 4가지 핵심 원칙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646366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네 가지만 기억하세요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502920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051560" cy="1508760"/>
          </a:xfrm>
          <a:prstGeom prst="roundRect">
            <a:avLst>
              <a:gd name="adj" fmla="val 7000"/>
            </a:avLst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2331720"/>
            <a:ext cx="274320" cy="1508760"/>
          </a:xfrm>
          <a:prstGeom prst="rect">
            <a:avLst/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58775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정직하되 안심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322783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거짓 안심 대신 실제 감각을 미리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331720"/>
            <a:ext cx="502920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2331720"/>
            <a:ext cx="1051560" cy="1508760"/>
          </a:xfrm>
          <a:prstGeom prst="roundRect">
            <a:avLst>
              <a:gd name="adj" fmla="val 7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2331720"/>
            <a:ext cx="274320" cy="150876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331720"/>
            <a:ext cx="10515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58775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중립 감각어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322783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위협어를 ‘누르는 느낌’으로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502920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114800"/>
            <a:ext cx="1051560" cy="1508760"/>
          </a:xfrm>
          <a:prstGeom prst="roundRect">
            <a:avLst>
              <a:gd name="adj" fmla="val 7000"/>
            </a:avLst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00200" y="4114800"/>
            <a:ext cx="274320" cy="1508760"/>
          </a:xfrm>
          <a:prstGeom prst="rect">
            <a:avLst/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15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7083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통제감·예측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501091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멈출 권한과 예고를 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114800"/>
            <a:ext cx="502920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4114800"/>
            <a:ext cx="1051560" cy="1508760"/>
          </a:xfrm>
          <a:prstGeom prst="roundRect">
            <a:avLst>
              <a:gd name="adj" fmla="val 7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4114800"/>
            <a:ext cx="274320" cy="150876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114800"/>
            <a:ext cx="10515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37083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격려·주의분산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501091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반복 위로보다 주의를 돌리기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77240"/>
            <a:ext cx="813054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정직하되 </a:t>
            </a:r>
            <a:r>
              <a:rPr sz="32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안심시킨다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“하나도 안 아파요” 같은 </a:t>
            </a:r>
            <a:r>
              <a:rPr sz="16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거짓 안심은 역효과</a:t>
            </a: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입니다.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무엇이·언제·어떤 느낌인지 </a:t>
            </a:r>
            <a:r>
              <a:rPr sz="16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절차와 감각을 함께</a:t>
            </a: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미리 알려주세요.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60520"/>
            <a:ext cx="9966960" cy="868680"/>
          </a:xfrm>
          <a:prstGeom prst="roundRect">
            <a:avLst>
              <a:gd name="adj" fmla="val 10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4160520"/>
            <a:ext cx="548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160520"/>
            <a:ext cx="8778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“잠깐 뻐근한 느낌이 몇 초 지나가고, 그다음엔 훨씬 편해지실 거예요.”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Suls &amp; Wan 1989 (감각+절차 정보 결합이 통증·불안을 가장 잘 낮춤)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77240"/>
            <a:ext cx="813054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위협어를 </a:t>
            </a:r>
            <a:r>
              <a:rPr sz="32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중립 감각어로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같은 상황, 단어만 바꿔도 통증이 달라집니다.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91840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47472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×  버리기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0690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따끔 · 벌침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4348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제일 아픈 부분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006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찢어지듯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166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많이 아플 거예요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91840"/>
            <a:ext cx="4754880" cy="2286000"/>
          </a:xfrm>
          <a:prstGeom prst="roundRect">
            <a:avLst>
              <a:gd name="adj" fmla="val 6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47472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○  쓰기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690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누르는 느낌 · 압박감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4348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지그시 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006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뻐근함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166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곧 편해지실 거예요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291840"/>
            <a:ext cx="54864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Varelmann 2010 · Taddio CMAJ 2015 (백신 통증 지침, 중립 감각어 권고)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77240"/>
            <a:ext cx="813054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통제감과 </a:t>
            </a:r>
            <a:r>
              <a:rPr sz="32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예측 가능성</a:t>
            </a:r>
            <a:r>
              <a:rPr sz="3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을 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멈출 권한과 예고를 주면 </a:t>
            </a:r>
            <a:r>
              <a:rPr sz="16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뇌가 자극을 계속 경계할 필요가 줄어</a:t>
            </a: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듭니다.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60520"/>
            <a:ext cx="9966960" cy="868680"/>
          </a:xfrm>
          <a:prstGeom prst="roundRect">
            <a:avLst>
              <a:gd name="adj" fmla="val 10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4160520"/>
            <a:ext cx="548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160520"/>
            <a:ext cx="8778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“불편하면 언제든 손 들어 주세요. 바로 멈추겠습니다.”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166360"/>
            <a:ext cx="9966960" cy="868680"/>
          </a:xfrm>
          <a:prstGeom prst="roundRect">
            <a:avLst>
              <a:gd name="adj" fmla="val 10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5166360"/>
            <a:ext cx="548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166360"/>
            <a:ext cx="8778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“움직이지 말고 가만히 계세요.”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Habermann &amp; Büchel, Nat Commun 2025 (통제·예측이 기대 정밀도를 높여 통증 조절)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77240"/>
            <a:ext cx="813054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격려하고 </a:t>
            </a:r>
            <a:r>
              <a:rPr sz="32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주의를 분산</a:t>
            </a:r>
            <a:r>
              <a:rPr sz="32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966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진행 안내 · 호흡 유도 · 대화 · 음악 · VR.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단, </a:t>
            </a:r>
            <a:r>
              <a:rPr sz="16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반복적 “괜찮아요”와 사과는 오히려 고통을 키웁니다.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77639"/>
            <a:ext cx="4754880" cy="160020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2062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음악 시술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6177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2 vs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2062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통증 NRS</a:t>
            </a:r>
          </a:p>
          <a:p>
            <a:pPr algn="r">
              <a:lnSpc>
                <a:spcPct val="120000"/>
              </a:lnSpc>
            </a:pPr>
            <a:r>
              <a:rPr sz="11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음악군 vs 대조군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4754880" cy="160020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VR 몰입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6177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21% vs 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2062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추가 마취 필요</a:t>
            </a:r>
          </a:p>
          <a:p>
            <a:pPr algn="r">
              <a:lnSpc>
                <a:spcPct val="120000"/>
              </a:lnSpc>
            </a:pPr>
            <a:r>
              <a:rPr sz="11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VR군 vs 대조군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Fleckenstein 2025 (음악, CT 시술 209명) · Joo 2021 (VR, 요추 교감신경차단)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146B6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49039"/>
            <a:ext cx="1828800" cy="54864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진료실에서, 이렇게 말하세요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93775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시술 전·중·후 3단계 &amp; 말 바꾸기 카드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3108960" cy="4297680"/>
          </a:xfrm>
          <a:prstGeom prst="roundRect">
            <a:avLst>
              <a:gd name="adj" fmla="val 5000"/>
            </a:avLst>
          </a:prstGeom>
          <a:solidFill>
            <a:srgbClr val="0E5C57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 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2788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순서를</a:t>
            </a: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그려드립니다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146429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3단계 멘트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70408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8FCEC7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126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먼저 소독하고 마취로 저리게 한 다음, 화면을 보며 정확한 지점까지 진행해요. 대부분 눌리는 느낌 정도예요.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761488"/>
            <a:ext cx="70408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8FCEC7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61488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61488"/>
            <a:ext cx="6126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전체는 준비까지 30분 안팎, 실제 주사는 몇 분이면 끝납니다.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014215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13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예측 가능성을 주면 예기 불안이 줄어듭니다.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Suls &amp; Wan 1989 · Taddio 2015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3108960" cy="4297680"/>
          </a:xfrm>
          <a:prstGeom prst="roundRect">
            <a:avLst>
              <a:gd name="adj" fmla="val 5000"/>
            </a:avLst>
          </a:prstGeom>
          <a:solidFill>
            <a:srgbClr val="1F9E93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 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2788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감각을 짚고,</a:t>
            </a: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곁을 지킵니다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146429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3단계 멘트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70408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8FCEC7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126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누르는 느낌은 정상이에요. 날카롭게 찌릿하면 바로 말씀해 주세요.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761488"/>
            <a:ext cx="70408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8FCEC7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61488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61488"/>
            <a:ext cx="6126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아주 잘하고 계세요. 절반쯤 지났어요. 숨을 천천히 내쉬어 볼까요?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014215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13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통제감·격려·주의분산을 함께 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Lang 2005 · Boerner 2015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3108960" cy="4297680"/>
          </a:xfrm>
          <a:prstGeom prst="roundRect">
            <a:avLst>
              <a:gd name="adj" fmla="val 5000"/>
            </a:avLst>
          </a:prstGeom>
          <a:solidFill>
            <a:srgbClr val="E39A3B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 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2788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잘 끝났음을</a:t>
            </a: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함께 확인합니다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146429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3단계 멘트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70408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8FCEC7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126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다 끝났습니다. 정말 잘 참으셨어요. 어지럽거나 불편한 곳은 없으세요?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761488"/>
            <a:ext cx="70408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8FCEC7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61488"/>
            <a:ext cx="502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61488"/>
            <a:ext cx="6126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잠시 앉아서 쉬었다가 천천히 일어날게요.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014215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13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주사 후 실신의 80%가 15분 이내 — 앉히거나 눕혀 15분 관찰.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U.S. CDC, Vaccine Administration Best Practices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2479929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말 바꾸기 · 시작과 마취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시작과 마취 직전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5120640" cy="2880360"/>
          </a:xfrm>
          <a:prstGeom prst="roundRect">
            <a:avLst>
              <a:gd name="adj" fmla="val 5000"/>
            </a:avLst>
          </a:prstGeom>
          <a:solidFill>
            <a:srgbClr val="E9F4F1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120640" cy="685800"/>
          </a:xfrm>
          <a:prstGeom prst="roundRect">
            <a:avLst>
              <a:gd name="adj" fmla="val 5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5120640" cy="32004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○  이렇게 말하세요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잠깐 시원하거나 뻐근하고 몇 초면 지나가요. 그다음엔 훨씬 편해지실 거예요.</a:t>
            </a: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제가 셋을 세고 시작할게요. 준비되면 말씀해 주세요.</a:t>
            </a: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14600"/>
            <a:ext cx="5029200" cy="2880360"/>
          </a:xfrm>
          <a:prstGeom prst="roundRect">
            <a:avLst>
              <a:gd name="adj" fmla="val 5000"/>
            </a:avLst>
          </a:prstGeom>
          <a:solidFill>
            <a:srgbClr val="FBECE7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5146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880360"/>
            <a:ext cx="5029200" cy="320040"/>
          </a:xfrm>
          <a:prstGeom prst="rect">
            <a:avLst/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514600"/>
            <a:ext cx="5029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×  이런 말은 피하세요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벌에 쏘인 것처럼 아플 거예요. 이게 제일 아픈 부분이에요.</a:t>
            </a: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하나도 안 아파요. / 금방 끝나요.</a:t>
            </a: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Varelmann 2010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2646616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말 바꾸기 · 압박감과 걱정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압박감 · 신경 · 방사선 걱정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5120640" cy="2880360"/>
          </a:xfrm>
          <a:prstGeom prst="roundRect">
            <a:avLst>
              <a:gd name="adj" fmla="val 5000"/>
            </a:avLst>
          </a:prstGeom>
          <a:solidFill>
            <a:srgbClr val="E9F4F1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120640" cy="685800"/>
          </a:xfrm>
          <a:prstGeom prst="roundRect">
            <a:avLst>
              <a:gd name="adj" fmla="val 5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5120640" cy="32004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○  이렇게 말하세요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누르는 느낌은 정상이에요. 찌릿하면 바로 말씀해 주세요.</a:t>
            </a: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표적은 신경이 아니라 뼈 위 정해진 지점이라, 뼈에 닿으면 멈춰요.</a:t>
            </a: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14600"/>
            <a:ext cx="5029200" cy="2880360"/>
          </a:xfrm>
          <a:prstGeom prst="roundRect">
            <a:avLst>
              <a:gd name="adj" fmla="val 5000"/>
            </a:avLst>
          </a:prstGeom>
          <a:solidFill>
            <a:srgbClr val="FBECE7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5146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880360"/>
            <a:ext cx="5029200" cy="320040"/>
          </a:xfrm>
          <a:prstGeom prst="rect">
            <a:avLst/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514600"/>
            <a:ext cx="5029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×  이런 말은 피하세요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많이 아플 수 있어요, 참으세요.</a:t>
            </a: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신경 근처라 잘못되면 마비될 수도 있어요.</a:t>
            </a: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Lang 2005 · 시술 안내 실무가이드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2646616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말 바꾸기 · 격려와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진행 중 격려와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5120640" cy="2880360"/>
          </a:xfrm>
          <a:prstGeom prst="roundRect">
            <a:avLst>
              <a:gd name="adj" fmla="val 5000"/>
            </a:avLst>
          </a:prstGeom>
          <a:solidFill>
            <a:srgbClr val="E9F4F1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120640" cy="685800"/>
          </a:xfrm>
          <a:prstGeom prst="roundRect">
            <a:avLst>
              <a:gd name="adj" fmla="val 5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5120640" cy="32004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○  이렇게 말하세요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아주 잘하고 계세요. 거의 다 됐어요.</a:t>
            </a: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다 끝났어요. 생각보다 금방 끝났죠? 오늘 정말 잘 해내셨어요.</a:t>
            </a:r>
            <a:r>
              <a:rPr sz="18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14600"/>
            <a:ext cx="5029200" cy="2880360"/>
          </a:xfrm>
          <a:prstGeom prst="roundRect">
            <a:avLst>
              <a:gd name="adj" fmla="val 5000"/>
            </a:avLst>
          </a:prstGeom>
          <a:solidFill>
            <a:srgbClr val="FBECE7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5146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880360"/>
            <a:ext cx="5029200" cy="320040"/>
          </a:xfrm>
          <a:prstGeom prst="rect">
            <a:avLst/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514600"/>
            <a:ext cx="5029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×  이런 말은 피하세요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괜찮아요, 하나도 안 아파요, 전혀 안 아파요.</a:t>
            </a: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그것 봐요, 많이 아팠죠? 다음엔 더 아플 수도 있어요.</a:t>
            </a:r>
            <a:r>
              <a:rPr sz="18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McMurtry 2006/2010 (반복 안심·부정적 공감의 역효과)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146B6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49039"/>
            <a:ext cx="1828800" cy="54864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시술별로 바로 쓰는 문장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93775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척추 중재시술 · 관절 주사 · 안전 관리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313116" cy="384048"/>
          </a:xfrm>
          <a:prstGeom prst="roundRect">
            <a:avLst>
              <a:gd name="adj" fmla="val 50000"/>
            </a:avLst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척추 중재시술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“표적은 뼈, 확인은 안전”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5074920" cy="3063240"/>
          </a:xfrm>
          <a:prstGeom prst="roundRect">
            <a:avLst>
              <a:gd name="adj" fmla="val 5000"/>
            </a:avLst>
          </a:prstGeom>
          <a:solidFill>
            <a:srgbClr val="E9F4F1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517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공통 안심 메시지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46120"/>
            <a:ext cx="4572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투시 유도 내측지신경차단 </a:t>
            </a:r>
            <a:r>
              <a:rPr sz="14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7,500회·43,000개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신경차단에서 </a:t>
            </a:r>
            <a:r>
              <a:rPr sz="1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중대 합병증 0건.</a:t>
            </a:r>
          </a:p>
          <a:p>
            <a:pPr algn="l">
              <a:lnSpc>
                <a:spcPct val="140000"/>
              </a:lnSpc>
            </a:pPr>
            <a:r>
              <a:rPr sz="7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“여러 번 촬영하는 건 위험 신호가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아니라 그만큼 신중하게 하는 거예요.”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77440"/>
            <a:ext cx="5166360" cy="3063240"/>
          </a:xfrm>
          <a:prstGeom prst="roundRect">
            <a:avLst>
              <a:gd name="adj" fmla="val 5000"/>
            </a:avLst>
          </a:prstGeom>
          <a:solidFill>
            <a:srgbClr val="0E5C57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6517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신경근차단 — 가장 중요한 한마디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291840"/>
            <a:ext cx="4663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“다리로 찌릿·전기 오는 느낌은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바늘이 제 위치에 왔다는 신호예요.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움직이지 마시고 </a:t>
            </a:r>
            <a:r>
              <a:rPr sz="1550" b="1">
                <a:solidFill>
                  <a:srgbClr val="E39A3B"/>
                </a:solidFill>
                <a:latin typeface="Malgun Gothic"/>
                <a:ea typeface="Malgun Gothic"/>
                <a:cs typeface="Malgun Gothic"/>
              </a:rPr>
              <a:t>‘찌릿해요’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라고 말로만 알려주세요.”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0292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이 한마디가 신경 손상을 막는 안전장치입니다.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Manchikanti 2012 · Sato 2013 (방사감 = 위치 확인·손상 회피 신호)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479803" cy="384048"/>
          </a:xfrm>
          <a:prstGeom prst="roundRect">
            <a:avLst>
              <a:gd name="adj" fmla="val 50000"/>
            </a:avLst>
          </a:prstGeom>
          <a:solidFill>
            <a:srgbClr val="0E5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사지 관절 주사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기대치를 함께 관리합니다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2331720"/>
            <a:ext cx="640080" cy="96012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무릎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459736"/>
            <a:ext cx="5852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몇 주 통증을 줄여주는 ‘다리’. 운동·체중관리를 함께.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31720"/>
            <a:ext cx="2743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6주 넘는 이득은 불확실 (Cochrane)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3429000"/>
            <a:ext cx="640080" cy="96012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557016"/>
            <a:ext cx="5852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바늘 안 보이게 뒤에서. 첫 시술·공복은 실신 위험.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429000"/>
            <a:ext cx="2743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어깨 힘 빼고, 어지러우면 바로 눕히기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79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526279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37360" y="4526279"/>
            <a:ext cx="640080" cy="960120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79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팔꿈치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654295"/>
            <a:ext cx="5852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단기 효과·장기 재발. 주사 반복보다 운동 병행.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526279"/>
            <a:ext cx="2743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장기적으로는 오히려 예후가 나쁠 수 있음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공통  </a:t>
            </a:r>
            <a:r>
              <a:rPr sz="130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“다음 날 잠깐 더 아플 수 있어요(흔한 반응, 2~3일). 주사액을 체온으로 데우면 덜 아파요.”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979741" cy="384048"/>
          </a:xfrm>
          <a:prstGeom prst="roundRect">
            <a:avLst>
              <a:gd name="adj" fmla="val 50000"/>
            </a:avLst>
          </a:prstGeom>
          <a:solidFill>
            <a:srgbClr val="D35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안전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쓰러짐과 바늘 공포에 대비합니다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512064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35D49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517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미주신경성 실신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91840"/>
            <a:ext cx="4617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· 평생 유병률 약 </a:t>
            </a:r>
            <a:r>
              <a:rPr sz="1400" b="1">
                <a:solidFill>
                  <a:srgbClr val="D35D49"/>
                </a:solidFill>
                <a:latin typeface="Malgun Gothic"/>
                <a:ea typeface="Malgun Gothic"/>
                <a:cs typeface="Malgun Gothic"/>
              </a:rPr>
              <a:t>16%</a:t>
            </a: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— 흔합니다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· 실신 과거력은 </a:t>
            </a:r>
            <a:r>
              <a:rPr sz="14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반드시 사전 선별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· 전조(어지럼·식은땀·메스꺼움) 교육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· 발생 시 눕히고 </a:t>
            </a:r>
            <a:r>
              <a:rPr sz="14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다리 거상 → 15분 관찰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77440"/>
            <a:ext cx="516636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9E93"/>
            </a:solidFill>
          </a:ln>
          <a:effectLst/>
          <a:effectLst>
            <a:outerShdw blurRad="90000" dist="40000" dir="5400000" rotWithShape="0">
              <a:srgbClr val="1D3B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6517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바늘 공포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291840"/>
            <a:ext cx="4663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· 아주 흔한 일 — </a:t>
            </a:r>
            <a:r>
              <a:rPr sz="1400" b="1">
                <a:solidFill>
                  <a:srgbClr val="0E5C57"/>
                </a:solidFill>
                <a:latin typeface="Malgun Gothic"/>
                <a:ea typeface="Malgun Gothic"/>
                <a:cs typeface="Malgun Gothic"/>
              </a:rPr>
              <a:t>정상화·공감</a:t>
            </a: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으로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 “무서워하는 건 흔한 일이에요.”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· 주사 팔은 힘 빼고, 반대쪽만 긴장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400" b="1">
                <a:solidFill>
                  <a:srgbClr val="1F9E93"/>
                </a:solidFill>
                <a:latin typeface="Malgun Gothic"/>
                <a:ea typeface="Malgun Gothic"/>
                <a:cs typeface="Malgun Gothic"/>
              </a:rPr>
              <a:t>적용된 긴장(applied tension)</a:t>
            </a: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으로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D3B36"/>
                </a:solidFill>
                <a:latin typeface="Malgun Gothic"/>
                <a:ea typeface="Malgun Gothic"/>
                <a:cs typeface="Malgun Gothic"/>
              </a:rPr>
              <a:t>  실신 예방 — 근거가 확립된 기법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근거  Salari 2024 · Williams 2022 · McLenon &amp; Rogers 2019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A8C88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960120"/>
            <a:ext cx="1146429" cy="384048"/>
          </a:xfrm>
          <a:prstGeom prst="roundRect">
            <a:avLst>
              <a:gd name="adj" fmla="val 50000"/>
            </a:avLst>
          </a:prstGeom>
          <a:solidFill>
            <a:srgbClr val="1F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통증 단어를 빼고,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안심을 더하세요.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703320"/>
            <a:ext cx="1920240" cy="45720"/>
          </a:xfrm>
          <a:prstGeom prst="rect">
            <a:avLst/>
          </a:prstGeom>
          <a:solidFill>
            <a:srgbClr val="E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39A3B"/>
                </a:solidFill>
                <a:latin typeface="Malgun Gothic"/>
                <a:ea typeface="Malgun Gothic"/>
                <a:cs typeface="Malgun Gothic"/>
              </a:rPr>
              <a:t>○  </a:t>
            </a:r>
            <a:r>
              <a:rPr sz="1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감각을 미리 알리고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023360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39A3B"/>
                </a:solidFill>
                <a:latin typeface="Malgun Gothic"/>
                <a:ea typeface="Malgun Gothic"/>
                <a:cs typeface="Malgun Gothic"/>
              </a:rPr>
              <a:t>○  </a:t>
            </a:r>
            <a:r>
              <a:rPr sz="1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통제권과 예고를 주고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92040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39A3B"/>
                </a:solidFill>
                <a:latin typeface="Malgun Gothic"/>
                <a:ea typeface="Malgun Gothic"/>
                <a:cs typeface="Malgun Gothic"/>
              </a:rPr>
              <a:t>○  </a:t>
            </a:r>
            <a:r>
              <a:rPr sz="1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반복 안심 대신 격려·주의분산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892040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39A3B"/>
                </a:solidFill>
                <a:latin typeface="Malgun Gothic"/>
                <a:ea typeface="Malgun Gothic"/>
                <a:cs typeface="Malgun Gothic"/>
              </a:rPr>
              <a:t>○  </a:t>
            </a:r>
            <a:r>
              <a:rPr sz="17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끝나면 15분 관찰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43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FCEC7"/>
                </a:solidFill>
                <a:latin typeface="Malgun Gothic"/>
                <a:ea typeface="Malgun Gothic"/>
                <a:cs typeface="Malgun Gothic"/>
              </a:rPr>
              <a:t>오늘 진료실에서, 한 문장부터 바꿔 보세요.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