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160520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160520"/>
            <a:ext cx="12191695" cy="82296"/>
          </a:xfrm>
          <a:prstGeom prst="rect">
            <a:avLst/>
          </a:prstGeom>
          <a:solidFill>
            <a:srgbClr val="2C8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201168" cy="4160520"/>
          </a:xfrm>
          <a:prstGeom prst="rect">
            <a:avLst/>
          </a:prstGeom>
          <a:solidFill>
            <a:srgbClr val="2C8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932688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BFD3E6"/>
                </a:solidFill>
                <a:latin typeface="NanumGothic"/>
                <a:ea typeface="NanumGothic"/>
              </a:rPr>
              <a:t>고령 환자의 야간 하지경련 · 다리저림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417320"/>
            <a:ext cx="1060704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3300" b="1" i="0">
                <a:solidFill>
                  <a:srgbClr val="FFFFFF"/>
                </a:solidFill>
                <a:latin typeface="NanumGothic"/>
                <a:ea typeface="NanumGothic"/>
              </a:rPr>
              <a:t>효과가 입증된 치료 중심의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3300" b="1" i="0">
                <a:solidFill>
                  <a:srgbClr val="FFFFFF"/>
                </a:solidFill>
                <a:latin typeface="NanumGothic"/>
                <a:ea typeface="NanumGothic"/>
              </a:rPr>
              <a:t>근거 정리와 시술 기법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200400"/>
            <a:ext cx="10515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1">
                <a:solidFill>
                  <a:srgbClr val="AFC6DF"/>
                </a:solidFill>
                <a:latin typeface="NanumGothic"/>
                <a:ea typeface="NanumGothic"/>
              </a:rPr>
              <a:t>Nocturnal Leg Cramps in Older Adults — Evidence-based Injection · ESWT · Pharmacotherapy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526280"/>
            <a:ext cx="105156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1A202C"/>
                </a:solidFill>
                <a:latin typeface="NanumGothic"/>
                <a:ea typeface="NanumGothic"/>
              </a:rPr>
              <a:t>시술 순서: 보툴리눔(개요) → 주사 기법(상세) → 체외충격파(ESWT) → 약물 → 무효·비권고 → 기전상 타당(연구단계)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5A6B7B"/>
                </a:solidFill>
                <a:latin typeface="NanumGothic"/>
                <a:ea typeface="NanumGothic"/>
              </a:rPr>
              <a:t>9개 항목 문헌고찰 기반 · 직접 근거와 인접 근거를 구분해 정리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6053328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1">
                <a:solidFill>
                  <a:srgbClr val="5A6B7B"/>
                </a:solidFill>
                <a:latin typeface="NanumGothic"/>
                <a:ea typeface="NanumGothic"/>
              </a:rPr>
              <a:t>교육·연구 참고용 문헌고찰. 개별 환자의 진료 결정은 담당 의사의 판단에 따릅니다.   |   작성 2026-07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10896"/>
            <a:ext cx="109728" cy="457200"/>
          </a:xfrm>
          <a:prstGeom prst="rect">
            <a:avLst/>
          </a:prstGeom>
          <a:solidFill>
            <a:srgbClr val="2C8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37744"/>
            <a:ext cx="969264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2500" b="1" i="0">
                <a:solidFill>
                  <a:srgbClr val="1B355E"/>
                </a:solidFill>
                <a:latin typeface="NanumGothic"/>
                <a:ea typeface="NanumGothic"/>
              </a:rPr>
              <a:t>야간 하지경련(NLC)이란 무엇인가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109728"/>
            <a:ext cx="7315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1F6E70"/>
                </a:solidFill>
                <a:latin typeface="NanumGothic"/>
                <a:ea typeface="NanumGothic"/>
              </a:rPr>
              <a:t>배경 · 임상 문제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969264"/>
            <a:ext cx="10881360" cy="17780"/>
          </a:xfrm>
          <a:prstGeom prst="rect">
            <a:avLst/>
          </a:prstGeom>
          <a:solidFill>
            <a:srgbClr val="D5D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1222431" y="365760"/>
            <a:ext cx="466344" cy="347472"/>
          </a:xfrm>
          <a:prstGeom prst="roundRect">
            <a:avLst>
              <a:gd name="adj" fmla="val 8000"/>
            </a:avLst>
          </a:prstGeom>
          <a:solidFill>
            <a:srgbClr val="2C8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222431" y="365760"/>
            <a:ext cx="466344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FFFFFF"/>
                </a:solidFill>
                <a:latin typeface="NanumGothic"/>
                <a:ea typeface="NanumGothic"/>
              </a:rPr>
              <a:t>배경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371600"/>
            <a:ext cx="6309360" cy="4754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1200"/>
              </a:spcAft>
            </a:pPr>
            <a:r>
              <a:rPr sz="1050" b="1" i="0">
                <a:solidFill>
                  <a:srgbClr val="2C898A"/>
                </a:solidFill>
                <a:latin typeface="NanumGothic"/>
                <a:ea typeface="NanumGothic"/>
              </a:rPr>
              <a:t>●  </a:t>
            </a:r>
            <a:r>
              <a:rPr sz="1500" b="1" i="0">
                <a:solidFill>
                  <a:srgbClr val="1A202C"/>
                </a:solidFill>
                <a:latin typeface="NanumGothic"/>
                <a:ea typeface="NanumGothic"/>
              </a:rPr>
              <a:t>정의: 수면 중 종아리·발에 생기는 통증성 불수의 근수축. 만져지는 근경직이 있고 족배굴곡(발끝을 몸쪽으로)으로 완화된다.</a:t>
            </a:r>
          </a:p>
          <a:p>
            <a:pPr algn="l">
              <a:lnSpc>
                <a:spcPct val="108000"/>
              </a:lnSpc>
              <a:spcAft>
                <a:spcPts val="1200"/>
              </a:spcAft>
            </a:pPr>
            <a:r>
              <a:rPr sz="1050" b="1" i="0">
                <a:solidFill>
                  <a:srgbClr val="2C898A"/>
                </a:solidFill>
                <a:latin typeface="NanumGothic"/>
                <a:ea typeface="NanumGothic"/>
              </a:rPr>
              <a:t>●  </a:t>
            </a:r>
            <a:r>
              <a:rPr sz="1500" b="0" i="0">
                <a:solidFill>
                  <a:srgbClr val="1A202C"/>
                </a:solidFill>
                <a:latin typeface="NanumGothic"/>
                <a:ea typeface="NanumGothic"/>
              </a:rPr>
              <a:t>유병률: 50세 이상에서 흔함 — 경증 24~25%, 중등도~중증 약 6%(NHANES). 요추관협착증 동반 시 최대 65%까지 보고.</a:t>
            </a:r>
          </a:p>
          <a:p>
            <a:pPr algn="l">
              <a:lnSpc>
                <a:spcPct val="108000"/>
              </a:lnSpc>
              <a:spcAft>
                <a:spcPts val="1200"/>
              </a:spcAft>
            </a:pPr>
            <a:r>
              <a:rPr sz="1050" b="1" i="0">
                <a:solidFill>
                  <a:srgbClr val="2C898A"/>
                </a:solidFill>
                <a:latin typeface="NanumGothic"/>
                <a:ea typeface="NanumGothic"/>
              </a:rPr>
              <a:t>●  </a:t>
            </a:r>
            <a:r>
              <a:rPr sz="1500" b="0" i="0">
                <a:solidFill>
                  <a:srgbClr val="1A202C"/>
                </a:solidFill>
                <a:latin typeface="NanumGothic"/>
                <a:ea typeface="NanumGothic"/>
              </a:rPr>
              <a:t>결과: 수면 분절·각성으로 삶의 질 저하. '증상'이지 그 자체가 '진단'은 아니다.</a:t>
            </a:r>
          </a:p>
          <a:p>
            <a:pPr algn="l">
              <a:lnSpc>
                <a:spcPct val="108000"/>
              </a:lnSpc>
              <a:spcAft>
                <a:spcPts val="1200"/>
              </a:spcAft>
            </a:pPr>
            <a:r>
              <a:rPr sz="1050" b="1" i="0">
                <a:solidFill>
                  <a:srgbClr val="2C898A"/>
                </a:solidFill>
                <a:latin typeface="NanumGothic"/>
                <a:ea typeface="NanumGothic"/>
              </a:rPr>
              <a:t>●  </a:t>
            </a:r>
            <a:r>
              <a:rPr sz="1500" b="0" i="0">
                <a:solidFill>
                  <a:srgbClr val="1A202C"/>
                </a:solidFill>
                <a:latin typeface="NanumGothic"/>
                <a:ea typeface="NanumGothic"/>
              </a:rPr>
              <a:t>대부분 특발성이나, 고령에서는 이차성 원인(요추질환·신경병증·정맥부전·약물·전해질)이 흔하다.</a:t>
            </a:r>
          </a:p>
          <a:p>
            <a:pPr algn="l">
              <a:lnSpc>
                <a:spcPct val="108000"/>
              </a:lnSpc>
              <a:spcAft>
                <a:spcPts val="1200"/>
              </a:spcAft>
            </a:pPr>
            <a:r>
              <a:rPr sz="1500" b="1" i="0">
                <a:solidFill>
                  <a:srgbClr val="5A6B7B"/>
                </a:solidFill>
                <a:latin typeface="NanumGothic"/>
                <a:ea typeface="NanumGothic"/>
              </a:rPr>
              <a:t>      –  </a:t>
            </a:r>
            <a:r>
              <a:rPr sz="1500" b="1" i="0">
                <a:solidFill>
                  <a:srgbClr val="1F6E70"/>
                </a:solidFill>
                <a:latin typeface="NanumGothic"/>
                <a:ea typeface="NanumGothic"/>
              </a:rPr>
              <a:t>→ 치료 성패는 화려한 시술이 아니라 정확한 감별에서 갈린다.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60920" y="1463040"/>
            <a:ext cx="4160520" cy="4480560"/>
          </a:xfrm>
          <a:prstGeom prst="roundRect">
            <a:avLst>
              <a:gd name="adj" fmla="val 8000"/>
            </a:avLst>
          </a:prstGeom>
          <a:solidFill>
            <a:srgbClr val="F5F8FB"/>
          </a:solidFill>
          <a:ln w="12700">
            <a:solidFill>
              <a:srgbClr val="D5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35240" y="169164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1F6E70"/>
                </a:solidFill>
                <a:latin typeface="NanumGothic"/>
                <a:ea typeface="NanumGothic"/>
              </a:rPr>
              <a:t>핵심 수치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35240" y="2148840"/>
            <a:ext cx="3657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2500" b="1" i="0">
                <a:solidFill>
                  <a:srgbClr val="1B355E"/>
                </a:solidFill>
                <a:latin typeface="NanumGothic"/>
                <a:ea typeface="NanumGothic"/>
              </a:rPr>
              <a:t>24–25%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35240" y="2624328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5A6B7B"/>
                </a:solidFill>
                <a:latin typeface="NanumGothic"/>
                <a:ea typeface="NanumGothic"/>
              </a:rPr>
              <a:t>50세+ 경증 유병률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35240" y="3063240"/>
            <a:ext cx="3657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2500" b="1" i="0">
                <a:solidFill>
                  <a:srgbClr val="1B355E"/>
                </a:solidFill>
                <a:latin typeface="NanumGothic"/>
                <a:ea typeface="NanumGothic"/>
              </a:rPr>
              <a:t>~6%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35240" y="3538728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5A6B7B"/>
                </a:solidFill>
                <a:latin typeface="NanumGothic"/>
                <a:ea typeface="NanumGothic"/>
              </a:rPr>
              <a:t>중등도–중증 유병률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35240" y="3977639"/>
            <a:ext cx="3657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2500" b="1" i="0">
                <a:solidFill>
                  <a:srgbClr val="1B355E"/>
                </a:solidFill>
                <a:latin typeface="NanumGothic"/>
                <a:ea typeface="NanumGothic"/>
              </a:rPr>
              <a:t>최대 65%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35240" y="4453127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5A6B7B"/>
                </a:solidFill>
                <a:latin typeface="NanumGothic"/>
                <a:ea typeface="NanumGothic"/>
              </a:rPr>
              <a:t>요추관협착증 동반 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35240" y="4892040"/>
            <a:ext cx="3657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2500" b="1" i="0">
                <a:solidFill>
                  <a:srgbClr val="1B355E"/>
                </a:solidFill>
                <a:latin typeface="NanumGothic"/>
                <a:ea typeface="NanumGothic"/>
              </a:rPr>
              <a:t>수초–10분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35240" y="5367528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5A6B7B"/>
                </a:solidFill>
                <a:latin typeface="NanumGothic"/>
                <a:ea typeface="NanumGothic"/>
              </a:rPr>
              <a:t>경련 지속시간(+ 잔통)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6455664"/>
            <a:ext cx="98755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5A6B7B"/>
                </a:solidFill>
                <a:latin typeface="NanumGothic"/>
                <a:ea typeface="NanumGothic"/>
              </a:rPr>
              <a:t>근거: Grandner &amp; Winkelman 2017(PLoS One); Rabbitt 2016(Age Ageing); Handa 2022(IJGM)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64240" y="6455664"/>
            <a:ext cx="82296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5A6B7B"/>
                </a:solidFill>
                <a:latin typeface="NanumGothic"/>
                <a:ea typeface="NanumGothic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10896"/>
            <a:ext cx="109728" cy="457200"/>
          </a:xfrm>
          <a:prstGeom prst="rect">
            <a:avLst/>
          </a:prstGeom>
          <a:solidFill>
            <a:srgbClr val="2C8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37744"/>
            <a:ext cx="969264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2500" b="1" i="0">
                <a:solidFill>
                  <a:srgbClr val="1B355E"/>
                </a:solidFill>
                <a:latin typeface="NanumGothic"/>
                <a:ea typeface="NanumGothic"/>
              </a:rPr>
              <a:t>왜 감별이 먼저인가 — 세 갈래 병태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109728"/>
            <a:ext cx="7315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1F6E70"/>
                </a:solidFill>
                <a:latin typeface="NanumGothic"/>
                <a:ea typeface="NanumGothic"/>
              </a:rPr>
              <a:t>진단 · 감별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969264"/>
            <a:ext cx="10881360" cy="17780"/>
          </a:xfrm>
          <a:prstGeom prst="rect">
            <a:avLst/>
          </a:prstGeom>
          <a:solidFill>
            <a:srgbClr val="D5D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1222431" y="365760"/>
            <a:ext cx="466344" cy="347472"/>
          </a:xfrm>
          <a:prstGeom prst="roundRect">
            <a:avLst>
              <a:gd name="adj" fmla="val 8000"/>
            </a:avLst>
          </a:prstGeom>
          <a:solidFill>
            <a:srgbClr val="2C8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222431" y="365760"/>
            <a:ext cx="466344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FFFFFF"/>
                </a:solidFill>
                <a:latin typeface="NanumGothic"/>
                <a:ea typeface="NanumGothic"/>
              </a:rPr>
              <a:t>감별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417320"/>
            <a:ext cx="3474720" cy="3246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31520" y="1417320"/>
            <a:ext cx="3474720" cy="640080"/>
          </a:xfrm>
          <a:prstGeom prst="roundRect">
            <a:avLst>
              <a:gd name="adj" fmla="val 8000"/>
            </a:avLst>
          </a:prstGeom>
          <a:solidFill>
            <a:srgbClr val="2C8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" y="1874519"/>
            <a:ext cx="3474720" cy="182880"/>
          </a:xfrm>
          <a:prstGeom prst="rect">
            <a:avLst/>
          </a:prstGeom>
          <a:solidFill>
            <a:srgbClr val="2C8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1417320"/>
            <a:ext cx="347472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 i="0">
                <a:solidFill>
                  <a:srgbClr val="FFFFFF"/>
                </a:solidFill>
                <a:latin typeface="NanumGothic"/>
                <a:ea typeface="NanumGothic"/>
              </a:rPr>
              <a:t>야간 하지경련(NLC)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2240280"/>
            <a:ext cx="3063240" cy="228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sz="1300" b="0" i="0">
                <a:solidFill>
                  <a:srgbClr val="1A202C"/>
                </a:solidFill>
                <a:latin typeface="NanumGothic"/>
                <a:ea typeface="NanumGothic"/>
              </a:rPr>
              <a:t>수면 중 통증성 근수축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sz="1300" b="0" i="0">
                <a:solidFill>
                  <a:srgbClr val="1A202C"/>
                </a:solidFill>
                <a:latin typeface="NanumGothic"/>
                <a:ea typeface="NanumGothic"/>
              </a:rPr>
              <a:t>만져지는 근경직(+)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sz="1300" b="0" i="0">
                <a:solidFill>
                  <a:srgbClr val="1A202C"/>
                </a:solidFill>
                <a:latin typeface="NanumGothic"/>
                <a:ea typeface="NanumGothic"/>
              </a:rPr>
              <a:t>족배굴곡으로 완화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sz="1300" b="0" i="0">
                <a:solidFill>
                  <a:srgbClr val="1A202C"/>
                </a:solidFill>
                <a:latin typeface="NanumGothic"/>
                <a:ea typeface="NanumGothic"/>
              </a:rPr>
              <a:t>종아리·발이 대부분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34840" y="1417320"/>
            <a:ext cx="3474720" cy="3246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434840" y="1417320"/>
            <a:ext cx="3474720" cy="640080"/>
          </a:xfrm>
          <a:prstGeom prst="roundRect">
            <a:avLst>
              <a:gd name="adj" fmla="val 8000"/>
            </a:avLst>
          </a:prstGeom>
          <a:solidFill>
            <a:srgbClr val="2447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434840" y="1874519"/>
            <a:ext cx="3474720" cy="182880"/>
          </a:xfrm>
          <a:prstGeom prst="rect">
            <a:avLst/>
          </a:prstGeom>
          <a:solidFill>
            <a:srgbClr val="2447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34840" y="1417320"/>
            <a:ext cx="347472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 i="0">
                <a:solidFill>
                  <a:srgbClr val="FFFFFF"/>
                </a:solidFill>
                <a:latin typeface="NanumGothic"/>
                <a:ea typeface="NanumGothic"/>
              </a:rPr>
              <a:t>하지불안증후군(RLS)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63440" y="2240280"/>
            <a:ext cx="3063240" cy="228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sz="1300" b="0" i="0">
                <a:solidFill>
                  <a:srgbClr val="1A202C"/>
                </a:solidFill>
                <a:latin typeface="NanumGothic"/>
                <a:ea typeface="NanumGothic"/>
              </a:rPr>
              <a:t>'움직이고 싶은 충동'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sz="1300" b="0" i="0">
                <a:solidFill>
                  <a:srgbClr val="1A202C"/>
                </a:solidFill>
                <a:latin typeface="NanumGothic"/>
                <a:ea typeface="NanumGothic"/>
              </a:rPr>
              <a:t>안정 시 악화·움직이면 완화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sz="1300" b="0" i="0">
                <a:solidFill>
                  <a:srgbClr val="1A202C"/>
                </a:solidFill>
                <a:latin typeface="NanumGothic"/>
                <a:ea typeface="NanumGothic"/>
              </a:rPr>
              <a:t>통증보다 불쾌한 이상감각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sz="1300" b="0" i="0">
                <a:solidFill>
                  <a:srgbClr val="1A202C"/>
                </a:solidFill>
                <a:latin typeface="NanumGothic"/>
                <a:ea typeface="NanumGothic"/>
              </a:rPr>
              <a:t>저녁~밤 뚜렷한 일주기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38160" y="1417320"/>
            <a:ext cx="3474720" cy="3246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138160" y="1417320"/>
            <a:ext cx="3474720" cy="640080"/>
          </a:xfrm>
          <a:prstGeom prst="roundRect">
            <a:avLst>
              <a:gd name="adj" fmla="val 8000"/>
            </a:avLst>
          </a:prstGeom>
          <a:solidFill>
            <a:srgbClr val="1F6E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138160" y="1874519"/>
            <a:ext cx="3474720" cy="182880"/>
          </a:xfrm>
          <a:prstGeom prst="rect">
            <a:avLst/>
          </a:prstGeom>
          <a:solidFill>
            <a:srgbClr val="1F6E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38160" y="1417320"/>
            <a:ext cx="347472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 i="0">
                <a:solidFill>
                  <a:srgbClr val="FFFFFF"/>
                </a:solidFill>
                <a:latin typeface="NanumGothic"/>
                <a:ea typeface="NanumGothic"/>
              </a:rPr>
              <a:t>신경성 · 혈관성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66760" y="2240280"/>
            <a:ext cx="3063240" cy="228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sz="1300" b="0" i="0">
                <a:solidFill>
                  <a:srgbClr val="1A202C"/>
                </a:solidFill>
                <a:latin typeface="NanumGothic"/>
                <a:ea typeface="NanumGothic"/>
              </a:rPr>
              <a:t>요추관협착·신경근병증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sz="1300" b="0" i="0">
                <a:solidFill>
                  <a:srgbClr val="1A202C"/>
                </a:solidFill>
                <a:latin typeface="NanumGothic"/>
                <a:ea typeface="NanumGothic"/>
              </a:rPr>
              <a:t>말초신경병증(당뇨)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sz="1300" b="0" i="0">
                <a:solidFill>
                  <a:srgbClr val="1A202C"/>
                </a:solidFill>
                <a:latin typeface="NanumGothic"/>
                <a:ea typeface="NanumGothic"/>
              </a:rPr>
              <a:t>PAD 허혈성 안정통·정맥부전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sz="1300" b="0" i="0">
                <a:solidFill>
                  <a:srgbClr val="1A202C"/>
                </a:solidFill>
                <a:latin typeface="NanumGothic"/>
                <a:ea typeface="NanumGothic"/>
              </a:rPr>
              <a:t>'밤 다리증상'으로 위장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" y="4892040"/>
            <a:ext cx="10835640" cy="1143000"/>
          </a:xfrm>
          <a:prstGeom prst="roundRect">
            <a:avLst>
              <a:gd name="adj" fmla="val 8000"/>
            </a:avLst>
          </a:prstGeom>
          <a:solidFill>
            <a:srgbClr val="F5F8FB"/>
          </a:solidFill>
          <a:ln w="12700">
            <a:solidFill>
              <a:srgbClr val="D5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60120" y="5074920"/>
            <a:ext cx="104241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B03A2E"/>
                </a:solidFill>
                <a:latin typeface="NanumGothic"/>
                <a:ea typeface="NanumGothic"/>
              </a:rPr>
              <a:t>임상 단서: </a:t>
            </a:r>
            <a:r>
              <a:rPr sz="1400" b="0" i="0">
                <a:solidFill>
                  <a:srgbClr val="1A202C"/>
                </a:solidFill>
                <a:latin typeface="NanumGothic"/>
                <a:ea typeface="NanumGothic"/>
              </a:rPr>
              <a:t>환자가 pramipexole(미라펙스)·pregabalin(리리카)을 복용 중이라면 이는 전형적 RLS 치료제 → 실제 진단이 RLS(또는 NLC와 중복)일 가능성을 시사한다. 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1">
                <a:solidFill>
                  <a:srgbClr val="5A6B7B"/>
                </a:solidFill>
                <a:latin typeface="NanumGothic"/>
                <a:ea typeface="NanumGothic"/>
              </a:rPr>
              <a:t>IRLSSG 2014 기준은 진단 시 '다리경련(leg cramps)을 반드시 감별·배제'하도록 명문화하였다.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6455664"/>
            <a:ext cx="98755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5A6B7B"/>
                </a:solidFill>
                <a:latin typeface="NanumGothic"/>
                <a:ea typeface="NanumGothic"/>
              </a:rPr>
              <a:t>근거: IRLSSG 2014(Sleep Med); Hallegraeff 2017(BMC Fam Pract); 문헌고찰 서론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064240" y="6455664"/>
            <a:ext cx="82296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5A6B7B"/>
                </a:solidFill>
                <a:latin typeface="NanumGothic"/>
                <a:ea typeface="NanumGothic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10896"/>
            <a:ext cx="109728" cy="457200"/>
          </a:xfrm>
          <a:prstGeom prst="rect">
            <a:avLst/>
          </a:prstGeom>
          <a:solidFill>
            <a:srgbClr val="2C8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37744"/>
            <a:ext cx="969264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2500" b="1" i="0">
                <a:solidFill>
                  <a:srgbClr val="1B355E"/>
                </a:solidFill>
                <a:latin typeface="NanumGothic"/>
                <a:ea typeface="NanumGothic"/>
              </a:rPr>
              <a:t>NLC vs RLS 상세 감별표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109728"/>
            <a:ext cx="7315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1F6E70"/>
                </a:solidFill>
                <a:latin typeface="NanumGothic"/>
                <a:ea typeface="NanumGothic"/>
              </a:rPr>
              <a:t>진단 · 감별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969264"/>
            <a:ext cx="10881360" cy="17780"/>
          </a:xfrm>
          <a:prstGeom prst="rect">
            <a:avLst/>
          </a:prstGeom>
          <a:solidFill>
            <a:srgbClr val="D5D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1222431" y="365760"/>
            <a:ext cx="466344" cy="347472"/>
          </a:xfrm>
          <a:prstGeom prst="roundRect">
            <a:avLst>
              <a:gd name="adj" fmla="val 8000"/>
            </a:avLst>
          </a:prstGeom>
          <a:solidFill>
            <a:srgbClr val="2C8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222431" y="365760"/>
            <a:ext cx="466344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FFFFFF"/>
                </a:solidFill>
                <a:latin typeface="NanumGothic"/>
                <a:ea typeface="NanumGothic"/>
              </a:rPr>
              <a:t>감별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31520" y="1417320"/>
          <a:ext cx="10835640" cy="385876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286000"/>
                <a:gridCol w="4251960"/>
                <a:gridCol w="4297680"/>
              </a:tblGrid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50" b="1" i="0">
                          <a:solidFill>
                            <a:srgbClr val="FFFFFF"/>
                          </a:solidFill>
                          <a:latin typeface="NanumGothic"/>
                          <a:ea typeface="NanumGothic"/>
                        </a:rPr>
                        <a:t>항목</a:t>
                      </a:r>
                    </a:p>
                  </a:txBody>
                  <a:tcPr marL="73152" marR="54864" marT="18288" marB="18288" anchor="ctr">
                    <a:solidFill>
                      <a:srgbClr val="1B355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 i="0">
                          <a:solidFill>
                            <a:srgbClr val="FFFFFF"/>
                          </a:solidFill>
                          <a:latin typeface="NanumGothic"/>
                          <a:ea typeface="NanumGothic"/>
                        </a:rPr>
                        <a:t>야간 하지경련(NLC)</a:t>
                      </a:r>
                    </a:p>
                  </a:txBody>
                  <a:tcPr marL="73152" marR="54864" marT="18288" marB="18288" anchor="ctr">
                    <a:solidFill>
                      <a:srgbClr val="1B355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 i="0">
                          <a:solidFill>
                            <a:srgbClr val="FFFFFF"/>
                          </a:solidFill>
                          <a:latin typeface="NanumGothic"/>
                          <a:ea typeface="NanumGothic"/>
                        </a:rPr>
                        <a:t>하지불안증후군(RLS)</a:t>
                      </a:r>
                    </a:p>
                  </a:txBody>
                  <a:tcPr marL="73152" marR="54864" marT="18288" marB="18288" anchor="ctr">
                    <a:solidFill>
                      <a:srgbClr val="1B355E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1A202C"/>
                          </a:solidFill>
                          <a:latin typeface="NanumGothic"/>
                          <a:ea typeface="NanumGothic"/>
                        </a:rPr>
                        <a:t>핵심 증상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1A202C"/>
                          </a:solidFill>
                          <a:latin typeface="NanumGothic"/>
                          <a:ea typeface="NanumGothic"/>
                        </a:rPr>
                        <a:t>통증성 근수축, 만져지는 근경직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1A202C"/>
                          </a:solidFill>
                          <a:latin typeface="NanumGothic"/>
                          <a:ea typeface="NanumGothic"/>
                        </a:rPr>
                        <a:t>움직이고 싶은 충동 + 이상감각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1A202C"/>
                          </a:solidFill>
                          <a:latin typeface="NanumGothic"/>
                          <a:ea typeface="NanumGothic"/>
                        </a:rPr>
                        <a:t>주 증상</a:t>
                      </a:r>
                    </a:p>
                  </a:txBody>
                  <a:tcPr marL="73152" marR="54864" marT="18288" marB="18288" anchor="ctr"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1A202C"/>
                          </a:solidFill>
                          <a:latin typeface="NanumGothic"/>
                          <a:ea typeface="NanumGothic"/>
                        </a:rPr>
                        <a:t>강한 통증</a:t>
                      </a:r>
                    </a:p>
                  </a:txBody>
                  <a:tcPr marL="73152" marR="54864" marT="18288" marB="18288" anchor="ctr"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1A202C"/>
                          </a:solidFill>
                          <a:latin typeface="NanumGothic"/>
                          <a:ea typeface="NanumGothic"/>
                        </a:rPr>
                        <a:t>불편·안절부절(통증 아님)</a:t>
                      </a:r>
                    </a:p>
                  </a:txBody>
                  <a:tcPr marL="73152" marR="54864" marT="18288" marB="18288" anchor="ctr">
                    <a:solidFill>
                      <a:srgbClr val="EEF2F6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1A202C"/>
                          </a:solidFill>
                          <a:latin typeface="NanumGothic"/>
                          <a:ea typeface="NanumGothic"/>
                        </a:rPr>
                        <a:t>완화 방법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1A202C"/>
                          </a:solidFill>
                          <a:latin typeface="NanumGothic"/>
                          <a:ea typeface="NanumGothic"/>
                        </a:rPr>
                        <a:t>스트레칭·족배굴곡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1A202C"/>
                          </a:solidFill>
                          <a:latin typeface="NanumGothic"/>
                          <a:ea typeface="NanumGothic"/>
                        </a:rPr>
                        <a:t>걷기·움직임(멈추면 재발)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1A202C"/>
                          </a:solidFill>
                          <a:latin typeface="NanumGothic"/>
                          <a:ea typeface="NanumGothic"/>
                        </a:rPr>
                        <a:t>만져지는 근경직</a:t>
                      </a:r>
                    </a:p>
                  </a:txBody>
                  <a:tcPr marL="73152" marR="54864" marT="18288" marB="18288" anchor="ctr"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1A202C"/>
                          </a:solidFill>
                          <a:latin typeface="NanumGothic"/>
                          <a:ea typeface="NanumGothic"/>
                        </a:rPr>
                        <a:t>있음</a:t>
                      </a:r>
                    </a:p>
                  </a:txBody>
                  <a:tcPr marL="73152" marR="54864" marT="18288" marB="18288" anchor="ctr"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1A202C"/>
                          </a:solidFill>
                          <a:latin typeface="NanumGothic"/>
                          <a:ea typeface="NanumGothic"/>
                        </a:rPr>
                        <a:t>없음</a:t>
                      </a:r>
                    </a:p>
                  </a:txBody>
                  <a:tcPr marL="73152" marR="54864" marT="18288" marB="18288" anchor="ctr">
                    <a:solidFill>
                      <a:srgbClr val="EEF2F6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1A202C"/>
                          </a:solidFill>
                          <a:latin typeface="NanumGothic"/>
                          <a:ea typeface="NanumGothic"/>
                        </a:rPr>
                        <a:t>일주기·가족력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1A202C"/>
                          </a:solidFill>
                          <a:latin typeface="NanumGothic"/>
                          <a:ea typeface="NanumGothic"/>
                        </a:rPr>
                        <a:t>야간·수면 초반 / 가족력 드묾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1A202C"/>
                          </a:solidFill>
                          <a:latin typeface="NanumGothic"/>
                          <a:ea typeface="NanumGothic"/>
                        </a:rPr>
                        <a:t>저녁~밤 악화 / 가족력 흔함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1A202C"/>
                          </a:solidFill>
                          <a:latin typeface="NanumGothic"/>
                          <a:ea typeface="NanumGothic"/>
                        </a:rPr>
                        <a:t>1차 약물</a:t>
                      </a:r>
                    </a:p>
                  </a:txBody>
                  <a:tcPr marL="73152" marR="54864" marT="18288" marB="18288" anchor="ctr"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1A202C"/>
                          </a:solidFill>
                          <a:latin typeface="NanumGothic"/>
                          <a:ea typeface="NanumGothic"/>
                        </a:rPr>
                        <a:t>(RLS약 아님) 비약물·개별 약물</a:t>
                      </a:r>
                    </a:p>
                  </a:txBody>
                  <a:tcPr marL="73152" marR="54864" marT="18288" marB="18288" anchor="ctr"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1A202C"/>
                          </a:solidFill>
                          <a:latin typeface="NanumGothic"/>
                          <a:ea typeface="NanumGothic"/>
                        </a:rPr>
                        <a:t>α2δ 리간드 1차, 도파민제 신중</a:t>
                      </a:r>
                    </a:p>
                  </a:txBody>
                  <a:tcPr marL="73152" marR="54864" marT="18288" marB="18288" anchor="ctr">
                    <a:solidFill>
                      <a:srgbClr val="EEF2F6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731520" y="6455664"/>
            <a:ext cx="98755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5A6B7B"/>
                </a:solidFill>
                <a:latin typeface="NanumGothic"/>
                <a:ea typeface="NanumGothic"/>
              </a:rPr>
              <a:t>근거: IRLSSG 2014; Hallegraeff 2017; AASM 지침 2025(J Clin Sleep Med)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64240" y="6455664"/>
            <a:ext cx="82296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5A6B7B"/>
                </a:solidFill>
                <a:latin typeface="NanumGothic"/>
                <a:ea typeface="NanumGothic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10896"/>
            <a:ext cx="109728" cy="457200"/>
          </a:xfrm>
          <a:prstGeom prst="rect">
            <a:avLst/>
          </a:prstGeom>
          <a:solidFill>
            <a:srgbClr val="2C8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37744"/>
            <a:ext cx="969264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2500" b="1" i="0">
                <a:solidFill>
                  <a:srgbClr val="1B355E"/>
                </a:solidFill>
                <a:latin typeface="NanumGothic"/>
                <a:ea typeface="NanumGothic"/>
              </a:rPr>
              <a:t>이차 원인 감별·교정 (원인 표적치료가 먼저)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109728"/>
            <a:ext cx="7315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1F6E70"/>
                </a:solidFill>
                <a:latin typeface="NanumGothic"/>
                <a:ea typeface="NanumGothic"/>
              </a:rPr>
              <a:t>진단 · 원인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969264"/>
            <a:ext cx="10881360" cy="17780"/>
          </a:xfrm>
          <a:prstGeom prst="rect">
            <a:avLst/>
          </a:prstGeom>
          <a:solidFill>
            <a:srgbClr val="D5D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906963" y="365760"/>
            <a:ext cx="781812" cy="347472"/>
          </a:xfrm>
          <a:prstGeom prst="roundRect">
            <a:avLst>
              <a:gd name="adj" fmla="val 8000"/>
            </a:avLst>
          </a:prstGeom>
          <a:solidFill>
            <a:srgbClr val="1F6E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06963" y="365760"/>
            <a:ext cx="78181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FFFFFF"/>
                </a:solidFill>
                <a:latin typeface="NanumGothic"/>
                <a:ea typeface="NanumGothic"/>
              </a:rPr>
              <a:t>원인 교정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31520" y="1371600"/>
          <a:ext cx="10835640" cy="39776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743200"/>
                <a:gridCol w="5074920"/>
                <a:gridCol w="3017520"/>
              </a:tblGrid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NanumGothic"/>
                          <a:ea typeface="NanumGothic"/>
                        </a:rPr>
                        <a:t>원인</a:t>
                      </a:r>
                    </a:p>
                  </a:txBody>
                  <a:tcPr marL="73152" marR="54864" marT="18288" marB="18288" anchor="ctr">
                    <a:solidFill>
                      <a:srgbClr val="1B355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NanumGothic"/>
                          <a:ea typeface="NanumGothic"/>
                        </a:rPr>
                        <a:t>임상 단서 · 감별</a:t>
                      </a:r>
                    </a:p>
                  </a:txBody>
                  <a:tcPr marL="73152" marR="54864" marT="18288" marB="18288" anchor="ctr">
                    <a:solidFill>
                      <a:srgbClr val="1B355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NanumGothic"/>
                          <a:ea typeface="NanumGothic"/>
                        </a:rPr>
                        <a:t>대응</a:t>
                      </a:r>
                    </a:p>
                  </a:txBody>
                  <a:tcPr marL="73152" marR="54864" marT="18288" marB="18288" anchor="ctr">
                    <a:solidFill>
                      <a:srgbClr val="1B355E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1A202C"/>
                          </a:solidFill>
                          <a:latin typeface="NanumGothic"/>
                          <a:ea typeface="NanumGothic"/>
                        </a:rPr>
                        <a:t>말초동맥질환(PAD)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A202C"/>
                          </a:solidFill>
                          <a:latin typeface="NanumGothic"/>
                          <a:ea typeface="NanumGothic"/>
                        </a:rPr>
                        <a:t>파행·발냉감·맥박 약화·ABI 저하 (PAD 환자 ~75% 하지경련)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A202C"/>
                          </a:solidFill>
                          <a:latin typeface="NanumGothic"/>
                          <a:ea typeface="NanumGothic"/>
                        </a:rPr>
                        <a:t>ABI·혈관평가·위험인자 관리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1A202C"/>
                          </a:solidFill>
                          <a:latin typeface="NanumGothic"/>
                          <a:ea typeface="NanumGothic"/>
                        </a:rPr>
                        <a:t>요추관협착(LSS)</a:t>
                      </a:r>
                    </a:p>
                  </a:txBody>
                  <a:tcPr marL="73152" marR="54864" marT="18288" marB="18288" anchor="ctr"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A202C"/>
                          </a:solidFill>
                          <a:latin typeface="NanumGothic"/>
                          <a:ea typeface="NanumGothic"/>
                        </a:rPr>
                        <a:t>신경인성 파행·자세 의존성 증상</a:t>
                      </a:r>
                    </a:p>
                  </a:txBody>
                  <a:tcPr marL="73152" marR="54864" marT="18288" marB="18288" anchor="ctr"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A202C"/>
                          </a:solidFill>
                          <a:latin typeface="NanumGothic"/>
                          <a:ea typeface="NanumGothic"/>
                        </a:rPr>
                        <a:t>영상·재활, BTX/신경차단</a:t>
                      </a:r>
                    </a:p>
                  </a:txBody>
                  <a:tcPr marL="73152" marR="54864" marT="18288" marB="18288" anchor="ctr">
                    <a:solidFill>
                      <a:srgbClr val="EEF2F6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1A202C"/>
                          </a:solidFill>
                          <a:latin typeface="NanumGothic"/>
                          <a:ea typeface="NanumGothic"/>
                        </a:rPr>
                        <a:t>말초신경병증(당뇨)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A202C"/>
                          </a:solidFill>
                          <a:latin typeface="NanumGothic"/>
                          <a:ea typeface="NanumGothic"/>
                        </a:rPr>
                        <a:t>저림·이상감각·야간 악화·감각 저하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A202C"/>
                          </a:solidFill>
                          <a:latin typeface="NanumGothic"/>
                          <a:ea typeface="NanumGothic"/>
                        </a:rPr>
                        <a:t>혈당/HbA1c·신경학적 평가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1A202C"/>
                          </a:solidFill>
                          <a:latin typeface="NanumGothic"/>
                          <a:ea typeface="NanumGothic"/>
                        </a:rPr>
                        <a:t>만성 정맥부전(CVI)</a:t>
                      </a:r>
                    </a:p>
                  </a:txBody>
                  <a:tcPr marL="73152" marR="54864" marT="18288" marB="18288" anchor="ctr"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A202C"/>
                          </a:solidFill>
                          <a:latin typeface="NanumGothic"/>
                          <a:ea typeface="NanumGothic"/>
                        </a:rPr>
                        <a:t>하지 부종·정맥류·오후 악화</a:t>
                      </a:r>
                    </a:p>
                  </a:txBody>
                  <a:tcPr marL="73152" marR="54864" marT="18288" marB="18288" anchor="ctr"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A202C"/>
                          </a:solidFill>
                          <a:latin typeface="NanumGothic"/>
                          <a:ea typeface="NanumGothic"/>
                        </a:rPr>
                        <a:t>압박스타킹·정맥 평가/치료</a:t>
                      </a:r>
                    </a:p>
                  </a:txBody>
                  <a:tcPr marL="73152" marR="54864" marT="18288" marB="18288" anchor="ctr">
                    <a:solidFill>
                      <a:srgbClr val="EEF2F6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1A202C"/>
                          </a:solidFill>
                          <a:latin typeface="NanumGothic"/>
                          <a:ea typeface="NanumGothic"/>
                        </a:rPr>
                        <a:t>갑상선기능저하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A202C"/>
                          </a:solidFill>
                          <a:latin typeface="NanumGothic"/>
                          <a:ea typeface="NanumGothic"/>
                        </a:rPr>
                        <a:t>피로·서맥·건반사 지연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A202C"/>
                          </a:solidFill>
                          <a:latin typeface="NanumGothic"/>
                          <a:ea typeface="NanumGothic"/>
                        </a:rPr>
                        <a:t>TSH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1A202C"/>
                          </a:solidFill>
                          <a:latin typeface="NanumGothic"/>
                          <a:ea typeface="NanumGothic"/>
                        </a:rPr>
                        <a:t>전해질 이상·탈수</a:t>
                      </a:r>
                    </a:p>
                  </a:txBody>
                  <a:tcPr marL="73152" marR="54864" marT="18288" marB="18288" anchor="ctr"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A202C"/>
                          </a:solidFill>
                          <a:latin typeface="NanumGothic"/>
                          <a:ea typeface="NanumGothic"/>
                        </a:rPr>
                        <a:t>이뇨제·설사·신부전 (Na 저하 연관)</a:t>
                      </a:r>
                    </a:p>
                  </a:txBody>
                  <a:tcPr marL="73152" marR="54864" marT="18288" marB="18288" anchor="ctr"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A202C"/>
                          </a:solidFill>
                          <a:latin typeface="NanumGothic"/>
                          <a:ea typeface="NanumGothic"/>
                        </a:rPr>
                        <a:t>전해질·원인 교정</a:t>
                      </a:r>
                    </a:p>
                  </a:txBody>
                  <a:tcPr marL="73152" marR="54864" marT="18288" marB="18288" anchor="ctr">
                    <a:solidFill>
                      <a:srgbClr val="EEF2F6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1A202C"/>
                          </a:solidFill>
                          <a:latin typeface="NanumGothic"/>
                          <a:ea typeface="NanumGothic"/>
                        </a:rPr>
                        <a:t>약물 유발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A202C"/>
                          </a:solidFill>
                          <a:latin typeface="NanumGothic"/>
                          <a:ea typeface="NanumGothic"/>
                        </a:rPr>
                        <a:t>이뇨제·statin·LABA·estrogen 등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A202C"/>
                          </a:solidFill>
                          <a:latin typeface="NanumGothic"/>
                          <a:ea typeface="NanumGothic"/>
                        </a:rPr>
                        <a:t>원인 약물 검토·조정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731520" y="6455664"/>
            <a:ext cx="98755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5A6B7B"/>
                </a:solidFill>
                <a:latin typeface="NanumGothic"/>
                <a:ea typeface="NanumGothic"/>
              </a:rPr>
              <a:t>근거: Allen &amp; Kirby 2012(AFP); Rabbitt 2016; Grandner &amp; Winkelman 2017 (문헌고찰 Part 9-B)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64240" y="6455664"/>
            <a:ext cx="82296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5A6B7B"/>
                </a:solidFill>
                <a:latin typeface="NanumGothic"/>
                <a:ea typeface="NanumGothic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10896"/>
            <a:ext cx="109728" cy="457200"/>
          </a:xfrm>
          <a:prstGeom prst="rect">
            <a:avLst/>
          </a:prstGeom>
          <a:solidFill>
            <a:srgbClr val="2C8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37744"/>
            <a:ext cx="969264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2500" b="1" i="0">
                <a:solidFill>
                  <a:srgbClr val="1B355E"/>
                </a:solidFill>
                <a:latin typeface="NanumGothic"/>
                <a:ea typeface="NanumGothic"/>
              </a:rPr>
              <a:t>진단적 접근 — NLC는 '증상'이지 '진단'이 아니다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109728"/>
            <a:ext cx="7315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1F6E70"/>
                </a:solidFill>
                <a:latin typeface="NanumGothic"/>
                <a:ea typeface="NanumGothic"/>
              </a:rPr>
              <a:t>진단 · workup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969264"/>
            <a:ext cx="10881360" cy="17780"/>
          </a:xfrm>
          <a:prstGeom prst="rect">
            <a:avLst/>
          </a:prstGeom>
          <a:solidFill>
            <a:srgbClr val="D5D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1222431" y="365760"/>
            <a:ext cx="466344" cy="347472"/>
          </a:xfrm>
          <a:prstGeom prst="roundRect">
            <a:avLst>
              <a:gd name="adj" fmla="val 8000"/>
            </a:avLst>
          </a:prstGeom>
          <a:solidFill>
            <a:srgbClr val="2C8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222431" y="365760"/>
            <a:ext cx="466344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FFFFFF"/>
                </a:solidFill>
                <a:latin typeface="NanumGothic"/>
                <a:ea typeface="NanumGothic"/>
              </a:rPr>
              <a:t>감별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463040"/>
            <a:ext cx="2103120" cy="868680"/>
          </a:xfrm>
          <a:prstGeom prst="roundRect">
            <a:avLst>
              <a:gd name="adj" fmla="val 8000"/>
            </a:avLst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463040"/>
            <a:ext cx="210312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NanumGothic"/>
                <a:ea typeface="NanumGothic"/>
              </a:rPr>
              <a:t>병력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971800" y="1463040"/>
            <a:ext cx="8595360" cy="868680"/>
          </a:xfrm>
          <a:prstGeom prst="roundRect">
            <a:avLst>
              <a:gd name="adj" fmla="val 8000"/>
            </a:avLst>
          </a:prstGeom>
          <a:solidFill>
            <a:srgbClr val="F5F8FB"/>
          </a:solidFill>
          <a:ln w="12700">
            <a:solidFill>
              <a:srgbClr val="D5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46120" y="1572768"/>
            <a:ext cx="813816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1A202C"/>
                </a:solidFill>
                <a:latin typeface="NanumGothic"/>
                <a:ea typeface="NanumGothic"/>
              </a:rPr>
              <a:t>발생 시각·부위·지속시간, 이상감각 동반 여부, 파행 유무, 복용 약물, 투석·임신·간·갑상선·당뇨 병력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2542032"/>
            <a:ext cx="2103120" cy="868680"/>
          </a:xfrm>
          <a:prstGeom prst="roundRect">
            <a:avLst>
              <a:gd name="adj" fmla="val 8000"/>
            </a:avLst>
          </a:prstGeom>
          <a:solidFill>
            <a:srgbClr val="2447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2542032"/>
            <a:ext cx="210312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NanumGothic"/>
                <a:ea typeface="NanumGothic"/>
              </a:rPr>
              <a:t>진찰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971800" y="2542032"/>
            <a:ext cx="8595360" cy="868680"/>
          </a:xfrm>
          <a:prstGeom prst="roundRect">
            <a:avLst>
              <a:gd name="adj" fmla="val 8000"/>
            </a:avLst>
          </a:prstGeom>
          <a:solidFill>
            <a:srgbClr val="F5F8FB"/>
          </a:solidFill>
          <a:ln w="12700">
            <a:solidFill>
              <a:srgbClr val="D5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46120" y="2651760"/>
            <a:ext cx="813816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1A202C"/>
                </a:solidFill>
                <a:latin typeface="NanumGothic"/>
                <a:ea typeface="NanumGothic"/>
              </a:rPr>
              <a:t>하지 맥박·피부·부종·신경학적 검사, 건반사(patellar/achilles)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3621024"/>
            <a:ext cx="2103120" cy="868680"/>
          </a:xfrm>
          <a:prstGeom prst="roundRect">
            <a:avLst>
              <a:gd name="adj" fmla="val 8000"/>
            </a:avLst>
          </a:prstGeom>
          <a:solidFill>
            <a:srgbClr val="2C8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3621024"/>
            <a:ext cx="210312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NanumGothic"/>
                <a:ea typeface="NanumGothic"/>
              </a:rPr>
              <a:t>감별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971800" y="3621024"/>
            <a:ext cx="8595360" cy="868680"/>
          </a:xfrm>
          <a:prstGeom prst="roundRect">
            <a:avLst>
              <a:gd name="adj" fmla="val 8000"/>
            </a:avLst>
          </a:prstGeom>
          <a:solidFill>
            <a:srgbClr val="F5F8FB"/>
          </a:solidFill>
          <a:ln w="12700">
            <a:solidFill>
              <a:srgbClr val="D5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246120" y="3730752"/>
            <a:ext cx="813816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1A202C"/>
                </a:solidFill>
                <a:latin typeface="NanumGothic"/>
                <a:ea typeface="NanumGothic"/>
              </a:rPr>
              <a:t>RLS(움직임으로 완화)·간헐성 파행·근염·말초신경병증과 구분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4700016"/>
            <a:ext cx="2103120" cy="868680"/>
          </a:xfrm>
          <a:prstGeom prst="roundRect">
            <a:avLst>
              <a:gd name="adj" fmla="val 8000"/>
            </a:avLst>
          </a:prstGeom>
          <a:solidFill>
            <a:srgbClr val="1F6E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4700016"/>
            <a:ext cx="210312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NanumGothic"/>
                <a:ea typeface="NanumGothic"/>
              </a:rPr>
              <a:t>검사(선택적)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971800" y="4700016"/>
            <a:ext cx="8595360" cy="868680"/>
          </a:xfrm>
          <a:prstGeom prst="roundRect">
            <a:avLst>
              <a:gd name="adj" fmla="val 8000"/>
            </a:avLst>
          </a:prstGeom>
          <a:solidFill>
            <a:srgbClr val="F5F8FB"/>
          </a:solidFill>
          <a:ln w="12700">
            <a:solidFill>
              <a:srgbClr val="D5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246120" y="4809744"/>
            <a:ext cx="813816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1A202C"/>
                </a:solidFill>
                <a:latin typeface="NanumGothic"/>
                <a:ea typeface="NanumGothic"/>
              </a:rPr>
              <a:t>단서 있을 때만 — 전해질·신기능·TSH·혈당·ABI. 일상적 전해질 검사는 특발성에서 대개 정상·불필요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" y="5806440"/>
            <a:ext cx="10835640" cy="548640"/>
          </a:xfrm>
          <a:prstGeom prst="roundRect">
            <a:avLst>
              <a:gd name="adj" fmla="val 8000"/>
            </a:avLst>
          </a:prstGeom>
          <a:solidFill>
            <a:srgbClr val="1B355E"/>
          </a:solidFill>
          <a:ln w="12700">
            <a:solidFill>
              <a:srgbClr val="D5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60120" y="5806440"/>
            <a:ext cx="1042416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FFFFFF"/>
                </a:solidFill>
                <a:latin typeface="NanumGothic"/>
                <a:ea typeface="NanumGothic"/>
              </a:rPr>
              <a:t>요점: 병력·진찰로 대부분 감별 가능하며 광범위 검사는 대개 불필요. 특정 임상 단서가 있을 때만 표적 검사.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6455664"/>
            <a:ext cx="98755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5A6B7B"/>
                </a:solidFill>
                <a:latin typeface="NanumGothic"/>
                <a:ea typeface="NanumGothic"/>
              </a:rPr>
              <a:t>근거: Allen &amp; Kirby 2012(AFP); Rabbitt 2016(Age Ageing)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064240" y="6455664"/>
            <a:ext cx="82296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5A6B7B"/>
                </a:solidFill>
                <a:latin typeface="NanumGothic"/>
                <a:ea typeface="NanumGothic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10896"/>
            <a:ext cx="109728" cy="457200"/>
          </a:xfrm>
          <a:prstGeom prst="rect">
            <a:avLst/>
          </a:prstGeom>
          <a:solidFill>
            <a:srgbClr val="2C8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37744"/>
            <a:ext cx="969264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2500" b="1" i="0">
                <a:solidFill>
                  <a:srgbClr val="1B355E"/>
                </a:solidFill>
                <a:latin typeface="NanumGothic"/>
                <a:ea typeface="NanumGothic"/>
              </a:rPr>
              <a:t>치료 근거 한눈에 — 무엇이 되고 무엇이 안 되나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109728"/>
            <a:ext cx="7315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1F6E70"/>
                </a:solidFill>
                <a:latin typeface="NanumGothic"/>
                <a:ea typeface="NanumGothic"/>
              </a:rPr>
              <a:t>총괄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969264"/>
            <a:ext cx="10881360" cy="17780"/>
          </a:xfrm>
          <a:prstGeom prst="rect">
            <a:avLst/>
          </a:prstGeom>
          <a:solidFill>
            <a:srgbClr val="D5D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1222431" y="365760"/>
            <a:ext cx="466344" cy="347472"/>
          </a:xfrm>
          <a:prstGeom prst="roundRect">
            <a:avLst>
              <a:gd name="adj" fmla="val 8000"/>
            </a:avLst>
          </a:prstGeom>
          <a:solidFill>
            <a:srgbClr val="2C8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222431" y="365760"/>
            <a:ext cx="466344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FFFFFF"/>
                </a:solidFill>
                <a:latin typeface="NanumGothic"/>
                <a:ea typeface="NanumGothic"/>
              </a:rPr>
              <a:t>요약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31520" y="1371600"/>
          <a:ext cx="10835640" cy="41148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114800"/>
                <a:gridCol w="3246120"/>
                <a:gridCol w="1920240"/>
                <a:gridCol w="1554480"/>
              </a:tblGrid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NanumGothic"/>
                          <a:ea typeface="NanumGothic"/>
                        </a:rPr>
                        <a:t>치료</a:t>
                      </a:r>
                    </a:p>
                  </a:txBody>
                  <a:tcPr marL="73152" marR="54864" marT="18288" marB="18288" anchor="ctr">
                    <a:solidFill>
                      <a:srgbClr val="1B355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NanumGothic"/>
                          <a:ea typeface="NanumGothic"/>
                        </a:rPr>
                        <a:t>야간경련 직접 근거</a:t>
                      </a:r>
                    </a:p>
                  </a:txBody>
                  <a:tcPr marL="73152" marR="54864" marT="18288" marB="18288" anchor="ctr">
                    <a:solidFill>
                      <a:srgbClr val="1B355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NanumGothic"/>
                          <a:ea typeface="NanumGothic"/>
                        </a:rPr>
                        <a:t>근거수준</a:t>
                      </a:r>
                    </a:p>
                  </a:txBody>
                  <a:tcPr marL="73152" marR="54864" marT="18288" marB="18288" anchor="ctr">
                    <a:solidFill>
                      <a:srgbClr val="1B355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NanumGothic"/>
                          <a:ea typeface="NanumGothic"/>
                        </a:rPr>
                        <a:t>위치</a:t>
                      </a:r>
                    </a:p>
                  </a:txBody>
                  <a:tcPr marL="73152" marR="54864" marT="18288" marB="18288" anchor="ctr">
                    <a:solidFill>
                      <a:srgbClr val="1B355E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1A202C"/>
                          </a:solidFill>
                          <a:latin typeface="NanumGothic"/>
                          <a:ea typeface="NanumGothic"/>
                        </a:rPr>
                        <a:t>취침 전 스트레칭(비약물)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A202C"/>
                          </a:solidFill>
                          <a:latin typeface="NanumGothic"/>
                          <a:ea typeface="NanumGothic"/>
                        </a:rPr>
                        <a:t>RCT(Hallegraeff 2012)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A202C"/>
                          </a:solidFill>
                          <a:latin typeface="NanumGothic"/>
                          <a:ea typeface="NanumGothic"/>
                        </a:rPr>
                        <a:t>Level I~II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A202C"/>
                          </a:solidFill>
                          <a:latin typeface="NanumGothic"/>
                          <a:ea typeface="NanumGothic"/>
                        </a:rPr>
                        <a:t>1차 · 최우선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1A202C"/>
                          </a:solidFill>
                          <a:latin typeface="NanumGothic"/>
                          <a:ea typeface="NanumGothic"/>
                        </a:rPr>
                        <a:t>보툴리눔독소(비복근)</a:t>
                      </a:r>
                    </a:p>
                  </a:txBody>
                  <a:tcPr marL="73152" marR="54864" marT="18288" marB="18288" anchor="ctr"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A202C"/>
                          </a:solidFill>
                          <a:latin typeface="NanumGothic"/>
                          <a:ea typeface="NanumGothic"/>
                        </a:rPr>
                        <a:t>RCT 2편(Park 2017·Restivo 2018)</a:t>
                      </a:r>
                    </a:p>
                  </a:txBody>
                  <a:tcPr marL="73152" marR="54864" marT="18288" marB="18288" anchor="ctr"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A202C"/>
                          </a:solidFill>
                          <a:latin typeface="NanumGothic"/>
                          <a:ea typeface="NanumGothic"/>
                        </a:rPr>
                        <a:t>Level II</a:t>
                      </a:r>
                    </a:p>
                  </a:txBody>
                  <a:tcPr marL="73152" marR="54864" marT="18288" marB="18288" anchor="ctr"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A202C"/>
                          </a:solidFill>
                          <a:latin typeface="NanumGothic"/>
                          <a:ea typeface="NanumGothic"/>
                        </a:rPr>
                        <a:t>불응성 · 선택적</a:t>
                      </a:r>
                    </a:p>
                  </a:txBody>
                  <a:tcPr marL="73152" marR="54864" marT="18288" marB="18288" anchor="ctr">
                    <a:solidFill>
                      <a:srgbClr val="EEF2F6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1A202C"/>
                          </a:solidFill>
                          <a:latin typeface="NanumGothic"/>
                          <a:ea typeface="NanumGothic"/>
                        </a:rPr>
                        <a:t>국소마취제 유발점주사 / dry needling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A202C"/>
                          </a:solidFill>
                          <a:latin typeface="NanumGothic"/>
                          <a:ea typeface="NanumGothic"/>
                        </a:rPr>
                        <a:t>소규모 RCT·관찰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A202C"/>
                          </a:solidFill>
                          <a:latin typeface="NanumGothic"/>
                          <a:ea typeface="NanumGothic"/>
                        </a:rPr>
                        <a:t>Level III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A202C"/>
                          </a:solidFill>
                          <a:latin typeface="NanumGothic"/>
                          <a:ea typeface="NanumGothic"/>
                        </a:rPr>
                        <a:t>MTrP 동반 시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1A202C"/>
                          </a:solidFill>
                          <a:latin typeface="NanumGothic"/>
                          <a:ea typeface="NanumGothic"/>
                        </a:rPr>
                        <a:t>심비골신경 내측분지 차단</a:t>
                      </a:r>
                    </a:p>
                  </a:txBody>
                  <a:tcPr marL="73152" marR="54864" marT="18288" marB="18288" anchor="ctr"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A202C"/>
                          </a:solidFill>
                          <a:latin typeface="NanumGothic"/>
                          <a:ea typeface="NanumGothic"/>
                        </a:rPr>
                        <a:t>전향 비교 1편(Imura 2015)</a:t>
                      </a:r>
                    </a:p>
                  </a:txBody>
                  <a:tcPr marL="73152" marR="54864" marT="18288" marB="18288" anchor="ctr"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A202C"/>
                          </a:solidFill>
                          <a:latin typeface="NanumGothic"/>
                          <a:ea typeface="NanumGothic"/>
                        </a:rPr>
                        <a:t>Level III~IV</a:t>
                      </a:r>
                    </a:p>
                  </a:txBody>
                  <a:tcPr marL="73152" marR="54864" marT="18288" marB="18288" anchor="ctr"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A202C"/>
                          </a:solidFill>
                          <a:latin typeface="NanumGothic"/>
                          <a:ea typeface="NanumGothic"/>
                        </a:rPr>
                        <a:t>직접근거 · 선택적</a:t>
                      </a:r>
                    </a:p>
                  </a:txBody>
                  <a:tcPr marL="73152" marR="54864" marT="18288" marB="18288" anchor="ctr">
                    <a:solidFill>
                      <a:srgbClr val="EEF2F6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1A202C"/>
                          </a:solidFill>
                          <a:latin typeface="NanumGothic"/>
                          <a:ea typeface="NanumGothic"/>
                        </a:rPr>
                        <a:t>체외충격파(ESWT)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A202C"/>
                          </a:solidFill>
                          <a:latin typeface="NanumGothic"/>
                          <a:ea typeface="NanumGothic"/>
                        </a:rPr>
                        <a:t>후향 1편+경직 RCT 다수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A202C"/>
                          </a:solidFill>
                          <a:latin typeface="NanumGothic"/>
                          <a:ea typeface="NanumGothic"/>
                        </a:rPr>
                        <a:t>경직 I~II / 경련 III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A202C"/>
                          </a:solidFill>
                          <a:latin typeface="NanumGothic"/>
                          <a:ea typeface="NanumGothic"/>
                        </a:rPr>
                        <a:t>보조 · 근거형성중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1A202C"/>
                          </a:solidFill>
                          <a:latin typeface="NanumGothic"/>
                          <a:ea typeface="NanumGothic"/>
                        </a:rPr>
                        <a:t>약물(quinine·Vit B·diltiazem 등)</a:t>
                      </a:r>
                    </a:p>
                  </a:txBody>
                  <a:tcPr marL="73152" marR="54864" marT="18288" marB="18288" anchor="ctr"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A202C"/>
                          </a:solidFill>
                          <a:latin typeface="NanumGothic"/>
                          <a:ea typeface="NanumGothic"/>
                        </a:rPr>
                        <a:t>제한적(quinine은 효과·독성)</a:t>
                      </a:r>
                    </a:p>
                  </a:txBody>
                  <a:tcPr marL="73152" marR="54864" marT="18288" marB="18288" anchor="ctr"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A202C"/>
                          </a:solidFill>
                          <a:latin typeface="NanumGothic"/>
                          <a:ea typeface="NanumGothic"/>
                        </a:rPr>
                        <a:t>Level A~C</a:t>
                      </a:r>
                    </a:p>
                  </a:txBody>
                  <a:tcPr marL="73152" marR="54864" marT="18288" marB="18288" anchor="ctr"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A202C"/>
                          </a:solidFill>
                          <a:latin typeface="NanumGothic"/>
                          <a:ea typeface="NanumGothic"/>
                        </a:rPr>
                        <a:t>개별화</a:t>
                      </a:r>
                    </a:p>
                  </a:txBody>
                  <a:tcPr marL="73152" marR="54864" marT="18288" marB="18288" anchor="ctr">
                    <a:solidFill>
                      <a:srgbClr val="EEF2F6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1A202C"/>
                          </a:solidFill>
                          <a:latin typeface="NanumGothic"/>
                          <a:ea typeface="NanumGothic"/>
                        </a:rPr>
                        <a:t>마그네슘(특발성)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A202C"/>
                          </a:solidFill>
                          <a:latin typeface="NanumGothic"/>
                          <a:ea typeface="NanumGothic"/>
                        </a:rPr>
                        <a:t>무효(Cochrane 2020)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A202C"/>
                          </a:solidFill>
                          <a:latin typeface="NanumGothic"/>
                          <a:ea typeface="NanumGothic"/>
                        </a:rPr>
                        <a:t>—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A202C"/>
                          </a:solidFill>
                          <a:latin typeface="NanumGothic"/>
                          <a:ea typeface="NanumGothic"/>
                        </a:rPr>
                        <a:t>권고 안 함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1A202C"/>
                          </a:solidFill>
                          <a:latin typeface="NanumGothic"/>
                          <a:ea typeface="NanumGothic"/>
                        </a:rPr>
                        <a:t>혈관주위 스테로이드 / FGA / LSB</a:t>
                      </a:r>
                    </a:p>
                  </a:txBody>
                  <a:tcPr marL="73152" marR="54864" marT="18288" marB="18288" anchor="ctr"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A202C"/>
                          </a:solidFill>
                          <a:latin typeface="NanumGothic"/>
                          <a:ea typeface="NanumGothic"/>
                        </a:rPr>
                        <a:t>직접 근거 없음</a:t>
                      </a:r>
                    </a:p>
                  </a:txBody>
                  <a:tcPr marL="73152" marR="54864" marT="18288" marB="18288" anchor="ctr"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A202C"/>
                          </a:solidFill>
                          <a:latin typeface="NanumGothic"/>
                          <a:ea typeface="NanumGothic"/>
                        </a:rPr>
                        <a:t>Level V</a:t>
                      </a:r>
                    </a:p>
                  </a:txBody>
                  <a:tcPr marL="73152" marR="54864" marT="18288" marB="18288" anchor="ctr"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A202C"/>
                          </a:solidFill>
                          <a:latin typeface="NanumGothic"/>
                          <a:ea typeface="NanumGothic"/>
                        </a:rPr>
                        <a:t>비권고 · 연구단계</a:t>
                      </a:r>
                    </a:p>
                  </a:txBody>
                  <a:tcPr marL="73152" marR="54864" marT="18288" marB="18288" anchor="ctr">
                    <a:solidFill>
                      <a:srgbClr val="EEF2F6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731520" y="6455664"/>
            <a:ext cx="98755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5A6B7B"/>
                </a:solidFill>
                <a:latin typeface="NanumGothic"/>
                <a:ea typeface="NanumGothic"/>
              </a:rPr>
              <a:t>근거: 문헌고찰 9개 항목 근거 요약표 종합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64240" y="6455664"/>
            <a:ext cx="82296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5A6B7B"/>
                </a:solidFill>
                <a:latin typeface="NanumGothic"/>
                <a:ea typeface="NanumGothic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10896"/>
            <a:ext cx="109728" cy="457200"/>
          </a:xfrm>
          <a:prstGeom prst="rect">
            <a:avLst/>
          </a:prstGeom>
          <a:solidFill>
            <a:srgbClr val="2C8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37744"/>
            <a:ext cx="969264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2500" b="1" i="0">
                <a:solidFill>
                  <a:srgbClr val="1B355E"/>
                </a:solidFill>
                <a:latin typeface="NanumGothic"/>
                <a:ea typeface="NanumGothic"/>
              </a:rPr>
              <a:t>1차·최고 근거: 취침 전 스트레칭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109728"/>
            <a:ext cx="7315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1F6E70"/>
                </a:solidFill>
                <a:latin typeface="NanumGothic"/>
                <a:ea typeface="NanumGothic"/>
              </a:rPr>
              <a:t>비약물 · 모든 환자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969264"/>
            <a:ext cx="10881360" cy="17780"/>
          </a:xfrm>
          <a:prstGeom prst="rect">
            <a:avLst/>
          </a:prstGeom>
          <a:solidFill>
            <a:srgbClr val="D5D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906963" y="365760"/>
            <a:ext cx="781812" cy="347472"/>
          </a:xfrm>
          <a:prstGeom prst="roundRect">
            <a:avLst>
              <a:gd name="adj" fmla="val 8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06963" y="365760"/>
            <a:ext cx="78181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FFFFFF"/>
                </a:solidFill>
                <a:latin typeface="NanumGothic"/>
                <a:ea typeface="NanumGothic"/>
              </a:rPr>
              <a:t>효과 있음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371600"/>
            <a:ext cx="6400800" cy="4754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900"/>
              </a:spcAft>
            </a:pPr>
            <a:r>
              <a:rPr sz="979" b="1" i="0">
                <a:solidFill>
                  <a:srgbClr val="2C898A"/>
                </a:solidFill>
                <a:latin typeface="NanumGothic"/>
                <a:ea typeface="NanumGothic"/>
              </a:rPr>
              <a:t>●  </a:t>
            </a:r>
            <a:r>
              <a:rPr sz="1400" b="1" i="0">
                <a:solidFill>
                  <a:srgbClr val="1A202C"/>
                </a:solidFill>
                <a:latin typeface="NanumGothic"/>
                <a:ea typeface="NanumGothic"/>
              </a:rPr>
              <a:t>Hallegraeff 2012 RCT (55세+ 80명, 은닉배정·ITT): 매일 취침 직전 종아리(비복근·가자미근)+햄스트링 스트레칭 6주.</a:t>
            </a:r>
          </a:p>
          <a:p>
            <a:pPr algn="l">
              <a:lnSpc>
                <a:spcPct val="108000"/>
              </a:lnSpc>
              <a:spcAft>
                <a:spcPts val="900"/>
              </a:spcAft>
            </a:pPr>
            <a:r>
              <a:rPr sz="1400" b="1" i="0">
                <a:solidFill>
                  <a:srgbClr val="5A6B7B"/>
                </a:solidFill>
                <a:latin typeface="NanumGothic"/>
                <a:ea typeface="NanumGothic"/>
              </a:rPr>
              <a:t>      –  </a:t>
            </a:r>
            <a:r>
              <a:rPr sz="1400" b="1" i="0">
                <a:solidFill>
                  <a:srgbClr val="2E7D32"/>
                </a:solidFill>
                <a:latin typeface="NanumGothic"/>
                <a:ea typeface="NanumGothic"/>
              </a:rPr>
              <a:t>경련 빈도 감소 —평균차 1.2회/야간 (95% CI 0.6–1.8)</a:t>
            </a:r>
          </a:p>
          <a:p>
            <a:pPr algn="l">
              <a:lnSpc>
                <a:spcPct val="108000"/>
              </a:lnSpc>
              <a:spcAft>
                <a:spcPts val="900"/>
              </a:spcAft>
            </a:pPr>
            <a:r>
              <a:rPr sz="1400" b="1" i="0">
                <a:solidFill>
                  <a:srgbClr val="5A6B7B"/>
                </a:solidFill>
                <a:latin typeface="NanumGothic"/>
                <a:ea typeface="NanumGothic"/>
              </a:rPr>
              <a:t>      –  </a:t>
            </a:r>
            <a:r>
              <a:rPr sz="1400" b="1" i="0">
                <a:solidFill>
                  <a:srgbClr val="2E7D32"/>
                </a:solidFill>
                <a:latin typeface="NanumGothic"/>
                <a:ea typeface="NanumGothic"/>
              </a:rPr>
              <a:t>경련 강도 감소 —평균차 1.3 cm VAS (95% CI 0.9–1.7)</a:t>
            </a:r>
          </a:p>
          <a:p>
            <a:pPr algn="l">
              <a:lnSpc>
                <a:spcPct val="108000"/>
              </a:lnSpc>
              <a:spcAft>
                <a:spcPts val="900"/>
              </a:spcAft>
            </a:pPr>
            <a:r>
              <a:rPr sz="979" b="1" i="0">
                <a:solidFill>
                  <a:srgbClr val="2C898A"/>
                </a:solidFill>
                <a:latin typeface="NanumGothic"/>
                <a:ea typeface="NanumGothic"/>
              </a:rPr>
              <a:t>●  </a:t>
            </a:r>
            <a:r>
              <a:rPr sz="1400" b="0" i="0">
                <a:solidFill>
                  <a:srgbClr val="1A202C"/>
                </a:solidFill>
                <a:latin typeface="NanumGothic"/>
                <a:ea typeface="NanumGothic"/>
              </a:rPr>
              <a:t>처방 예: 벽 밀기 자세 종아리 스트레칭 10–30초 × 2–3회, 취침 전 및 낮 시간 반복.</a:t>
            </a:r>
          </a:p>
          <a:p>
            <a:pPr algn="l">
              <a:lnSpc>
                <a:spcPct val="108000"/>
              </a:lnSpc>
              <a:spcAft>
                <a:spcPts val="900"/>
              </a:spcAft>
            </a:pPr>
            <a:r>
              <a:rPr sz="979" b="1" i="0">
                <a:solidFill>
                  <a:srgbClr val="2C898A"/>
                </a:solidFill>
                <a:latin typeface="NanumGothic"/>
                <a:ea typeface="NanumGothic"/>
              </a:rPr>
              <a:t>●  </a:t>
            </a:r>
            <a:r>
              <a:rPr sz="1400" b="0" i="0">
                <a:solidFill>
                  <a:srgbClr val="1A202C"/>
                </a:solidFill>
                <a:latin typeface="NanumGothic"/>
                <a:ea typeface="NanumGothic"/>
              </a:rPr>
              <a:t>급성 발작: 발을 발등 쪽으로 굽혀(dorsiflexion) 수동 신장, 걷기·마사지로 즉시 완화.</a:t>
            </a:r>
          </a:p>
          <a:p>
            <a:pPr algn="l">
              <a:lnSpc>
                <a:spcPct val="108000"/>
              </a:lnSpc>
              <a:spcAft>
                <a:spcPts val="900"/>
              </a:spcAft>
            </a:pPr>
            <a:r>
              <a:rPr sz="979" b="1" i="0">
                <a:solidFill>
                  <a:srgbClr val="2C898A"/>
                </a:solidFill>
                <a:latin typeface="NanumGothic"/>
                <a:ea typeface="NanumGothic"/>
              </a:rPr>
              <a:t>●  </a:t>
            </a:r>
            <a:r>
              <a:rPr sz="1400" b="0" i="0">
                <a:solidFill>
                  <a:srgbClr val="1A202C"/>
                </a:solidFill>
                <a:latin typeface="NanumGothic"/>
                <a:ea typeface="NanumGothic"/>
              </a:rPr>
              <a:t>자세·환경: 이불을 발 위로 팽팽히 덮지 않기, 발끝 중립 유지, 온열·수분.</a:t>
            </a:r>
          </a:p>
          <a:p>
            <a:pPr algn="l">
              <a:lnSpc>
                <a:spcPct val="108000"/>
              </a:lnSpc>
              <a:spcAft>
                <a:spcPts val="900"/>
              </a:spcAft>
            </a:pPr>
            <a:r>
              <a:rPr sz="1400" b="1" i="0">
                <a:solidFill>
                  <a:srgbClr val="5A6B7B"/>
                </a:solidFill>
                <a:latin typeface="NanumGothic"/>
                <a:ea typeface="NanumGothic"/>
              </a:rPr>
              <a:t/>
            </a:r>
            <a:r>
              <a:rPr sz="1400" b="1" i="0">
                <a:solidFill>
                  <a:srgbClr val="1F6E70"/>
                </a:solidFill>
                <a:latin typeface="NanumGothic"/>
                <a:ea typeface="NanumGothic"/>
              </a:rPr>
              <a:t>근거는 혼재하나(일부 연구 효과 미미) 위험이 거의 없고 무비용 → 모든 고령 NLC 환자의 1차.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06640" y="1463040"/>
            <a:ext cx="4114800" cy="4480560"/>
          </a:xfrm>
          <a:prstGeom prst="roundRect">
            <a:avLst>
              <a:gd name="adj" fmla="val 8000"/>
            </a:avLst>
          </a:prstGeom>
          <a:solidFill>
            <a:srgbClr val="1B355E"/>
          </a:solidFill>
          <a:ln w="12700">
            <a:solidFill>
              <a:srgbClr val="D5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80960" y="173736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BFD3E6"/>
                </a:solidFill>
                <a:latin typeface="NanumGothic"/>
                <a:ea typeface="NanumGothic"/>
              </a:rPr>
              <a:t>왜 스트레칭인가 (기전)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80960" y="2286000"/>
            <a:ext cx="3611880" cy="3474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200"/>
              </a:spcAft>
            </a:pPr>
            <a:r>
              <a:rPr sz="1350" b="0" i="0">
                <a:solidFill>
                  <a:srgbClr val="FFFFFF"/>
                </a:solidFill>
                <a:latin typeface="NanumGothic"/>
                <a:ea typeface="NanumGothic"/>
              </a:rPr>
              <a:t>경련은 근육이 '단축된' 위치에서 거의 배타적으로 발생한다.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200"/>
              </a:spcAft>
            </a:pPr>
            <a:r>
              <a:rPr sz="1350" b="0" i="0">
                <a:solidFill>
                  <a:srgbClr val="FFFFFF"/>
                </a:solidFill>
                <a:latin typeface="NanumGothic"/>
                <a:ea typeface="NanumGothic"/>
              </a:rPr>
              <a:t>단축 시 골지건기관(GTO)의 억제가 약해지고 운동종판 흥분 역치가 낮아진다.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200"/>
              </a:spcAft>
            </a:pPr>
            <a:r>
              <a:rPr sz="1350" b="0" i="0">
                <a:solidFill>
                  <a:srgbClr val="FFFFFF"/>
                </a:solidFill>
                <a:latin typeface="NanumGothic"/>
                <a:ea typeface="NanumGothic"/>
              </a:rPr>
              <a:t>신전(stretch)·건 자극은 Ib 구심성을 통해 경련을 반사적으로 억제한다 (Khan &amp; Burne 2007).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200"/>
              </a:spcAft>
            </a:pPr>
            <a:r>
              <a:rPr sz="1350" b="1" i="0">
                <a:solidFill>
                  <a:srgbClr val="9FE0D8"/>
                </a:solidFill>
                <a:latin typeface="NanumGothic"/>
                <a:ea typeface="NanumGothic"/>
              </a:rPr>
              <a:t>→ 스트레칭이 이 반사 회로를 직접 겨냥한다.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6455664"/>
            <a:ext cx="98755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5A6B7B"/>
                </a:solidFill>
                <a:latin typeface="NanumGothic"/>
                <a:ea typeface="NanumGothic"/>
              </a:rPr>
              <a:t>근거: Hallegraeff 2012(J Physiother); Khan &amp; Burne 2007(J Neurophysiol); Allen &amp; Kirby 2012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64240" y="6455664"/>
            <a:ext cx="82296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5A6B7B"/>
                </a:solidFill>
                <a:latin typeface="NanumGothic"/>
                <a:ea typeface="NanumGothic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10896"/>
            <a:ext cx="109728" cy="457200"/>
          </a:xfrm>
          <a:prstGeom prst="rect">
            <a:avLst/>
          </a:prstGeom>
          <a:solidFill>
            <a:srgbClr val="2C8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37744"/>
            <a:ext cx="969264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2500" b="1" i="0">
                <a:solidFill>
                  <a:srgbClr val="1B355E"/>
                </a:solidFill>
                <a:latin typeface="NanumGothic"/>
                <a:ea typeface="NanumGothic"/>
              </a:rPr>
              <a:t>원인 교정: 경련 유발 약물 검토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109728"/>
            <a:ext cx="7315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1F6E70"/>
                </a:solidFill>
                <a:latin typeface="NanumGothic"/>
                <a:ea typeface="NanumGothic"/>
              </a:rPr>
              <a:t>원인 교정 · 우선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969264"/>
            <a:ext cx="10881360" cy="17780"/>
          </a:xfrm>
          <a:prstGeom prst="rect">
            <a:avLst/>
          </a:prstGeom>
          <a:solidFill>
            <a:srgbClr val="D5D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906963" y="365760"/>
            <a:ext cx="781812" cy="347472"/>
          </a:xfrm>
          <a:prstGeom prst="roundRect">
            <a:avLst>
              <a:gd name="adj" fmla="val 8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06963" y="365760"/>
            <a:ext cx="78181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FFFFFF"/>
                </a:solidFill>
                <a:latin typeface="NanumGothic"/>
                <a:ea typeface="NanumGothic"/>
              </a:rPr>
              <a:t>효과 있음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371600"/>
            <a:ext cx="612648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979" b="1" i="0">
                <a:solidFill>
                  <a:srgbClr val="2C898A"/>
                </a:solidFill>
                <a:latin typeface="NanumGothic"/>
                <a:ea typeface="NanumGothic"/>
              </a:rPr>
              <a:t>●  </a:t>
            </a:r>
            <a:r>
              <a:rPr sz="1400" b="1" i="0">
                <a:solidFill>
                  <a:srgbClr val="1A202C"/>
                </a:solidFill>
                <a:latin typeface="NanumGothic"/>
                <a:ea typeface="NanumGothic"/>
              </a:rPr>
              <a:t>Garrison 2012(Arch Intern Med): 처방-대칭 분석으로 경련과 연관된 약물을 규명.</a:t>
            </a:r>
          </a:p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979" b="1" i="0">
                <a:solidFill>
                  <a:srgbClr val="2C898A"/>
                </a:solidFill>
                <a:latin typeface="NanumGothic"/>
                <a:ea typeface="NanumGothic"/>
              </a:rPr>
              <a:t>●  </a:t>
            </a:r>
            <a:r>
              <a:rPr sz="1400" b="0" i="0">
                <a:solidFill>
                  <a:srgbClr val="1A202C"/>
                </a:solidFill>
                <a:latin typeface="NanumGothic"/>
                <a:ea typeface="NanumGothic"/>
              </a:rPr>
              <a:t>흔한 이차 원인도 함께 감별·교정: PAD·요추관협착·신경병증·정맥부전·갑상선저하·전해질 이상.</a:t>
            </a:r>
          </a:p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979" b="1" i="0">
                <a:solidFill>
                  <a:srgbClr val="2C898A"/>
                </a:solidFill>
                <a:latin typeface="NanumGothic"/>
                <a:ea typeface="NanumGothic"/>
              </a:rPr>
              <a:t>●  </a:t>
            </a:r>
            <a:r>
              <a:rPr sz="1400" b="0" i="0">
                <a:solidFill>
                  <a:srgbClr val="1A202C"/>
                </a:solidFill>
                <a:latin typeface="NanumGothic"/>
                <a:ea typeface="NanumGothic"/>
              </a:rPr>
              <a:t>저림·이상감각 동반 시 carnitine 결핍·신경병증 등 추가 감별.</a:t>
            </a:r>
          </a:p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1400" b="1" i="0">
                <a:solidFill>
                  <a:srgbClr val="5A6B7B"/>
                </a:solidFill>
                <a:latin typeface="NanumGothic"/>
                <a:ea typeface="NanumGothic"/>
              </a:rPr>
              <a:t/>
            </a:r>
            <a:r>
              <a:rPr sz="1400" b="1" i="0">
                <a:solidFill>
                  <a:srgbClr val="1F6E70"/>
                </a:solidFill>
                <a:latin typeface="NanumGothic"/>
                <a:ea typeface="NanumGothic"/>
              </a:rPr>
              <a:t>실무: 임상적으로 가능하면 대체·감량·투여시각 조정을 주치의와 검토.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7086600" y="1417320"/>
          <a:ext cx="4434840" cy="28346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606040"/>
                <a:gridCol w="1828800"/>
              </a:tblGrid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50" b="1" i="0">
                          <a:solidFill>
                            <a:srgbClr val="FFFFFF"/>
                          </a:solidFill>
                          <a:latin typeface="NanumGothic"/>
                          <a:ea typeface="NanumGothic"/>
                        </a:rPr>
                        <a:t>유발 연관 약물</a:t>
                      </a:r>
                    </a:p>
                  </a:txBody>
                  <a:tcPr marL="73152" marR="54864" marT="18288" marB="18288" anchor="ctr">
                    <a:solidFill>
                      <a:srgbClr val="1B355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 i="0">
                          <a:solidFill>
                            <a:srgbClr val="FFFFFF"/>
                          </a:solidFill>
                          <a:latin typeface="NanumGothic"/>
                          <a:ea typeface="NanumGothic"/>
                        </a:rPr>
                        <a:t>보정 연관비(sequence ratio)</a:t>
                      </a:r>
                    </a:p>
                  </a:txBody>
                  <a:tcPr marL="73152" marR="54864" marT="18288" marB="18288" anchor="ctr">
                    <a:solidFill>
                      <a:srgbClr val="1B355E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1A202C"/>
                          </a:solidFill>
                          <a:latin typeface="NanumGothic"/>
                          <a:ea typeface="NanumGothic"/>
                        </a:rPr>
                        <a:t>지속형 β2-작용제(LABA)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1A202C"/>
                          </a:solidFill>
                          <a:latin typeface="NanumGothic"/>
                          <a:ea typeface="NanumGothic"/>
                        </a:rPr>
                        <a:t>2.42  (가장 강한 연관)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1A202C"/>
                          </a:solidFill>
                          <a:latin typeface="NanumGothic"/>
                          <a:ea typeface="NanumGothic"/>
                        </a:rPr>
                        <a:t>칼륨보존형 이뇨제</a:t>
                      </a:r>
                    </a:p>
                  </a:txBody>
                  <a:tcPr marL="73152" marR="54864" marT="18288" marB="18288" anchor="ctr"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1A202C"/>
                          </a:solidFill>
                          <a:latin typeface="NanumGothic"/>
                          <a:ea typeface="NanumGothic"/>
                        </a:rPr>
                        <a:t>2.12</a:t>
                      </a:r>
                    </a:p>
                  </a:txBody>
                  <a:tcPr marL="73152" marR="54864" marT="18288" marB="18288" anchor="ctr">
                    <a:solidFill>
                      <a:srgbClr val="EEF2F6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1A202C"/>
                          </a:solidFill>
                          <a:latin typeface="NanumGothic"/>
                          <a:ea typeface="NanumGothic"/>
                        </a:rPr>
                        <a:t>Thiazide-유사 이뇨제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1A202C"/>
                          </a:solidFill>
                          <a:latin typeface="NanumGothic"/>
                          <a:ea typeface="NanumGothic"/>
                        </a:rPr>
                        <a:t>1.48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1A202C"/>
                          </a:solidFill>
                          <a:latin typeface="NanumGothic"/>
                          <a:ea typeface="NanumGothic"/>
                        </a:rPr>
                        <a:t>Loop 이뇨제</a:t>
                      </a:r>
                    </a:p>
                  </a:txBody>
                  <a:tcPr marL="73152" marR="54864" marT="18288" marB="18288" anchor="ctr"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1A202C"/>
                          </a:solidFill>
                          <a:latin typeface="NanumGothic"/>
                          <a:ea typeface="NanumGothic"/>
                        </a:rPr>
                        <a:t>1.20</a:t>
                      </a:r>
                    </a:p>
                  </a:txBody>
                  <a:tcPr marL="73152" marR="54864" marT="18288" marB="18288" anchor="ctr">
                    <a:solidFill>
                      <a:srgbClr val="EEF2F6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1A202C"/>
                          </a:solidFill>
                          <a:latin typeface="NanumGothic"/>
                          <a:ea typeface="NanumGothic"/>
                        </a:rPr>
                        <a:t>Statin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1A202C"/>
                          </a:solidFill>
                          <a:latin typeface="NanumGothic"/>
                          <a:ea typeface="NanumGothic"/>
                        </a:rPr>
                        <a:t>1.16  (약한 연관)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731520" y="6455664"/>
            <a:ext cx="98755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5A6B7B"/>
                </a:solidFill>
                <a:latin typeface="NanumGothic"/>
                <a:ea typeface="NanumGothic"/>
              </a:rPr>
              <a:t>근거: Garrison 2012 (sequence symmetry analysis, Arch Intern Med)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64240" y="6455664"/>
            <a:ext cx="82296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5A6B7B"/>
                </a:solidFill>
                <a:latin typeface="NanumGothic"/>
                <a:ea typeface="NanumGothic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10896"/>
            <a:ext cx="109728" cy="457200"/>
          </a:xfrm>
          <a:prstGeom prst="rect">
            <a:avLst/>
          </a:prstGeom>
          <a:solidFill>
            <a:srgbClr val="2C8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37744"/>
            <a:ext cx="969264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2500" b="1" i="0">
                <a:solidFill>
                  <a:srgbClr val="1B355E"/>
                </a:solidFill>
                <a:latin typeface="NanumGothic"/>
                <a:ea typeface="NanumGothic"/>
              </a:rPr>
              <a:t>주사 치료 지형 — 무엇을 어디에 놓나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109728"/>
            <a:ext cx="7315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1F6E70"/>
                </a:solidFill>
                <a:latin typeface="NanumGothic"/>
                <a:ea typeface="NanumGothic"/>
              </a:rPr>
              <a:t>주사 · 개요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969264"/>
            <a:ext cx="10881360" cy="17780"/>
          </a:xfrm>
          <a:prstGeom prst="rect">
            <a:avLst/>
          </a:prstGeom>
          <a:solidFill>
            <a:srgbClr val="D5D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1222431" y="365760"/>
            <a:ext cx="466344" cy="347472"/>
          </a:xfrm>
          <a:prstGeom prst="roundRect">
            <a:avLst>
              <a:gd name="adj" fmla="val 8000"/>
            </a:avLst>
          </a:prstGeom>
          <a:solidFill>
            <a:srgbClr val="2C8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222431" y="365760"/>
            <a:ext cx="466344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FFFFFF"/>
                </a:solidFill>
                <a:latin typeface="NanumGothic"/>
                <a:ea typeface="NanumGothic"/>
              </a:rPr>
              <a:t>주사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280160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1">
                <a:solidFill>
                  <a:srgbClr val="5A6B7B"/>
                </a:solidFill>
                <a:latin typeface="NanumGothic"/>
                <a:ea typeface="NanumGothic"/>
              </a:rPr>
              <a:t>요청에 따라 보툴리눔은 개요(1페이지)로, 나머지 주사 기법은 논문 근거로 상세히 다룬다. 순서: BTX → 유발점 국소마취제 → dry needling → 신경차단.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731520" y="1965960"/>
          <a:ext cx="10835640" cy="32918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383280"/>
                <a:gridCol w="2377440"/>
                <a:gridCol w="2468880"/>
                <a:gridCol w="1371600"/>
                <a:gridCol w="1234440"/>
              </a:tblGrid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NanumGothic"/>
                          <a:ea typeface="NanumGothic"/>
                        </a:rPr>
                        <a:t>주사</a:t>
                      </a:r>
                    </a:p>
                  </a:txBody>
                  <a:tcPr marL="73152" marR="54864" marT="18288" marB="18288" anchor="ctr">
                    <a:solidFill>
                      <a:srgbClr val="1B355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NanumGothic"/>
                          <a:ea typeface="NanumGothic"/>
                        </a:rPr>
                        <a:t>표적</a:t>
                      </a:r>
                    </a:p>
                  </a:txBody>
                  <a:tcPr marL="73152" marR="54864" marT="18288" marB="18288" anchor="ctr">
                    <a:solidFill>
                      <a:srgbClr val="1B355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NanumGothic"/>
                          <a:ea typeface="NanumGothic"/>
                        </a:rPr>
                        <a:t>근거</a:t>
                      </a:r>
                    </a:p>
                  </a:txBody>
                  <a:tcPr marL="73152" marR="54864" marT="18288" marB="18288" anchor="ctr">
                    <a:solidFill>
                      <a:srgbClr val="1B355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NanumGothic"/>
                          <a:ea typeface="NanumGothic"/>
                        </a:rPr>
                        <a:t>근거수준</a:t>
                      </a:r>
                    </a:p>
                  </a:txBody>
                  <a:tcPr marL="73152" marR="54864" marT="18288" marB="18288" anchor="ctr">
                    <a:solidFill>
                      <a:srgbClr val="1B355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NanumGothic"/>
                          <a:ea typeface="NanumGothic"/>
                        </a:rPr>
                        <a:t>이 발표에서</a:t>
                      </a:r>
                    </a:p>
                  </a:txBody>
                  <a:tcPr marL="73152" marR="54864" marT="18288" marB="18288" anchor="ctr">
                    <a:solidFill>
                      <a:srgbClr val="1B355E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1A202C"/>
                          </a:solidFill>
                          <a:latin typeface="NanumGothic"/>
                          <a:ea typeface="NanumGothic"/>
                        </a:rPr>
                        <a:t>① 보툴리눔독소(BTX)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A202C"/>
                          </a:solidFill>
                          <a:latin typeface="NanumGothic"/>
                          <a:ea typeface="NanumGothic"/>
                        </a:rPr>
                        <a:t>비복근 근육내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A202C"/>
                          </a:solidFill>
                          <a:latin typeface="NanumGothic"/>
                          <a:ea typeface="NanumGothic"/>
                        </a:rPr>
                        <a:t>RCT 2편(Park·Restivo)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A202C"/>
                          </a:solidFill>
                          <a:latin typeface="NanumGothic"/>
                          <a:ea typeface="NanumGothic"/>
                        </a:rPr>
                        <a:t>Level II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A202C"/>
                          </a:solidFill>
                          <a:latin typeface="NanumGothic"/>
                          <a:ea typeface="NanumGothic"/>
                        </a:rPr>
                        <a:t>개요(1p)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1A202C"/>
                          </a:solidFill>
                          <a:latin typeface="NanumGothic"/>
                          <a:ea typeface="NanumGothic"/>
                        </a:rPr>
                        <a:t>② 국소마취제 유발점주사</a:t>
                      </a:r>
                    </a:p>
                  </a:txBody>
                  <a:tcPr marL="73152" marR="54864" marT="18288" marB="18288" anchor="ctr"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A202C"/>
                          </a:solidFill>
                          <a:latin typeface="NanumGothic"/>
                          <a:ea typeface="NanumGothic"/>
                        </a:rPr>
                        <a:t>비복근 MTrP</a:t>
                      </a:r>
                    </a:p>
                  </a:txBody>
                  <a:tcPr marL="73152" marR="54864" marT="18288" marB="18288" anchor="ctr"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A202C"/>
                          </a:solidFill>
                          <a:latin typeface="NanumGothic"/>
                          <a:ea typeface="NanumGothic"/>
                        </a:rPr>
                        <a:t>소규모 RCT·관찰</a:t>
                      </a:r>
                    </a:p>
                  </a:txBody>
                  <a:tcPr marL="73152" marR="54864" marT="18288" marB="18288" anchor="ctr"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A202C"/>
                          </a:solidFill>
                          <a:latin typeface="NanumGothic"/>
                          <a:ea typeface="NanumGothic"/>
                        </a:rPr>
                        <a:t>Level III</a:t>
                      </a:r>
                    </a:p>
                  </a:txBody>
                  <a:tcPr marL="73152" marR="54864" marT="18288" marB="18288" anchor="ctr"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A202C"/>
                          </a:solidFill>
                          <a:latin typeface="NanumGothic"/>
                          <a:ea typeface="NanumGothic"/>
                        </a:rPr>
                        <a:t>상세</a:t>
                      </a:r>
                    </a:p>
                  </a:txBody>
                  <a:tcPr marL="73152" marR="54864" marT="18288" marB="18288" anchor="ctr">
                    <a:solidFill>
                      <a:srgbClr val="EEF2F6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1A202C"/>
                          </a:solidFill>
                          <a:latin typeface="NanumGothic"/>
                          <a:ea typeface="NanumGothic"/>
                        </a:rPr>
                        <a:t>③ Dry needling(건침)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A202C"/>
                          </a:solidFill>
                          <a:latin typeface="NanumGothic"/>
                          <a:ea typeface="NanumGothic"/>
                        </a:rPr>
                        <a:t>비복근 MTrP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A202C"/>
                          </a:solidFill>
                          <a:latin typeface="NanumGothic"/>
                          <a:ea typeface="NanumGothic"/>
                        </a:rPr>
                        <a:t>RCT·증례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A202C"/>
                          </a:solidFill>
                          <a:latin typeface="NanumGothic"/>
                          <a:ea typeface="NanumGothic"/>
                        </a:rPr>
                        <a:t>Level III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A202C"/>
                          </a:solidFill>
                          <a:latin typeface="NanumGothic"/>
                          <a:ea typeface="NanumGothic"/>
                        </a:rPr>
                        <a:t>상세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1A202C"/>
                          </a:solidFill>
                          <a:latin typeface="NanumGothic"/>
                          <a:ea typeface="NanumGothic"/>
                        </a:rPr>
                        <a:t>④ 심비골신경 내측분지 차단</a:t>
                      </a:r>
                    </a:p>
                  </a:txBody>
                  <a:tcPr marL="73152" marR="54864" marT="18288" marB="18288" anchor="ctr"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A202C"/>
                          </a:solidFill>
                          <a:latin typeface="NanumGothic"/>
                          <a:ea typeface="NanumGothic"/>
                        </a:rPr>
                        <a:t>제1–2 중족골 간극</a:t>
                      </a:r>
                    </a:p>
                  </a:txBody>
                  <a:tcPr marL="73152" marR="54864" marT="18288" marB="18288" anchor="ctr"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A202C"/>
                          </a:solidFill>
                          <a:latin typeface="NanumGothic"/>
                          <a:ea typeface="NanumGothic"/>
                        </a:rPr>
                        <a:t>전향 비교(Imura 2015)</a:t>
                      </a:r>
                    </a:p>
                  </a:txBody>
                  <a:tcPr marL="73152" marR="54864" marT="18288" marB="18288" anchor="ctr"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A202C"/>
                          </a:solidFill>
                          <a:latin typeface="NanumGothic"/>
                          <a:ea typeface="NanumGothic"/>
                        </a:rPr>
                        <a:t>Level III~IV</a:t>
                      </a:r>
                    </a:p>
                  </a:txBody>
                  <a:tcPr marL="73152" marR="54864" marT="18288" marB="18288" anchor="ctr"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A202C"/>
                          </a:solidFill>
                          <a:latin typeface="NanumGothic"/>
                          <a:ea typeface="NanumGothic"/>
                        </a:rPr>
                        <a:t>상세·직접근거</a:t>
                      </a:r>
                    </a:p>
                  </a:txBody>
                  <a:tcPr marL="73152" marR="54864" marT="18288" marB="18288" anchor="ctr">
                    <a:solidFill>
                      <a:srgbClr val="EEF2F6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1A202C"/>
                          </a:solidFill>
                          <a:latin typeface="NanumGothic"/>
                          <a:ea typeface="NanumGothic"/>
                        </a:rPr>
                        <a:t>(연구단계) FGA·신경간 차단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A202C"/>
                          </a:solidFill>
                          <a:latin typeface="NanumGothic"/>
                          <a:ea typeface="NanumGothic"/>
                        </a:rPr>
                        <a:t>원위 MTJ 등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A202C"/>
                          </a:solidFill>
                          <a:latin typeface="NanumGothic"/>
                          <a:ea typeface="NanumGothic"/>
                        </a:rPr>
                        <a:t>직접 근거 없음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A202C"/>
                          </a:solidFill>
                          <a:latin typeface="NanumGothic"/>
                          <a:ea typeface="NanumGothic"/>
                        </a:rPr>
                        <a:t>Level V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A202C"/>
                          </a:solidFill>
                          <a:latin typeface="NanumGothic"/>
                          <a:ea typeface="NanumGothic"/>
                        </a:rPr>
                        <a:t>뒤에서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731520" y="598932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1F6E70"/>
                </a:solidFill>
                <a:latin typeface="NanumGothic"/>
                <a:ea typeface="NanumGothic"/>
              </a:rPr>
              <a:t>모두 1차 치료가 아니다 — 비약물·원인교정 이후, 불응성·특정 표현형(MTrP·LSS·신경병증)에서 선택적으로 적용.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6455664"/>
            <a:ext cx="98755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5A6B7B"/>
                </a:solidFill>
                <a:latin typeface="NanumGothic"/>
                <a:ea typeface="NanumGothic"/>
              </a:rPr>
              <a:t>근거: Park 2017; Restivo 2018; Kim 2015; Temel 2023; Imura 2015 종합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64240" y="6455664"/>
            <a:ext cx="82296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5A6B7B"/>
                </a:solidFill>
                <a:latin typeface="NanumGothic"/>
                <a:ea typeface="NanumGothic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10896"/>
            <a:ext cx="109728" cy="457200"/>
          </a:xfrm>
          <a:prstGeom prst="rect">
            <a:avLst/>
          </a:prstGeom>
          <a:solidFill>
            <a:srgbClr val="2C8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37744"/>
            <a:ext cx="969264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2500" b="1" i="0">
                <a:solidFill>
                  <a:srgbClr val="1B355E"/>
                </a:solidFill>
                <a:latin typeface="NanumGothic"/>
                <a:ea typeface="NanumGothic"/>
              </a:rPr>
              <a:t>주사 ① 보툴리눔독소(BTX) — 요약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109728"/>
            <a:ext cx="7315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1F6E70"/>
                </a:solidFill>
                <a:latin typeface="NanumGothic"/>
                <a:ea typeface="NanumGothic"/>
              </a:rPr>
              <a:t>주사 · 개요(1페이지)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969264"/>
            <a:ext cx="10881360" cy="17780"/>
          </a:xfrm>
          <a:prstGeom prst="rect">
            <a:avLst/>
          </a:prstGeom>
          <a:solidFill>
            <a:srgbClr val="D5D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906963" y="365760"/>
            <a:ext cx="781812" cy="347472"/>
          </a:xfrm>
          <a:prstGeom prst="roundRect">
            <a:avLst>
              <a:gd name="adj" fmla="val 8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06963" y="365760"/>
            <a:ext cx="78181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FFFFFF"/>
                </a:solidFill>
                <a:latin typeface="NanumGothic"/>
                <a:ea typeface="NanumGothic"/>
              </a:rPr>
              <a:t>효과 있음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371600"/>
            <a:ext cx="6400800" cy="4023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900"/>
              </a:spcAft>
            </a:pPr>
            <a:r>
              <a:rPr sz="944" b="1" i="0">
                <a:solidFill>
                  <a:srgbClr val="2C898A"/>
                </a:solidFill>
                <a:latin typeface="NanumGothic"/>
                <a:ea typeface="NanumGothic"/>
              </a:rPr>
              <a:t>●  </a:t>
            </a:r>
            <a:r>
              <a:rPr sz="1350" b="1" i="0">
                <a:solidFill>
                  <a:srgbClr val="1A202C"/>
                </a:solidFill>
                <a:latin typeface="NanumGothic"/>
                <a:ea typeface="NanumGothic"/>
              </a:rPr>
              <a:t>Park 2017 RCT(핵심): 요추관협착증 + 주1회↑ 야간 종아리경련 50명. 비복근 BTX-A vs gabapentin(평균 643mg).</a:t>
            </a:r>
          </a:p>
          <a:p>
            <a:pPr algn="l">
              <a:lnSpc>
                <a:spcPct val="108000"/>
              </a:lnSpc>
              <a:spcAft>
                <a:spcPts val="900"/>
              </a:spcAft>
            </a:pPr>
            <a:r>
              <a:rPr sz="1350" b="1" i="0">
                <a:solidFill>
                  <a:srgbClr val="5A6B7B"/>
                </a:solidFill>
                <a:latin typeface="NanumGothic"/>
                <a:ea typeface="NanumGothic"/>
              </a:rPr>
              <a:t>      –  </a:t>
            </a:r>
            <a:r>
              <a:rPr sz="1350" b="0" i="0">
                <a:solidFill>
                  <a:srgbClr val="2E7D32"/>
                </a:solidFill>
                <a:latin typeface="NanumGothic"/>
                <a:ea typeface="NanumGothic"/>
              </a:rPr>
              <a:t>모든 추적시점(2주·1·3개월)에서 다리통증·경련 빈도·강도가 gabapentin 대비 유의 감소(P&lt;0.01), 불면·기능 개선.</a:t>
            </a:r>
          </a:p>
          <a:p>
            <a:pPr algn="l">
              <a:lnSpc>
                <a:spcPct val="108000"/>
              </a:lnSpc>
              <a:spcAft>
                <a:spcPts val="900"/>
              </a:spcAft>
            </a:pPr>
            <a:r>
              <a:rPr sz="1350" b="1" i="0">
                <a:solidFill>
                  <a:srgbClr val="5A6B7B"/>
                </a:solidFill>
                <a:latin typeface="NanumGothic"/>
                <a:ea typeface="NanumGothic"/>
              </a:rPr>
              <a:t>      –  </a:t>
            </a:r>
            <a:r>
              <a:rPr sz="1350" b="0" i="0">
                <a:solidFill>
                  <a:srgbClr val="1A202C"/>
                </a:solidFill>
                <a:latin typeface="NanumGothic"/>
                <a:ea typeface="NanumGothic"/>
              </a:rPr>
              <a:t>BTX군 중대 합병증 없음 / gabapentin군 33% 전신 부작용.</a:t>
            </a:r>
          </a:p>
          <a:p>
            <a:pPr algn="l">
              <a:lnSpc>
                <a:spcPct val="108000"/>
              </a:lnSpc>
              <a:spcAft>
                <a:spcPts val="900"/>
              </a:spcAft>
            </a:pPr>
            <a:r>
              <a:rPr sz="944" b="1" i="0">
                <a:solidFill>
                  <a:srgbClr val="2C898A"/>
                </a:solidFill>
                <a:latin typeface="NanumGothic"/>
                <a:ea typeface="NanumGothic"/>
              </a:rPr>
              <a:t>●  </a:t>
            </a:r>
            <a:r>
              <a:rPr sz="1350" b="0" i="0">
                <a:solidFill>
                  <a:srgbClr val="1A202C"/>
                </a:solidFill>
                <a:latin typeface="NanumGothic"/>
                <a:ea typeface="NanumGothic"/>
              </a:rPr>
              <a:t>Restivo 2018 RCT(당뇨병성 신경병증): BTX-A(30~100U)가 위약 대비 경련 빈도·강도·역치 개선, 1주부터 16주 지속.</a:t>
            </a:r>
          </a:p>
          <a:p>
            <a:pPr algn="l">
              <a:lnSpc>
                <a:spcPct val="108000"/>
              </a:lnSpc>
              <a:spcAft>
                <a:spcPts val="900"/>
              </a:spcAft>
            </a:pPr>
            <a:r>
              <a:rPr sz="944" b="1" i="0">
                <a:solidFill>
                  <a:srgbClr val="2C898A"/>
                </a:solidFill>
                <a:latin typeface="NanumGothic"/>
                <a:ea typeface="NanumGothic"/>
              </a:rPr>
              <a:t>●  </a:t>
            </a:r>
            <a:r>
              <a:rPr sz="1350" b="0" i="0">
                <a:solidFill>
                  <a:srgbClr val="1A202C"/>
                </a:solidFill>
                <a:latin typeface="NanumGothic"/>
                <a:ea typeface="NanumGothic"/>
              </a:rPr>
              <a:t>기전: 신경근접합부 ACh 유리 억제 → 방추내·외 종판 입출력 감소, 근력은 상대 보존하며 경련만 감소.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06640" y="1463040"/>
            <a:ext cx="4114800" cy="4480560"/>
          </a:xfrm>
          <a:prstGeom prst="roundRect">
            <a:avLst>
              <a:gd name="adj" fmla="val 8000"/>
            </a:avLst>
          </a:prstGeom>
          <a:solidFill>
            <a:srgbClr val="F5F8FB"/>
          </a:solidFill>
          <a:ln w="12700">
            <a:solidFill>
              <a:srgbClr val="D5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35240" y="169164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1F6E70"/>
                </a:solidFill>
                <a:latin typeface="NanumGothic"/>
                <a:ea typeface="NanumGothic"/>
              </a:rPr>
              <a:t>실무 요점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35240" y="2148840"/>
            <a:ext cx="365760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800"/>
              </a:spcAft>
            </a:pPr>
            <a:r>
              <a:rPr sz="875" b="1" i="0">
                <a:solidFill>
                  <a:srgbClr val="2C898A"/>
                </a:solidFill>
                <a:latin typeface="NanumGothic"/>
                <a:ea typeface="NanumGothic"/>
              </a:rPr>
              <a:t>●  </a:t>
            </a:r>
            <a:r>
              <a:rPr sz="1250" b="1" i="0">
                <a:solidFill>
                  <a:srgbClr val="1A202C"/>
                </a:solidFill>
                <a:latin typeface="NanumGothic"/>
                <a:ea typeface="NanumGothic"/>
              </a:rPr>
              <a:t>주사 계열 중 근거수준 최고(Level II RCT).</a:t>
            </a:r>
          </a:p>
          <a:p>
            <a:pPr algn="l">
              <a:lnSpc>
                <a:spcPct val="108000"/>
              </a:lnSpc>
              <a:spcAft>
                <a:spcPts val="800"/>
              </a:spcAft>
            </a:pPr>
            <a:r>
              <a:rPr sz="875" b="1" i="0">
                <a:solidFill>
                  <a:srgbClr val="2C898A"/>
                </a:solidFill>
                <a:latin typeface="NanumGothic"/>
                <a:ea typeface="NanumGothic"/>
              </a:rPr>
              <a:t>●  </a:t>
            </a:r>
            <a:r>
              <a:rPr sz="1250" b="0" i="0">
                <a:solidFill>
                  <a:srgbClr val="1A202C"/>
                </a:solidFill>
                <a:latin typeface="NanumGothic"/>
                <a:ea typeface="NanumGothic"/>
              </a:rPr>
              <a:t>효과 ~3개월 지속 → 반복 주사 필요, 고가.</a:t>
            </a:r>
          </a:p>
          <a:p>
            <a:pPr algn="l">
              <a:lnSpc>
                <a:spcPct val="108000"/>
              </a:lnSpc>
              <a:spcAft>
                <a:spcPts val="800"/>
              </a:spcAft>
            </a:pPr>
            <a:r>
              <a:rPr sz="875" b="1" i="0">
                <a:solidFill>
                  <a:srgbClr val="2C898A"/>
                </a:solidFill>
                <a:latin typeface="NanumGothic"/>
                <a:ea typeface="NanumGothic"/>
              </a:rPr>
              <a:t>●  </a:t>
            </a:r>
            <a:r>
              <a:rPr sz="1250" b="0" i="0">
                <a:solidFill>
                  <a:srgbClr val="B03A2E"/>
                </a:solidFill>
                <a:latin typeface="NanumGothic"/>
                <a:ea typeface="NanumGothic"/>
              </a:rPr>
              <a:t>비복근은 보행 주근육 — 용량의존 근력약화·낙상 위험(고령) 고지.</a:t>
            </a:r>
          </a:p>
          <a:p>
            <a:pPr algn="l">
              <a:lnSpc>
                <a:spcPct val="108000"/>
              </a:lnSpc>
              <a:spcAft>
                <a:spcPts val="800"/>
              </a:spcAft>
            </a:pPr>
            <a:r>
              <a:rPr sz="875" b="1" i="0">
                <a:solidFill>
                  <a:srgbClr val="2C898A"/>
                </a:solidFill>
                <a:latin typeface="NanumGothic"/>
                <a:ea typeface="NanumGothic"/>
              </a:rPr>
              <a:t>●  </a:t>
            </a:r>
            <a:r>
              <a:rPr sz="1250" b="0" i="0">
                <a:solidFill>
                  <a:srgbClr val="1A202C"/>
                </a:solidFill>
                <a:latin typeface="NanumGothic"/>
                <a:ea typeface="NanumGothic"/>
              </a:rPr>
              <a:t>대상은 LSS·신경병증 등 특정군 — 일반 특발성 대규모 RCT는 부족.</a:t>
            </a:r>
          </a:p>
          <a:p>
            <a:pPr algn="l">
              <a:lnSpc>
                <a:spcPct val="108000"/>
              </a:lnSpc>
              <a:spcAft>
                <a:spcPts val="800"/>
              </a:spcAft>
            </a:pPr>
            <a:r>
              <a:rPr sz="1250" b="1" i="0">
                <a:solidFill>
                  <a:srgbClr val="5A6B7B"/>
                </a:solidFill>
                <a:latin typeface="NanumGothic"/>
                <a:ea typeface="NanumGothic"/>
              </a:rPr>
              <a:t/>
            </a:r>
            <a:r>
              <a:rPr sz="1250" b="1" i="0">
                <a:solidFill>
                  <a:srgbClr val="1F6E70"/>
                </a:solidFill>
                <a:latin typeface="NanumGothic"/>
                <a:ea typeface="NanumGothic"/>
              </a:rPr>
              <a:t>위치: 불응성·특정 표현형에 선택적.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6455664"/>
            <a:ext cx="98755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5A6B7B"/>
                </a:solidFill>
                <a:latin typeface="NanumGothic"/>
                <a:ea typeface="NanumGothic"/>
              </a:rPr>
              <a:t>근거: Park 2017(Arch Phys Med Rehabil, NCT02444351); Restivo 2018(Ann Neurol); Bertolasi 1997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64240" y="6455664"/>
            <a:ext cx="82296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5A6B7B"/>
                </a:solidFill>
                <a:latin typeface="NanumGothic"/>
                <a:ea typeface="NanumGothic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10896"/>
            <a:ext cx="109728" cy="457200"/>
          </a:xfrm>
          <a:prstGeom prst="rect">
            <a:avLst/>
          </a:prstGeom>
          <a:solidFill>
            <a:srgbClr val="2C8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37744"/>
            <a:ext cx="969264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2500" b="1" i="0">
                <a:solidFill>
                  <a:srgbClr val="1B355E"/>
                </a:solidFill>
                <a:latin typeface="NanumGothic"/>
                <a:ea typeface="NanumGothic"/>
              </a:rPr>
              <a:t>주사 ② 국소마취제 유발점·근육내 주사 — 개념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109728"/>
            <a:ext cx="7315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1F6E70"/>
                </a:solidFill>
                <a:latin typeface="NanumGothic"/>
                <a:ea typeface="NanumGothic"/>
              </a:rPr>
              <a:t>주사 기법(상세)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969264"/>
            <a:ext cx="10881360" cy="17780"/>
          </a:xfrm>
          <a:prstGeom prst="rect">
            <a:avLst/>
          </a:prstGeom>
          <a:solidFill>
            <a:srgbClr val="D5D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906963" y="365760"/>
            <a:ext cx="781812" cy="347472"/>
          </a:xfrm>
          <a:prstGeom prst="roundRect">
            <a:avLst>
              <a:gd name="adj" fmla="val 8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06963" y="365760"/>
            <a:ext cx="78181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FFFFFF"/>
                </a:solidFill>
                <a:latin typeface="NanumGothic"/>
                <a:ea typeface="NanumGothic"/>
              </a:rPr>
              <a:t>효과 있음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371600"/>
            <a:ext cx="1078992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979" b="1" i="0">
                <a:solidFill>
                  <a:srgbClr val="2C898A"/>
                </a:solidFill>
                <a:latin typeface="NanumGothic"/>
                <a:ea typeface="NanumGothic"/>
              </a:rPr>
              <a:t>●  </a:t>
            </a:r>
            <a:r>
              <a:rPr sz="1400" b="0" i="0">
                <a:solidFill>
                  <a:srgbClr val="1A202C"/>
                </a:solidFill>
                <a:latin typeface="NanumGothic"/>
                <a:ea typeface="NanumGothic"/>
              </a:rPr>
              <a:t>개념: 야간 종아리경련은 비복근 근막통증유발점(MTrP)과 연관될 수 있다. 유발점에 소량 국소마취제를 주사하면 ① 국소 근이완 ② 유발점 비활성화 ③ 구심성 되먹임 차단으로 경련이 완화된다.</a:t>
            </a:r>
          </a:p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979" b="1" i="0">
                <a:solidFill>
                  <a:srgbClr val="2C898A"/>
                </a:solidFill>
                <a:latin typeface="NanumGothic"/>
                <a:ea typeface="NanumGothic"/>
              </a:rPr>
              <a:t>●  </a:t>
            </a:r>
            <a:r>
              <a:rPr sz="1400" b="1" i="0">
                <a:solidFill>
                  <a:srgbClr val="1A202C"/>
                </a:solidFill>
                <a:latin typeface="NanumGothic"/>
                <a:ea typeface="NanumGothic"/>
              </a:rPr>
              <a:t>적응: 보존치료 불응 + 비복근 유발점(taut band·압통)이 뚜렷한 환자. 저침습·저비용 옵션.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703320"/>
            <a:ext cx="5257800" cy="2331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" y="3703320"/>
            <a:ext cx="109728" cy="2331720"/>
          </a:xfrm>
          <a:prstGeom prst="rect">
            <a:avLst/>
          </a:prstGeom>
          <a:solidFill>
            <a:srgbClr val="2C8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24128" y="3886200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2C898A"/>
                </a:solidFill>
                <a:latin typeface="NanumGothic"/>
                <a:ea typeface="NanumGothic"/>
              </a:rPr>
              <a:t>Prateepavanich 1999 (무작위, n=24)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4128" y="4343400"/>
            <a:ext cx="480060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0" i="0">
                <a:solidFill>
                  <a:srgbClr val="1A202C"/>
                </a:solidFill>
                <a:latin typeface="NanumGothic"/>
                <a:ea typeface="NanumGothic"/>
              </a:rPr>
              <a:t>•  xylocaine(lidocaine) 유발점 주사 vs 경구 quinine 300mg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0" i="0">
                <a:solidFill>
                  <a:srgbClr val="1A202C"/>
                </a:solidFill>
                <a:latin typeface="NanumGothic"/>
                <a:ea typeface="NanumGothic"/>
              </a:rPr>
              <a:t>•  두 군 모두 빈도·지속·강도 유의 감소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0" i="0">
                <a:solidFill>
                  <a:srgbClr val="1A202C"/>
                </a:solidFill>
                <a:latin typeface="NanumGothic"/>
                <a:ea typeface="NanumGothic"/>
              </a:rPr>
              <a:t>•  치료 종료 4주 후 추적에서 주사군이 대부분 지표 우월(지속효과)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3703320"/>
            <a:ext cx="5257800" cy="2331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0" y="3703320"/>
            <a:ext cx="109728" cy="2331720"/>
          </a:xfrm>
          <a:prstGeom prst="rect">
            <a:avLst/>
          </a:prstGeom>
          <a:solidFill>
            <a:srgbClr val="2447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10528" y="3886200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244774"/>
                </a:solidFill>
                <a:latin typeface="NanumGothic"/>
                <a:ea typeface="NanumGothic"/>
              </a:rPr>
              <a:t>Kim 2015 (전향 관찰, n=12, 평균 63세)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10528" y="4343400"/>
            <a:ext cx="480060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0" i="0">
                <a:solidFill>
                  <a:srgbClr val="1A202C"/>
                </a:solidFill>
                <a:latin typeface="NanumGothic"/>
                <a:ea typeface="NanumGothic"/>
              </a:rPr>
              <a:t>•  0.25% lidocaine 1–2 mL를 비복근 유발점에 주사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0" i="0">
                <a:solidFill>
                  <a:srgbClr val="1A202C"/>
                </a:solidFill>
                <a:latin typeface="NanumGothic"/>
                <a:ea typeface="NanumGothic"/>
              </a:rPr>
              <a:t>•  NRS·경련 빈도·불면지수(ISI) 모두 유의 개선(P&lt;0.01)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0" i="0">
                <a:solidFill>
                  <a:srgbClr val="1A202C"/>
                </a:solidFill>
                <a:latin typeface="NanumGothic"/>
                <a:ea typeface="NanumGothic"/>
              </a:rPr>
              <a:t>•  임상적 불면 10명 → 4주째 1명으로 감소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6455664"/>
            <a:ext cx="98755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5A6B7B"/>
                </a:solidFill>
                <a:latin typeface="NanumGothic"/>
                <a:ea typeface="NanumGothic"/>
              </a:rPr>
              <a:t>근거: Prateepavanich 1999(J Med Assoc Thai); Kim 2015(J Am Board Fam Med)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64240" y="6455664"/>
            <a:ext cx="82296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5A6B7B"/>
                </a:solidFill>
                <a:latin typeface="NanumGothic"/>
                <a:ea typeface="NanumGothic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10896"/>
            <a:ext cx="109728" cy="457200"/>
          </a:xfrm>
          <a:prstGeom prst="rect">
            <a:avLst/>
          </a:prstGeom>
          <a:solidFill>
            <a:srgbClr val="2C8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37744"/>
            <a:ext cx="969264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2500" b="1" i="0">
                <a:solidFill>
                  <a:srgbClr val="1B355E"/>
                </a:solidFill>
                <a:latin typeface="NanumGothic"/>
                <a:ea typeface="NanumGothic"/>
              </a:rPr>
              <a:t>주사 ② 기법 상세 — 유발점 국소마취제 주사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109728"/>
            <a:ext cx="7315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1F6E70"/>
                </a:solidFill>
                <a:latin typeface="NanumGothic"/>
                <a:ea typeface="NanumGothic"/>
              </a:rPr>
              <a:t>주사 기법(상세)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969264"/>
            <a:ext cx="10881360" cy="17780"/>
          </a:xfrm>
          <a:prstGeom prst="rect">
            <a:avLst/>
          </a:prstGeom>
          <a:solidFill>
            <a:srgbClr val="D5D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1222431" y="365760"/>
            <a:ext cx="466344" cy="347472"/>
          </a:xfrm>
          <a:prstGeom prst="roundRect">
            <a:avLst>
              <a:gd name="adj" fmla="val 8000"/>
            </a:avLst>
          </a:prstGeom>
          <a:solidFill>
            <a:srgbClr val="1F6E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222431" y="365760"/>
            <a:ext cx="466344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FFFFFF"/>
                </a:solidFill>
                <a:latin typeface="NanumGothic"/>
                <a:ea typeface="NanumGothic"/>
              </a:rPr>
              <a:t>기법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31520" y="1371600"/>
          <a:ext cx="6583680" cy="352958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737360"/>
                <a:gridCol w="4846320"/>
              </a:tblGrid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50" b="1" i="0">
                          <a:solidFill>
                            <a:srgbClr val="FFFFFF"/>
                          </a:solidFill>
                          <a:latin typeface="NanumGothic"/>
                          <a:ea typeface="NanumGothic"/>
                        </a:rPr>
                        <a:t>항목</a:t>
                      </a:r>
                    </a:p>
                  </a:txBody>
                  <a:tcPr marL="73152" marR="54864" marT="18288" marB="18288" anchor="ctr">
                    <a:solidFill>
                      <a:srgbClr val="1B355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 i="0">
                          <a:solidFill>
                            <a:srgbClr val="FFFFFF"/>
                          </a:solidFill>
                          <a:latin typeface="NanumGothic"/>
                          <a:ea typeface="NanumGothic"/>
                        </a:rPr>
                        <a:t>Kim 2015 프로토콜</a:t>
                      </a:r>
                    </a:p>
                  </a:txBody>
                  <a:tcPr marL="73152" marR="54864" marT="18288" marB="18288" anchor="ctr">
                    <a:solidFill>
                      <a:srgbClr val="1B355E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1A202C"/>
                          </a:solidFill>
                          <a:latin typeface="NanumGothic"/>
                          <a:ea typeface="NanumGothic"/>
                        </a:rPr>
                        <a:t>표적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1A202C"/>
                          </a:solidFill>
                          <a:latin typeface="NanumGothic"/>
                          <a:ea typeface="NanumGothic"/>
                        </a:rPr>
                        <a:t>비복근 근막통증유발점(taut band 내 최대 압통점)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1A202C"/>
                          </a:solidFill>
                          <a:latin typeface="NanumGothic"/>
                          <a:ea typeface="NanumGothic"/>
                        </a:rPr>
                        <a:t>약제·용량</a:t>
                      </a:r>
                    </a:p>
                  </a:txBody>
                  <a:tcPr marL="73152" marR="54864" marT="18288" marB="18288" anchor="ctr"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1A202C"/>
                          </a:solidFill>
                          <a:latin typeface="NanumGothic"/>
                          <a:ea typeface="NanumGothic"/>
                        </a:rPr>
                        <a:t>0.25% lidocaine 1–2 mL / 유발점</a:t>
                      </a:r>
                    </a:p>
                  </a:txBody>
                  <a:tcPr marL="73152" marR="54864" marT="18288" marB="18288" anchor="ctr">
                    <a:solidFill>
                      <a:srgbClr val="EEF2F6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1A202C"/>
                          </a:solidFill>
                          <a:latin typeface="NanumGothic"/>
                          <a:ea typeface="NanumGothic"/>
                        </a:rPr>
                        <a:t>바늘·각도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1A202C"/>
                          </a:solidFill>
                          <a:latin typeface="NanumGothic"/>
                          <a:ea typeface="NanumGothic"/>
                        </a:rPr>
                        <a:t>25 G, 피부에서 약 30° 접근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1A202C"/>
                          </a:solidFill>
                          <a:latin typeface="NanumGothic"/>
                          <a:ea typeface="NanumGothic"/>
                        </a:rPr>
                        <a:t>횟수</a:t>
                      </a:r>
                    </a:p>
                  </a:txBody>
                  <a:tcPr marL="73152" marR="54864" marT="18288" marB="18288" anchor="ctr"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1A202C"/>
                          </a:solidFill>
                          <a:latin typeface="NanumGothic"/>
                          <a:ea typeface="NanumGothic"/>
                        </a:rPr>
                        <a:t>주 1회 · 1~4주 추적</a:t>
                      </a:r>
                    </a:p>
                  </a:txBody>
                  <a:tcPr marL="73152" marR="54864" marT="18288" marB="18288" anchor="ctr">
                    <a:solidFill>
                      <a:srgbClr val="EEF2F6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1A202C"/>
                          </a:solidFill>
                          <a:latin typeface="NanumGothic"/>
                          <a:ea typeface="NanumGothic"/>
                        </a:rPr>
                        <a:t>결과지표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1A202C"/>
                          </a:solidFill>
                          <a:latin typeface="NanumGothic"/>
                          <a:ea typeface="NanumGothic"/>
                        </a:rPr>
                        <a:t>NRS · 경련 빈도 · 불면지수(ISI) 유의 개선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1A202C"/>
                          </a:solidFill>
                          <a:latin typeface="NanumGothic"/>
                          <a:ea typeface="NanumGothic"/>
                        </a:rPr>
                        <a:t>보조 원칙</a:t>
                      </a:r>
                    </a:p>
                  </a:txBody>
                  <a:tcPr marL="73152" marR="54864" marT="18288" marB="18288" anchor="ctr"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1A202C"/>
                          </a:solidFill>
                          <a:latin typeface="NanumGothic"/>
                          <a:ea typeface="NanumGothic"/>
                        </a:rPr>
                        <a:t>급성 경련 시 소량 국소마취제로 국소 이완 + 유발점 비활성화</a:t>
                      </a:r>
                    </a:p>
                  </a:txBody>
                  <a:tcPr marL="73152" marR="54864" marT="18288" marB="18288" anchor="ctr">
                    <a:solidFill>
                      <a:srgbClr val="EEF2F6"/>
                    </a:solidFill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7589520" y="1417320"/>
            <a:ext cx="3931920" cy="4572000"/>
          </a:xfrm>
          <a:prstGeom prst="roundRect">
            <a:avLst>
              <a:gd name="adj" fmla="val 8000"/>
            </a:avLst>
          </a:prstGeom>
          <a:solidFill>
            <a:srgbClr val="F5F8FB"/>
          </a:solidFill>
          <a:ln w="12700">
            <a:solidFill>
              <a:srgbClr val="D5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18120" y="1645920"/>
            <a:ext cx="3474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1F6E70"/>
                </a:solidFill>
                <a:latin typeface="NanumGothic"/>
                <a:ea typeface="NanumGothic"/>
              </a:rPr>
              <a:t>포인트 · 주의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18120" y="2103120"/>
            <a:ext cx="3520440" cy="37490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875" b="1" i="0">
                <a:solidFill>
                  <a:srgbClr val="2C898A"/>
                </a:solidFill>
                <a:latin typeface="NanumGothic"/>
                <a:ea typeface="NanumGothic"/>
              </a:rPr>
              <a:t>●  </a:t>
            </a:r>
            <a:r>
              <a:rPr sz="1250" b="0" i="0">
                <a:solidFill>
                  <a:srgbClr val="1A202C"/>
                </a:solidFill>
                <a:latin typeface="NanumGothic"/>
                <a:ea typeface="NanumGothic"/>
              </a:rPr>
              <a:t>바늘 기계적 자극 효과도 완화에 기여(dry needling과 공유).</a:t>
            </a:r>
          </a:p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875" b="1" i="0">
                <a:solidFill>
                  <a:srgbClr val="2C898A"/>
                </a:solidFill>
                <a:latin typeface="NanumGothic"/>
                <a:ea typeface="NanumGothic"/>
              </a:rPr>
              <a:t>●  </a:t>
            </a:r>
            <a:r>
              <a:rPr sz="1250" b="0" i="0">
                <a:solidFill>
                  <a:srgbClr val="2E7D32"/>
                </a:solidFill>
                <a:latin typeface="NanumGothic"/>
                <a:ea typeface="NanumGothic"/>
              </a:rPr>
              <a:t>quinine과 대등하거나 지속효과 면에서 우월(Prateepavanich).</a:t>
            </a:r>
          </a:p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875" b="1" i="0">
                <a:solidFill>
                  <a:srgbClr val="2C898A"/>
                </a:solidFill>
                <a:latin typeface="NanumGothic"/>
                <a:ea typeface="NanumGothic"/>
              </a:rPr>
              <a:t>●  </a:t>
            </a:r>
            <a:r>
              <a:rPr sz="1250" b="0" i="0">
                <a:solidFill>
                  <a:srgbClr val="1A202C"/>
                </a:solidFill>
                <a:latin typeface="NanumGothic"/>
                <a:ea typeface="NanumGothic"/>
              </a:rPr>
              <a:t>근거는 소표본·위약대조 부족 → Level III.</a:t>
            </a:r>
          </a:p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875" b="1" i="0">
                <a:solidFill>
                  <a:srgbClr val="2C898A"/>
                </a:solidFill>
                <a:latin typeface="NanumGothic"/>
                <a:ea typeface="NanumGothic"/>
              </a:rPr>
              <a:t>●  </a:t>
            </a:r>
            <a:r>
              <a:rPr sz="1250" b="0" i="0">
                <a:solidFill>
                  <a:srgbClr val="B03A2E"/>
                </a:solidFill>
                <a:latin typeface="NanumGothic"/>
                <a:ea typeface="NanumGothic"/>
              </a:rPr>
              <a:t>항응고·항혈소판제 복용 고령자: 출혈·혈종 주의.</a:t>
            </a:r>
          </a:p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875" b="1" i="0">
                <a:solidFill>
                  <a:srgbClr val="2C898A"/>
                </a:solidFill>
                <a:latin typeface="NanumGothic"/>
                <a:ea typeface="NanumGothic"/>
              </a:rPr>
              <a:t>●  </a:t>
            </a:r>
            <a:r>
              <a:rPr sz="1250" b="0" i="0">
                <a:solidFill>
                  <a:srgbClr val="1A202C"/>
                </a:solidFill>
                <a:latin typeface="NanumGothic"/>
                <a:ea typeface="NanumGothic"/>
              </a:rPr>
              <a:t>무균술 · 혈관내 주입 회피(흡인 확인).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6455664"/>
            <a:ext cx="98755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5A6B7B"/>
                </a:solidFill>
                <a:latin typeface="NanumGothic"/>
                <a:ea typeface="NanumGothic"/>
              </a:rPr>
              <a:t>근거: Kim 2015(J Am Board Fam Med); Prateepavanich 1999(J Med Assoc Thai)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64240" y="6455664"/>
            <a:ext cx="82296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5A6B7B"/>
                </a:solidFill>
                <a:latin typeface="NanumGothic"/>
                <a:ea typeface="NanumGothic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10896"/>
            <a:ext cx="109728" cy="457200"/>
          </a:xfrm>
          <a:prstGeom prst="rect">
            <a:avLst/>
          </a:prstGeom>
          <a:solidFill>
            <a:srgbClr val="2C8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37744"/>
            <a:ext cx="969264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2500" b="1" i="0">
                <a:solidFill>
                  <a:srgbClr val="1B355E"/>
                </a:solidFill>
                <a:latin typeface="NanumGothic"/>
                <a:ea typeface="NanumGothic"/>
              </a:rPr>
              <a:t>주사 ③ 건침(Dry Needling) — 기법·근거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109728"/>
            <a:ext cx="7315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1F6E70"/>
                </a:solidFill>
                <a:latin typeface="NanumGothic"/>
                <a:ea typeface="NanumGothic"/>
              </a:rPr>
              <a:t>주사 기법(상세)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969264"/>
            <a:ext cx="10881360" cy="17780"/>
          </a:xfrm>
          <a:prstGeom prst="rect">
            <a:avLst/>
          </a:prstGeom>
          <a:solidFill>
            <a:srgbClr val="D5D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906963" y="365760"/>
            <a:ext cx="781812" cy="347472"/>
          </a:xfrm>
          <a:prstGeom prst="roundRect">
            <a:avLst>
              <a:gd name="adj" fmla="val 8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06963" y="365760"/>
            <a:ext cx="78181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FFFFFF"/>
                </a:solidFill>
                <a:latin typeface="NanumGothic"/>
                <a:ea typeface="NanumGothic"/>
              </a:rPr>
              <a:t>효과 있음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371600"/>
            <a:ext cx="640080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900"/>
              </a:spcAft>
            </a:pPr>
            <a:r>
              <a:rPr sz="944" b="1" i="0">
                <a:solidFill>
                  <a:srgbClr val="2C898A"/>
                </a:solidFill>
                <a:latin typeface="NanumGothic"/>
                <a:ea typeface="NanumGothic"/>
              </a:rPr>
              <a:t>●  </a:t>
            </a:r>
            <a:r>
              <a:rPr sz="1350" b="1" i="0">
                <a:solidFill>
                  <a:srgbClr val="1A202C"/>
                </a:solidFill>
                <a:latin typeface="NanumGothic"/>
                <a:ea typeface="NanumGothic"/>
              </a:rPr>
              <a:t>Temel 2023 RCT(n=42): 스트레칭 단독 vs 스트레칭 + 비복근 유발점 dry needling.</a:t>
            </a:r>
          </a:p>
          <a:p>
            <a:pPr algn="l">
              <a:lnSpc>
                <a:spcPct val="108000"/>
              </a:lnSpc>
              <a:spcAft>
                <a:spcPts val="900"/>
              </a:spcAft>
            </a:pPr>
            <a:r>
              <a:rPr sz="1350" b="1" i="0">
                <a:solidFill>
                  <a:srgbClr val="5A6B7B"/>
                </a:solidFill>
                <a:latin typeface="NanumGothic"/>
                <a:ea typeface="NanumGothic"/>
              </a:rPr>
              <a:t>      –  </a:t>
            </a:r>
            <a:r>
              <a:rPr sz="1350" b="0" i="0">
                <a:solidFill>
                  <a:srgbClr val="1A202C"/>
                </a:solidFill>
                <a:latin typeface="NanumGothic"/>
                <a:ea typeface="NanumGothic"/>
              </a:rPr>
              <a:t>두 군 모두 경련 횟수 유의 감소(P&lt;0.001).</a:t>
            </a:r>
          </a:p>
          <a:p>
            <a:pPr algn="l">
              <a:lnSpc>
                <a:spcPct val="108000"/>
              </a:lnSpc>
              <a:spcAft>
                <a:spcPts val="900"/>
              </a:spcAft>
            </a:pPr>
            <a:r>
              <a:rPr sz="1350" b="1" i="0">
                <a:solidFill>
                  <a:srgbClr val="5A6B7B"/>
                </a:solidFill>
                <a:latin typeface="NanumGothic"/>
                <a:ea typeface="NanumGothic"/>
              </a:rPr>
              <a:t>      –  </a:t>
            </a:r>
            <a:r>
              <a:rPr sz="1350" b="1" i="0">
                <a:solidFill>
                  <a:srgbClr val="2E7D32"/>
                </a:solidFill>
                <a:latin typeface="NanumGothic"/>
                <a:ea typeface="NanumGothic"/>
              </a:rPr>
              <a:t>DN 병용군이 3개월 추적 경련 횟수(P=0.016)·강도·압력통증역치·수면질(PSQI)에서 우월.</a:t>
            </a:r>
          </a:p>
          <a:p>
            <a:pPr algn="l">
              <a:lnSpc>
                <a:spcPct val="108000"/>
              </a:lnSpc>
              <a:spcAft>
                <a:spcPts val="900"/>
              </a:spcAft>
            </a:pPr>
            <a:r>
              <a:rPr sz="944" b="1" i="0">
                <a:solidFill>
                  <a:srgbClr val="2C898A"/>
                </a:solidFill>
                <a:latin typeface="NanumGothic"/>
                <a:ea typeface="NanumGothic"/>
              </a:rPr>
              <a:t>●  </a:t>
            </a:r>
            <a:r>
              <a:rPr sz="1350" b="0" i="0">
                <a:solidFill>
                  <a:srgbClr val="1A202C"/>
                </a:solidFill>
                <a:latin typeface="NanumGothic"/>
                <a:ea typeface="NanumGothic"/>
              </a:rPr>
              <a:t>Bagcier 2021 증례: 마그네슘·스트레칭 불응 환자에 주1회 3회기 DN + 스트레칭.</a:t>
            </a:r>
          </a:p>
          <a:p>
            <a:pPr algn="l">
              <a:lnSpc>
                <a:spcPct val="108000"/>
              </a:lnSpc>
              <a:spcAft>
                <a:spcPts val="900"/>
              </a:spcAft>
            </a:pPr>
            <a:r>
              <a:rPr sz="1350" b="1" i="0">
                <a:solidFill>
                  <a:srgbClr val="5A6B7B"/>
                </a:solidFill>
                <a:latin typeface="NanumGothic"/>
                <a:ea typeface="NanumGothic"/>
              </a:rPr>
              <a:t>      –  </a:t>
            </a:r>
            <a:r>
              <a:rPr sz="1350" b="0" i="0">
                <a:solidFill>
                  <a:srgbClr val="2E7D32"/>
                </a:solidFill>
                <a:latin typeface="NanumGothic"/>
                <a:ea typeface="NanumGothic"/>
              </a:rPr>
              <a:t>경련 지속 60초→10초, 통증 VAS 8→1, 빈도 '매일'→'주간'으로 개선.</a:t>
            </a:r>
          </a:p>
          <a:p>
            <a:pPr algn="l">
              <a:lnSpc>
                <a:spcPct val="108000"/>
              </a:lnSpc>
              <a:spcAft>
                <a:spcPts val="900"/>
              </a:spcAft>
            </a:pPr>
            <a:r>
              <a:rPr sz="944" b="1" i="0">
                <a:solidFill>
                  <a:srgbClr val="2C898A"/>
                </a:solidFill>
                <a:latin typeface="NanumGothic"/>
                <a:ea typeface="NanumGothic"/>
              </a:rPr>
              <a:t>●  </a:t>
            </a:r>
            <a:r>
              <a:rPr sz="1350" b="0" i="0">
                <a:solidFill>
                  <a:srgbClr val="1A202C"/>
                </a:solidFill>
                <a:latin typeface="NanumGothic"/>
                <a:ea typeface="NanumGothic"/>
              </a:rPr>
              <a:t>기전: 약물 없이 바늘의 기계적 자극으로 국소연축반응 유도·소실, taut band 이완, 압력통증역치 상승.</a:t>
            </a:r>
          </a:p>
          <a:p>
            <a:pPr algn="l">
              <a:lnSpc>
                <a:spcPct val="108000"/>
              </a:lnSpc>
              <a:spcAft>
                <a:spcPts val="900"/>
              </a:spcAft>
            </a:pPr>
            <a:r>
              <a:rPr sz="1350" b="1" i="0">
                <a:solidFill>
                  <a:srgbClr val="5A6B7B"/>
                </a:solidFill>
                <a:latin typeface="NanumGothic"/>
                <a:ea typeface="NanumGothic"/>
              </a:rPr>
              <a:t/>
            </a:r>
            <a:r>
              <a:rPr sz="1350" b="1" i="0">
                <a:solidFill>
                  <a:srgbClr val="1F6E70"/>
                </a:solidFill>
                <a:latin typeface="NanumGothic"/>
                <a:ea typeface="NanumGothic"/>
              </a:rPr>
              <a:t>저침습·저비용·무약물. 근거는 소규모 RCT·증례(Level III~).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06640" y="1463040"/>
            <a:ext cx="4114800" cy="4480560"/>
          </a:xfrm>
          <a:prstGeom prst="roundRect">
            <a:avLst>
              <a:gd name="adj" fmla="val 8000"/>
            </a:avLst>
          </a:prstGeom>
          <a:solidFill>
            <a:srgbClr val="1B355E"/>
          </a:solidFill>
          <a:ln w="12700">
            <a:solidFill>
              <a:srgbClr val="D5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80960" y="173736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BFD3E6"/>
                </a:solidFill>
                <a:latin typeface="NanumGothic"/>
                <a:ea typeface="NanumGothic"/>
              </a:rPr>
              <a:t>기법 요약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80960" y="2240280"/>
            <a:ext cx="3611880" cy="3566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1100"/>
              </a:spcAft>
            </a:pPr>
            <a:r>
              <a:rPr sz="875" b="1" i="0">
                <a:solidFill>
                  <a:srgbClr val="2C898A"/>
                </a:solidFill>
                <a:latin typeface="NanumGothic"/>
                <a:ea typeface="NanumGothic"/>
              </a:rPr>
              <a:t>●  </a:t>
            </a:r>
            <a:r>
              <a:rPr sz="1250" b="0" i="0">
                <a:solidFill>
                  <a:srgbClr val="FFFFFF"/>
                </a:solidFill>
                <a:latin typeface="NanumGothic"/>
                <a:ea typeface="NanumGothic"/>
              </a:rPr>
              <a:t>표적: 비복근 근막통증유발점.</a:t>
            </a:r>
          </a:p>
          <a:p>
            <a:pPr algn="l">
              <a:lnSpc>
                <a:spcPct val="108000"/>
              </a:lnSpc>
              <a:spcAft>
                <a:spcPts val="1100"/>
              </a:spcAft>
            </a:pPr>
            <a:r>
              <a:rPr sz="875" b="1" i="0">
                <a:solidFill>
                  <a:srgbClr val="2C898A"/>
                </a:solidFill>
                <a:latin typeface="NanumGothic"/>
                <a:ea typeface="NanumGothic"/>
              </a:rPr>
              <a:t>●  </a:t>
            </a:r>
            <a:r>
              <a:rPr sz="1250" b="0" i="0">
                <a:solidFill>
                  <a:srgbClr val="FFFFFF"/>
                </a:solidFill>
                <a:latin typeface="NanumGothic"/>
                <a:ea typeface="NanumGothic"/>
              </a:rPr>
              <a:t>방식: 유발점 직접 자침, 국소연축반응 유도.</a:t>
            </a:r>
          </a:p>
          <a:p>
            <a:pPr algn="l">
              <a:lnSpc>
                <a:spcPct val="108000"/>
              </a:lnSpc>
              <a:spcAft>
                <a:spcPts val="1100"/>
              </a:spcAft>
            </a:pPr>
            <a:r>
              <a:rPr sz="875" b="1" i="0">
                <a:solidFill>
                  <a:srgbClr val="2C898A"/>
                </a:solidFill>
                <a:latin typeface="NanumGothic"/>
                <a:ea typeface="NanumGothic"/>
              </a:rPr>
              <a:t>●  </a:t>
            </a:r>
            <a:r>
              <a:rPr sz="1250" b="0" i="0">
                <a:solidFill>
                  <a:srgbClr val="FFFFFF"/>
                </a:solidFill>
                <a:latin typeface="NanumGothic"/>
                <a:ea typeface="NanumGothic"/>
              </a:rPr>
              <a:t>빈도: 주 1회 × 약 3회기.</a:t>
            </a:r>
          </a:p>
          <a:p>
            <a:pPr algn="l">
              <a:lnSpc>
                <a:spcPct val="108000"/>
              </a:lnSpc>
              <a:spcAft>
                <a:spcPts val="1100"/>
              </a:spcAft>
            </a:pPr>
            <a:r>
              <a:rPr sz="875" b="1" i="0">
                <a:solidFill>
                  <a:srgbClr val="2C898A"/>
                </a:solidFill>
                <a:latin typeface="NanumGothic"/>
                <a:ea typeface="NanumGothic"/>
              </a:rPr>
              <a:t>●  </a:t>
            </a:r>
            <a:r>
              <a:rPr sz="1250" b="1" i="0">
                <a:solidFill>
                  <a:srgbClr val="9FE0D8"/>
                </a:solidFill>
                <a:latin typeface="NanumGothic"/>
                <a:ea typeface="NanumGothic"/>
              </a:rPr>
              <a:t>병용: 스트레칭과 함께 시행 시 단·중기 효과 우월.</a:t>
            </a:r>
          </a:p>
          <a:p>
            <a:pPr algn="l">
              <a:lnSpc>
                <a:spcPct val="108000"/>
              </a:lnSpc>
              <a:spcAft>
                <a:spcPts val="1100"/>
              </a:spcAft>
            </a:pPr>
            <a:r>
              <a:rPr sz="875" b="1" i="0">
                <a:solidFill>
                  <a:srgbClr val="2C898A"/>
                </a:solidFill>
                <a:latin typeface="NanumGothic"/>
                <a:ea typeface="NanumGothic"/>
              </a:rPr>
              <a:t>●  </a:t>
            </a:r>
            <a:r>
              <a:rPr sz="1250" b="0" i="0">
                <a:solidFill>
                  <a:srgbClr val="FFFFFF"/>
                </a:solidFill>
                <a:latin typeface="NanumGothic"/>
                <a:ea typeface="NanumGothic"/>
              </a:rPr>
              <a:t>안전: 경미한 출혈·압통 외 중대 이상반응 없음. 초음파 유도 권장.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6455664"/>
            <a:ext cx="98755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5A6B7B"/>
                </a:solidFill>
                <a:latin typeface="NanumGothic"/>
                <a:ea typeface="NanumGothic"/>
              </a:rPr>
              <a:t>근거: Temel 2023(Turk J Osteoporos); Bagcier 2021(J Am Board Fam Med)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64240" y="6455664"/>
            <a:ext cx="82296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5A6B7B"/>
                </a:solidFill>
                <a:latin typeface="NanumGothic"/>
                <a:ea typeface="NanumGothic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10896"/>
            <a:ext cx="109728" cy="457200"/>
          </a:xfrm>
          <a:prstGeom prst="rect">
            <a:avLst/>
          </a:prstGeom>
          <a:solidFill>
            <a:srgbClr val="2C8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37744"/>
            <a:ext cx="969264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2500" b="1" i="0">
                <a:solidFill>
                  <a:srgbClr val="1B355E"/>
                </a:solidFill>
                <a:latin typeface="NanumGothic"/>
                <a:ea typeface="NanumGothic"/>
              </a:rPr>
              <a:t>주사 ④ 심비골신경 내측분지 차단 — 핵심 직접근거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109728"/>
            <a:ext cx="7315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1F6E70"/>
                </a:solidFill>
                <a:latin typeface="NanumGothic"/>
                <a:ea typeface="NanumGothic"/>
              </a:rPr>
              <a:t>주사 기법(상세) · 직접 근거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969264"/>
            <a:ext cx="10881360" cy="17780"/>
          </a:xfrm>
          <a:prstGeom prst="rect">
            <a:avLst/>
          </a:prstGeom>
          <a:solidFill>
            <a:srgbClr val="D5D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906963" y="365760"/>
            <a:ext cx="781812" cy="347472"/>
          </a:xfrm>
          <a:prstGeom prst="roundRect">
            <a:avLst>
              <a:gd name="adj" fmla="val 8000"/>
            </a:avLst>
          </a:prstGeom>
          <a:solidFill>
            <a:srgbClr val="2C8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06963" y="365760"/>
            <a:ext cx="78181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FFFFFF"/>
                </a:solidFill>
                <a:latin typeface="NanumGothic"/>
                <a:ea typeface="NanumGothic"/>
              </a:rPr>
              <a:t>직접 근거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371600"/>
            <a:ext cx="6217920" cy="2377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900"/>
              </a:spcAft>
            </a:pPr>
            <a:r>
              <a:rPr sz="944" b="1" i="0">
                <a:solidFill>
                  <a:srgbClr val="2C898A"/>
                </a:solidFill>
                <a:latin typeface="NanumGothic"/>
                <a:ea typeface="NanumGothic"/>
              </a:rPr>
              <a:t>●  </a:t>
            </a:r>
            <a:r>
              <a:rPr sz="1350" b="1" i="0">
                <a:solidFill>
                  <a:srgbClr val="1A202C"/>
                </a:solidFill>
                <a:latin typeface="NanumGothic"/>
                <a:ea typeface="NanumGothic"/>
              </a:rPr>
              <a:t>Imura 2015: 야간경련에 말초 운동신경가지를 직접 표적한, 현재 확인 가능한 유일한 전향적 비교연구.</a:t>
            </a:r>
          </a:p>
          <a:p>
            <a:pPr algn="l">
              <a:lnSpc>
                <a:spcPct val="108000"/>
              </a:lnSpc>
              <a:spcAft>
                <a:spcPts val="900"/>
              </a:spcAft>
            </a:pPr>
            <a:r>
              <a:rPr sz="944" b="1" i="0">
                <a:solidFill>
                  <a:srgbClr val="2C898A"/>
                </a:solidFill>
                <a:latin typeface="NanumGothic"/>
                <a:ea typeface="NanumGothic"/>
              </a:rPr>
              <a:t>●  </a:t>
            </a:r>
            <a:r>
              <a:rPr sz="1350" b="0" i="0">
                <a:solidFill>
                  <a:srgbClr val="1A202C"/>
                </a:solidFill>
                <a:latin typeface="NanumGothic"/>
                <a:ea typeface="NanumGothic"/>
              </a:rPr>
              <a:t>대상: 요추수술(감압술) 후 야간경련이 지속된 66명(차단군 41 vs 대조 25), 평균 60.9세.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703320"/>
            <a:ext cx="5989320" cy="2331720"/>
          </a:xfrm>
          <a:prstGeom prst="roundRect">
            <a:avLst>
              <a:gd name="adj" fmla="val 8000"/>
            </a:avLst>
          </a:prstGeom>
          <a:solidFill>
            <a:srgbClr val="F5F8FB"/>
          </a:solidFill>
          <a:ln w="12700">
            <a:solidFill>
              <a:srgbClr val="D5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388620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1F6E70"/>
                </a:solidFill>
                <a:latin typeface="NanumGothic"/>
                <a:ea typeface="NanumGothic"/>
              </a:rPr>
              <a:t>주사 기법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4343400"/>
            <a:ext cx="548640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800"/>
              </a:spcAft>
            </a:pPr>
            <a:r>
              <a:rPr sz="875" b="1" i="0">
                <a:solidFill>
                  <a:srgbClr val="2C898A"/>
                </a:solidFill>
                <a:latin typeface="NanumGothic"/>
                <a:ea typeface="NanumGothic"/>
              </a:rPr>
              <a:t>●  </a:t>
            </a:r>
            <a:r>
              <a:rPr sz="1250" b="0" i="0">
                <a:solidFill>
                  <a:srgbClr val="1A202C"/>
                </a:solidFill>
                <a:latin typeface="NanumGothic"/>
                <a:ea typeface="NanumGothic"/>
              </a:rPr>
              <a:t>표적: 제1–2 중족골 사이 간극의 원위 2/3 지점, 심비골신경 내측가지.</a:t>
            </a:r>
          </a:p>
          <a:p>
            <a:pPr algn="l">
              <a:lnSpc>
                <a:spcPct val="108000"/>
              </a:lnSpc>
              <a:spcAft>
                <a:spcPts val="800"/>
              </a:spcAft>
            </a:pPr>
            <a:r>
              <a:rPr sz="875" b="1" i="0">
                <a:solidFill>
                  <a:srgbClr val="2C898A"/>
                </a:solidFill>
                <a:latin typeface="NanumGothic"/>
                <a:ea typeface="NanumGothic"/>
              </a:rPr>
              <a:t>●  </a:t>
            </a:r>
            <a:r>
              <a:rPr sz="1250" b="0" i="0">
                <a:solidFill>
                  <a:srgbClr val="1A202C"/>
                </a:solidFill>
                <a:latin typeface="NanumGothic"/>
                <a:ea typeface="NanumGothic"/>
              </a:rPr>
              <a:t>약제: 1.0% lidocaine 5.0 mL (에피네프린 무첨가).</a:t>
            </a:r>
          </a:p>
          <a:p>
            <a:pPr algn="l">
              <a:lnSpc>
                <a:spcPct val="108000"/>
              </a:lnSpc>
              <a:spcAft>
                <a:spcPts val="800"/>
              </a:spcAft>
            </a:pPr>
            <a:r>
              <a:rPr sz="875" b="1" i="0">
                <a:solidFill>
                  <a:srgbClr val="2C898A"/>
                </a:solidFill>
                <a:latin typeface="NanumGothic"/>
                <a:ea typeface="NanumGothic"/>
              </a:rPr>
              <a:t>●  </a:t>
            </a:r>
            <a:r>
              <a:rPr sz="1250" b="0" i="0">
                <a:solidFill>
                  <a:srgbClr val="1A202C"/>
                </a:solidFill>
                <a:latin typeface="NanumGothic"/>
                <a:ea typeface="NanumGothic"/>
              </a:rPr>
              <a:t>깊이: 1.0–1.5 cm에 서서히 주입.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949440" y="1417320"/>
            <a:ext cx="4572000" cy="4617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949440" y="1417320"/>
            <a:ext cx="4572000" cy="566928"/>
          </a:xfrm>
          <a:prstGeom prst="roundRect">
            <a:avLst>
              <a:gd name="adj" fmla="val 8000"/>
            </a:avLst>
          </a:prstGeom>
          <a:solidFill>
            <a:srgbClr val="2C8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9440" y="1417320"/>
            <a:ext cx="45720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FFFFFF"/>
                </a:solidFill>
                <a:latin typeface="NanumGothic"/>
                <a:ea typeface="NanumGothic"/>
              </a:rPr>
              <a:t>결과 (2주 시점)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23760" y="2194560"/>
            <a:ext cx="411480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900"/>
              </a:spcAft>
            </a:pPr>
            <a:r>
              <a:rPr sz="875" b="1" i="0">
                <a:solidFill>
                  <a:srgbClr val="2C898A"/>
                </a:solidFill>
                <a:latin typeface="NanumGothic"/>
                <a:ea typeface="NanumGothic"/>
              </a:rPr>
              <a:t>●  </a:t>
            </a:r>
            <a:r>
              <a:rPr sz="1250" b="1" i="0">
                <a:solidFill>
                  <a:srgbClr val="2E7D32"/>
                </a:solidFill>
                <a:latin typeface="NanumGothic"/>
                <a:ea typeface="NanumGothic"/>
              </a:rPr>
              <a:t>경련 빈도 1/4 미만으로 감소: 차단군 61.0% vs 대조 20.0%</a:t>
            </a:r>
          </a:p>
          <a:p>
            <a:pPr algn="l">
              <a:lnSpc>
                <a:spcPct val="108000"/>
              </a:lnSpc>
              <a:spcAft>
                <a:spcPts val="900"/>
              </a:spcAft>
            </a:pPr>
            <a:r>
              <a:rPr sz="875" b="1" i="0">
                <a:solidFill>
                  <a:srgbClr val="2C898A"/>
                </a:solidFill>
                <a:latin typeface="NanumGothic"/>
                <a:ea typeface="NanumGothic"/>
              </a:rPr>
              <a:t>●  </a:t>
            </a:r>
            <a:r>
              <a:rPr sz="1250" b="0" i="0">
                <a:solidFill>
                  <a:srgbClr val="2E7D32"/>
                </a:solidFill>
                <a:latin typeface="NanumGothic"/>
                <a:ea typeface="NanumGothic"/>
              </a:rPr>
              <a:t>1/2 미만으로 감소: 80.5% vs ~28% (P&lt;0.01)</a:t>
            </a:r>
          </a:p>
          <a:p>
            <a:pPr algn="l">
              <a:lnSpc>
                <a:spcPct val="108000"/>
              </a:lnSpc>
              <a:spcAft>
                <a:spcPts val="900"/>
              </a:spcAft>
            </a:pPr>
            <a:r>
              <a:rPr sz="875" b="1" i="0">
                <a:solidFill>
                  <a:srgbClr val="2C898A"/>
                </a:solidFill>
                <a:latin typeface="NanumGothic"/>
                <a:ea typeface="NanumGothic"/>
              </a:rPr>
              <a:t>●  </a:t>
            </a:r>
            <a:r>
              <a:rPr sz="1250" b="0" i="0">
                <a:solidFill>
                  <a:srgbClr val="2E7D32"/>
                </a:solidFill>
                <a:latin typeface="NanumGothic"/>
                <a:ea typeface="NanumGothic"/>
              </a:rPr>
              <a:t>경련 강도 감소: 63.4% vs 8.0% (P&lt;0.05)</a:t>
            </a:r>
          </a:p>
          <a:p>
            <a:pPr algn="l">
              <a:lnSpc>
                <a:spcPct val="108000"/>
              </a:lnSpc>
              <a:spcAft>
                <a:spcPts val="900"/>
              </a:spcAft>
            </a:pPr>
            <a:r>
              <a:rPr sz="875" b="1" i="0">
                <a:solidFill>
                  <a:srgbClr val="2C898A"/>
                </a:solidFill>
                <a:latin typeface="NanumGothic"/>
                <a:ea typeface="NanumGothic"/>
              </a:rPr>
              <a:t>●  </a:t>
            </a:r>
            <a:r>
              <a:rPr sz="1250" b="0" i="0">
                <a:solidFill>
                  <a:srgbClr val="1A202C"/>
                </a:solidFill>
                <a:latin typeface="NanumGothic"/>
                <a:ea typeface="NanumGothic"/>
              </a:rPr>
              <a:t>지속: 12주 이상 63.4%, 부작용 41명 전원 없음.</a:t>
            </a:r>
          </a:p>
          <a:p>
            <a:pPr algn="l">
              <a:lnSpc>
                <a:spcPct val="108000"/>
              </a:lnSpc>
              <a:spcAft>
                <a:spcPts val="900"/>
              </a:spcAft>
            </a:pPr>
            <a:r>
              <a:rPr sz="875" b="1" i="0">
                <a:solidFill>
                  <a:srgbClr val="2C898A"/>
                </a:solidFill>
                <a:latin typeface="NanumGothic"/>
                <a:ea typeface="NanumGothic"/>
              </a:rPr>
              <a:t>●  </a:t>
            </a:r>
            <a:r>
              <a:rPr sz="1250" b="0" i="0">
                <a:solidFill>
                  <a:srgbClr val="5A6B7B"/>
                </a:solidFill>
                <a:latin typeface="NanumGothic"/>
                <a:ea typeface="NanumGothic"/>
              </a:rPr>
              <a:t>성격상 감각가지 → 구심성 입력 차단으로 되먹임고리 억제로 해석.</a:t>
            </a:r>
          </a:p>
          <a:p>
            <a:pPr algn="l">
              <a:lnSpc>
                <a:spcPct val="108000"/>
              </a:lnSpc>
              <a:spcAft>
                <a:spcPts val="900"/>
              </a:spcAft>
            </a:pPr>
            <a:r>
              <a:rPr sz="875" b="1" i="0">
                <a:solidFill>
                  <a:srgbClr val="2C898A"/>
                </a:solidFill>
                <a:latin typeface="NanumGothic"/>
                <a:ea typeface="NanumGothic"/>
              </a:rPr>
              <a:t>●  </a:t>
            </a:r>
            <a:r>
              <a:rPr sz="1250" b="0" i="0">
                <a:solidFill>
                  <a:srgbClr val="5A6B7B"/>
                </a:solidFill>
                <a:latin typeface="NanumGothic"/>
                <a:ea typeface="NanumGothic"/>
              </a:rPr>
              <a:t>한계: 요추수술 후 특수집단, 비무작위(Level III~IV).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6455664"/>
            <a:ext cx="98755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5A6B7B"/>
                </a:solidFill>
                <a:latin typeface="NanumGothic"/>
                <a:ea typeface="NanumGothic"/>
              </a:rPr>
              <a:t>근거: Imura 2015 (Brain Behav; PMID 26445706)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64240" y="6455664"/>
            <a:ext cx="82296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5A6B7B"/>
                </a:solidFill>
                <a:latin typeface="NanumGothic"/>
                <a:ea typeface="NanumGothic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10896"/>
            <a:ext cx="109728" cy="457200"/>
          </a:xfrm>
          <a:prstGeom prst="rect">
            <a:avLst/>
          </a:prstGeom>
          <a:solidFill>
            <a:srgbClr val="2C8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37744"/>
            <a:ext cx="969264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2500" b="1" i="0">
                <a:solidFill>
                  <a:srgbClr val="1B355E"/>
                </a:solidFill>
                <a:latin typeface="NanumGothic"/>
                <a:ea typeface="NanumGothic"/>
              </a:rPr>
              <a:t>주사 치료의 기전과 안전성 총괄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109728"/>
            <a:ext cx="7315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1F6E70"/>
                </a:solidFill>
                <a:latin typeface="NanumGothic"/>
                <a:ea typeface="NanumGothic"/>
              </a:rPr>
              <a:t>주사 · 종합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969264"/>
            <a:ext cx="10881360" cy="17780"/>
          </a:xfrm>
          <a:prstGeom prst="rect">
            <a:avLst/>
          </a:prstGeom>
          <a:solidFill>
            <a:srgbClr val="D5D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1117275" y="365760"/>
            <a:ext cx="571500" cy="347472"/>
          </a:xfrm>
          <a:prstGeom prst="roundRect">
            <a:avLst>
              <a:gd name="adj" fmla="val 8000"/>
            </a:avLst>
          </a:prstGeom>
          <a:solidFill>
            <a:srgbClr val="2C8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117275" y="365760"/>
            <a:ext cx="57150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FFFFFF"/>
                </a:solidFill>
                <a:latin typeface="NanumGothic"/>
                <a:ea typeface="NanumGothic"/>
              </a:rPr>
              <a:t>안전성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417320"/>
            <a:ext cx="10835640" cy="1600200"/>
          </a:xfrm>
          <a:prstGeom prst="roundRect">
            <a:avLst>
              <a:gd name="adj" fmla="val 8000"/>
            </a:avLst>
          </a:prstGeom>
          <a:solidFill>
            <a:srgbClr val="F5F8FB"/>
          </a:solidFill>
          <a:ln w="12700">
            <a:solidFill>
              <a:srgbClr val="D5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1572768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1B355E"/>
                </a:solidFill>
                <a:latin typeface="NanumGothic"/>
                <a:ea typeface="NanumGothic"/>
              </a:rPr>
              <a:t>진성 근경련 = 운동신경(축삭 종말·척수 운동뉴런)의 폭발적 과흥분 (Minetto 2011; Miller-Layzer 2005)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51560" y="2057400"/>
            <a:ext cx="2103120" cy="749808"/>
          </a:xfrm>
          <a:prstGeom prst="roundRect">
            <a:avLst>
              <a:gd name="adj" fmla="val 8000"/>
            </a:avLst>
          </a:prstGeom>
          <a:solidFill>
            <a:srgbClr val="2447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" y="2057400"/>
            <a:ext cx="210312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FFFFF"/>
                </a:solidFill>
                <a:latin typeface="NanumGothic"/>
                <a:ea typeface="NanumGothic"/>
              </a:rPr>
              <a:t>단축·피로한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FFFFF"/>
                </a:solidFill>
                <a:latin typeface="NanumGothic"/>
                <a:ea typeface="NanumGothic"/>
              </a:rPr>
              <a:t>근육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72968" y="2057400"/>
            <a:ext cx="36576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2C898A"/>
                </a:solidFill>
                <a:latin typeface="NanumGothic"/>
                <a:ea typeface="NanumGothic"/>
              </a:rPr>
              <a:t>▶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566160" y="2057400"/>
            <a:ext cx="2103120" cy="749808"/>
          </a:xfrm>
          <a:prstGeom prst="roundRect">
            <a:avLst>
              <a:gd name="adj" fmla="val 8000"/>
            </a:avLst>
          </a:prstGeom>
          <a:solidFill>
            <a:srgbClr val="2447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66160" y="2057400"/>
            <a:ext cx="210312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FFFFF"/>
                </a:solidFill>
                <a:latin typeface="NanumGothic"/>
                <a:ea typeface="NanumGothic"/>
              </a:rPr>
              <a:t>α-운동뉴런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FFFFF"/>
                </a:solidFill>
                <a:latin typeface="NanumGothic"/>
                <a:ea typeface="NanumGothic"/>
              </a:rPr>
              <a:t>과흥분·고빈도 방전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87568" y="2057400"/>
            <a:ext cx="36576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2C898A"/>
                </a:solidFill>
                <a:latin typeface="NanumGothic"/>
                <a:ea typeface="NanumGothic"/>
              </a:rPr>
              <a:t>▶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080760" y="2057400"/>
            <a:ext cx="2103120" cy="749808"/>
          </a:xfrm>
          <a:prstGeom prst="roundRect">
            <a:avLst>
              <a:gd name="adj" fmla="val 8000"/>
            </a:avLst>
          </a:prstGeom>
          <a:solidFill>
            <a:srgbClr val="2447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80760" y="2057400"/>
            <a:ext cx="210312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FFFFF"/>
                </a:solidFill>
                <a:latin typeface="NanumGothic"/>
                <a:ea typeface="NanumGothic"/>
              </a:rPr>
              <a:t>되먹임 루프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FFFFF"/>
                </a:solidFill>
                <a:latin typeface="NanumGothic"/>
                <a:ea typeface="NanumGothic"/>
              </a:rPr>
              <a:t>(Ia↑ / Ib억제↓)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02168" y="2057400"/>
            <a:ext cx="36576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2C898A"/>
                </a:solidFill>
                <a:latin typeface="NanumGothic"/>
                <a:ea typeface="NanumGothic"/>
              </a:rPr>
              <a:t>▶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595360" y="2057400"/>
            <a:ext cx="2103120" cy="749808"/>
          </a:xfrm>
          <a:prstGeom prst="roundRect">
            <a:avLst>
              <a:gd name="adj" fmla="val 8000"/>
            </a:avLst>
          </a:prstGeom>
          <a:solidFill>
            <a:srgbClr val="2447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95360" y="2057400"/>
            <a:ext cx="210312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FFFFF"/>
                </a:solidFill>
                <a:latin typeface="NanumGothic"/>
                <a:ea typeface="NanumGothic"/>
              </a:rPr>
              <a:t>경련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3246120"/>
            <a:ext cx="5349240" cy="2788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0120" y="3429000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1F6E70"/>
                </a:solidFill>
                <a:latin typeface="NanumGothic"/>
                <a:ea typeface="NanumGothic"/>
              </a:rPr>
              <a:t>주사는 이 고리를 어떻게 끊는가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" y="3886200"/>
            <a:ext cx="484632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900"/>
              </a:spcAft>
            </a:pPr>
            <a:r>
              <a:rPr sz="875" b="1" i="0">
                <a:solidFill>
                  <a:srgbClr val="2C898A"/>
                </a:solidFill>
                <a:latin typeface="NanumGothic"/>
                <a:ea typeface="NanumGothic"/>
              </a:rPr>
              <a:t>●  </a:t>
            </a:r>
            <a:r>
              <a:rPr sz="1250" b="0" i="0">
                <a:solidFill>
                  <a:srgbClr val="1A202C"/>
                </a:solidFill>
                <a:latin typeface="NanumGothic"/>
                <a:ea typeface="NanumGothic"/>
              </a:rPr>
              <a:t>국소마취제: Na 통로 차단 → 구심·원심 신호 일시 차단.</a:t>
            </a:r>
          </a:p>
          <a:p>
            <a:pPr algn="l">
              <a:lnSpc>
                <a:spcPct val="108000"/>
              </a:lnSpc>
              <a:spcAft>
                <a:spcPts val="900"/>
              </a:spcAft>
            </a:pPr>
            <a:r>
              <a:rPr sz="875" b="1" i="0">
                <a:solidFill>
                  <a:srgbClr val="2C898A"/>
                </a:solidFill>
                <a:latin typeface="NanumGothic"/>
                <a:ea typeface="NanumGothic"/>
              </a:rPr>
              <a:t>●  </a:t>
            </a:r>
            <a:r>
              <a:rPr sz="1250" b="0" i="0">
                <a:solidFill>
                  <a:srgbClr val="1A202C"/>
                </a:solidFill>
                <a:latin typeface="NanumGothic"/>
                <a:ea typeface="NanumGothic"/>
              </a:rPr>
              <a:t>BTX-A: NMJ ACh 유리 억제 → 수주~수개월 화학적 탈신경.</a:t>
            </a:r>
          </a:p>
          <a:p>
            <a:pPr algn="l">
              <a:lnSpc>
                <a:spcPct val="108000"/>
              </a:lnSpc>
              <a:spcAft>
                <a:spcPts val="900"/>
              </a:spcAft>
            </a:pPr>
            <a:r>
              <a:rPr sz="875" b="1" i="0">
                <a:solidFill>
                  <a:srgbClr val="2C898A"/>
                </a:solidFill>
                <a:latin typeface="NanumGothic"/>
                <a:ea typeface="NanumGothic"/>
              </a:rPr>
              <a:t>●  </a:t>
            </a:r>
            <a:r>
              <a:rPr sz="1250" b="0" i="0">
                <a:solidFill>
                  <a:srgbClr val="1A202C"/>
                </a:solidFill>
                <a:latin typeface="NanumGothic"/>
                <a:ea typeface="NanumGothic"/>
              </a:rPr>
              <a:t>Dry needling: 유발점 비활성화·되먹임 차단.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17920" y="3246120"/>
            <a:ext cx="5349240" cy="2788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46520" y="3429000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B03A2E"/>
                </a:solidFill>
                <a:latin typeface="NanumGothic"/>
                <a:ea typeface="NanumGothic"/>
              </a:rPr>
              <a:t>고령 환자 안전 체크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46520" y="3886200"/>
            <a:ext cx="484632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800"/>
              </a:spcAft>
            </a:pPr>
            <a:r>
              <a:rPr sz="875" b="1" i="0">
                <a:solidFill>
                  <a:srgbClr val="2C898A"/>
                </a:solidFill>
                <a:latin typeface="NanumGothic"/>
                <a:ea typeface="NanumGothic"/>
              </a:rPr>
              <a:t>●  </a:t>
            </a:r>
            <a:r>
              <a:rPr sz="1250" b="0" i="0">
                <a:solidFill>
                  <a:srgbClr val="B03A2E"/>
                </a:solidFill>
                <a:latin typeface="NanumGothic"/>
                <a:ea typeface="NanumGothic"/>
              </a:rPr>
              <a:t>경골신경 표적 → 족저굴곡 약화 / 총비골신경 → 족하수 → 낙상.</a:t>
            </a:r>
          </a:p>
          <a:p>
            <a:pPr algn="l">
              <a:lnSpc>
                <a:spcPct val="108000"/>
              </a:lnSpc>
              <a:spcAft>
                <a:spcPts val="800"/>
              </a:spcAft>
            </a:pPr>
            <a:r>
              <a:rPr sz="875" b="1" i="0">
                <a:solidFill>
                  <a:srgbClr val="2C898A"/>
                </a:solidFill>
                <a:latin typeface="NanumGothic"/>
                <a:ea typeface="NanumGothic"/>
              </a:rPr>
              <a:t>●  </a:t>
            </a:r>
            <a:r>
              <a:rPr sz="1250" b="0" i="0">
                <a:solidFill>
                  <a:srgbClr val="1A202C"/>
                </a:solidFill>
                <a:latin typeface="NanumGothic"/>
                <a:ea typeface="NanumGothic"/>
              </a:rPr>
              <a:t>BTX 용량의존 근력약화, 항응고제 복용 시 출혈·혈종.</a:t>
            </a:r>
          </a:p>
          <a:p>
            <a:pPr algn="l">
              <a:lnSpc>
                <a:spcPct val="108000"/>
              </a:lnSpc>
              <a:spcAft>
                <a:spcPts val="800"/>
              </a:spcAft>
            </a:pPr>
            <a:r>
              <a:rPr sz="875" b="1" i="0">
                <a:solidFill>
                  <a:srgbClr val="2C898A"/>
                </a:solidFill>
                <a:latin typeface="NanumGothic"/>
                <a:ea typeface="NanumGothic"/>
              </a:rPr>
              <a:t>●  </a:t>
            </a:r>
            <a:r>
              <a:rPr sz="1250" b="0" i="0">
                <a:solidFill>
                  <a:srgbClr val="1A202C"/>
                </a:solidFill>
                <a:latin typeface="NanumGothic"/>
                <a:ea typeface="NanumGothic"/>
              </a:rPr>
              <a:t>역설적 경련 유발 사례도 보고(Ritt 2023).</a:t>
            </a:r>
          </a:p>
          <a:p>
            <a:pPr algn="l">
              <a:lnSpc>
                <a:spcPct val="108000"/>
              </a:lnSpc>
              <a:spcAft>
                <a:spcPts val="800"/>
              </a:spcAft>
            </a:pPr>
            <a:r>
              <a:rPr sz="875" b="1" i="0">
                <a:solidFill>
                  <a:srgbClr val="2C898A"/>
                </a:solidFill>
                <a:latin typeface="NanumGothic"/>
                <a:ea typeface="NanumGothic"/>
              </a:rPr>
              <a:t>●  </a:t>
            </a:r>
            <a:r>
              <a:rPr sz="1250" b="0" i="0">
                <a:solidFill>
                  <a:srgbClr val="1A202C"/>
                </a:solidFill>
                <a:latin typeface="NanumGothic"/>
                <a:ea typeface="NanumGothic"/>
              </a:rPr>
              <a:t>무균술·초음파 유도·혈관내 주입 회피.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6455664"/>
            <a:ext cx="98755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5A6B7B"/>
                </a:solidFill>
                <a:latin typeface="NanumGothic"/>
                <a:ea typeface="NanumGothic"/>
              </a:rPr>
              <a:t>근거: Minetto 2011(J Physiol); Miller &amp; Layzer 2005(Muscle Nerve); Ritt 2023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64240" y="6455664"/>
            <a:ext cx="82296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5A6B7B"/>
                </a:solidFill>
                <a:latin typeface="NanumGothic"/>
                <a:ea typeface="NanumGothic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10896"/>
            <a:ext cx="109728" cy="457200"/>
          </a:xfrm>
          <a:prstGeom prst="rect">
            <a:avLst/>
          </a:prstGeom>
          <a:solidFill>
            <a:srgbClr val="2C8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37744"/>
            <a:ext cx="969264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2500" b="1" i="0">
                <a:solidFill>
                  <a:srgbClr val="1B355E"/>
                </a:solidFill>
                <a:latin typeface="NanumGothic"/>
                <a:ea typeface="NanumGothic"/>
              </a:rPr>
              <a:t>체외충격파(ESWT) — 경련 직접 근거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109728"/>
            <a:ext cx="7315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1F6E70"/>
                </a:solidFill>
                <a:latin typeface="NanumGothic"/>
                <a:ea typeface="NanumGothic"/>
              </a:rPr>
              <a:t>충격파 · ESWT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969264"/>
            <a:ext cx="10881360" cy="17780"/>
          </a:xfrm>
          <a:prstGeom prst="rect">
            <a:avLst/>
          </a:prstGeom>
          <a:solidFill>
            <a:srgbClr val="D5D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801807" y="365760"/>
            <a:ext cx="886968" cy="347472"/>
          </a:xfrm>
          <a:prstGeom prst="roundRect">
            <a:avLst>
              <a:gd name="adj" fmla="val 8000"/>
            </a:avLst>
          </a:prstGeom>
          <a:solidFill>
            <a:srgbClr val="B97A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801807" y="365760"/>
            <a:ext cx="88696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FFFFFF"/>
                </a:solidFill>
                <a:latin typeface="NanumGothic"/>
                <a:ea typeface="NanumGothic"/>
              </a:rPr>
              <a:t>근거 형성중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371600"/>
            <a:ext cx="630936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944" b="1" i="0">
                <a:solidFill>
                  <a:srgbClr val="2C898A"/>
                </a:solidFill>
                <a:latin typeface="NanumGothic"/>
                <a:ea typeface="NanumGothic"/>
              </a:rPr>
              <a:t>●  </a:t>
            </a:r>
            <a:r>
              <a:rPr sz="1350" b="1" i="0">
                <a:solidFill>
                  <a:srgbClr val="1A202C"/>
                </a:solidFill>
                <a:latin typeface="NanumGothic"/>
                <a:ea typeface="NanumGothic"/>
              </a:rPr>
              <a:t>Li 2021(후향, n=126): 요추퇴행성질환 동반 하지경련. ESWT군 78 vs 대조 물리치료 44, 평균 62.3세.</a:t>
            </a:r>
          </a:p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944" b="1" i="0">
                <a:solidFill>
                  <a:srgbClr val="2C898A"/>
                </a:solidFill>
                <a:latin typeface="NanumGothic"/>
                <a:ea typeface="NanumGothic"/>
              </a:rPr>
              <a:t>●  </a:t>
            </a:r>
            <a:r>
              <a:rPr sz="1350" b="0" i="0">
                <a:solidFill>
                  <a:srgbClr val="1A202C"/>
                </a:solidFill>
                <a:latin typeface="NanumGothic"/>
                <a:ea typeface="NanumGothic"/>
              </a:rPr>
              <a:t>프로토콜: 2,000 shocks/session, 8–10/sec, 2일 간격, 총 4주.</a:t>
            </a:r>
          </a:p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944" b="1" i="0">
                <a:solidFill>
                  <a:srgbClr val="2C898A"/>
                </a:solidFill>
                <a:latin typeface="NanumGothic"/>
                <a:ea typeface="NanumGothic"/>
              </a:rPr>
              <a:t>●  </a:t>
            </a:r>
            <a:r>
              <a:rPr sz="1350" b="0" i="0">
                <a:solidFill>
                  <a:srgbClr val="5A6B7B"/>
                </a:solidFill>
                <a:latin typeface="NanumGothic"/>
                <a:ea typeface="NanumGothic"/>
              </a:rPr>
              <a:t>경련을 '직접' 평가한 유일한 임상연구이나 후향·비무작위(Level III~IV).</a:t>
            </a:r>
          </a:p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944" b="1" i="0">
                <a:solidFill>
                  <a:srgbClr val="2C898A"/>
                </a:solidFill>
                <a:latin typeface="NanumGothic"/>
                <a:ea typeface="NanumGothic"/>
              </a:rPr>
              <a:t>●  </a:t>
            </a:r>
            <a:r>
              <a:rPr sz="1350" b="0" i="0">
                <a:solidFill>
                  <a:srgbClr val="B03A2E"/>
                </a:solidFill>
                <a:latin typeface="NanumGothic"/>
                <a:ea typeface="NanumGothic"/>
              </a:rPr>
              <a:t>특발성 NLC만을 표적한 ESWT RCT는 아직 없음(직접 근거 공백).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60920" y="1417320"/>
            <a:ext cx="4160520" cy="4526280"/>
          </a:xfrm>
          <a:prstGeom prst="roundRect">
            <a:avLst>
              <a:gd name="adj" fmla="val 8000"/>
            </a:avLst>
          </a:prstGeom>
          <a:solidFill>
            <a:srgbClr val="1B355E"/>
          </a:solidFill>
          <a:ln w="12700">
            <a:solidFill>
              <a:srgbClr val="D5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35240" y="164592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BFD3E6"/>
                </a:solidFill>
                <a:latin typeface="NanumGothic"/>
                <a:ea typeface="NanumGothic"/>
              </a:rPr>
              <a:t>Li 2021 결과 (ESWT군)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35240" y="219456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9FB8D6"/>
                </a:solidFill>
                <a:latin typeface="NanumGothic"/>
                <a:ea typeface="NanumGothic"/>
              </a:rPr>
              <a:t>경련 빈도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35240" y="2450592"/>
            <a:ext cx="3657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900" b="1" i="0">
                <a:solidFill>
                  <a:srgbClr val="FFFFFF"/>
                </a:solidFill>
                <a:latin typeface="NanumGothic"/>
                <a:ea typeface="NanumGothic"/>
              </a:rPr>
              <a:t>5.7 → 1.3 회/시간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35240" y="310896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9FB8D6"/>
                </a:solidFill>
                <a:latin typeface="NanumGothic"/>
                <a:ea typeface="NanumGothic"/>
              </a:rPr>
              <a:t>경련 지속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35240" y="3364992"/>
            <a:ext cx="3657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900" b="1" i="0">
                <a:solidFill>
                  <a:srgbClr val="FFFFFF"/>
                </a:solidFill>
                <a:latin typeface="NanumGothic"/>
                <a:ea typeface="NanumGothic"/>
              </a:rPr>
              <a:t>57.6 → 10.6 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35240" y="402336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9FB8D6"/>
                </a:solidFill>
                <a:latin typeface="NanumGothic"/>
                <a:ea typeface="NanumGothic"/>
              </a:rPr>
              <a:t>통증(VAS)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35240" y="4279392"/>
            <a:ext cx="3657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900" b="1" i="0">
                <a:solidFill>
                  <a:srgbClr val="FFFFFF"/>
                </a:solidFill>
                <a:latin typeface="NanumGothic"/>
                <a:ea typeface="NanumGothic"/>
              </a:rPr>
              <a:t>7.6 → 1.7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35240" y="493776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9FB8D6"/>
                </a:solidFill>
                <a:latin typeface="NanumGothic"/>
                <a:ea typeface="NanumGothic"/>
              </a:rPr>
              <a:t>대조군 대비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35240" y="5193792"/>
            <a:ext cx="3657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900" b="1" i="0">
                <a:solidFill>
                  <a:srgbClr val="FFFFFF"/>
                </a:solidFill>
                <a:latin typeface="NanumGothic"/>
                <a:ea typeface="NanumGothic"/>
              </a:rPr>
              <a:t>모두 P&lt;0.001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6455664"/>
            <a:ext cx="98755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5A6B7B"/>
                </a:solidFill>
                <a:latin typeface="NanumGothic"/>
                <a:ea typeface="NanumGothic"/>
              </a:rPr>
              <a:t>근거: Li 2021 (Biomed Res Int; PMID 34734084)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64240" y="6455664"/>
            <a:ext cx="82296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5A6B7B"/>
                </a:solidFill>
                <a:latin typeface="NanumGothic"/>
                <a:ea typeface="NanumGothic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10896"/>
            <a:ext cx="109728" cy="457200"/>
          </a:xfrm>
          <a:prstGeom prst="rect">
            <a:avLst/>
          </a:prstGeom>
          <a:solidFill>
            <a:srgbClr val="2C8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37744"/>
            <a:ext cx="969264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2500" b="1" i="0">
                <a:solidFill>
                  <a:srgbClr val="1B355E"/>
                </a:solidFill>
                <a:latin typeface="NanumGothic"/>
                <a:ea typeface="NanumGothic"/>
              </a:rPr>
              <a:t>ESWT — 인접 근거(종아리 경직): 강한 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109728"/>
            <a:ext cx="7315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1F6E70"/>
                </a:solidFill>
                <a:latin typeface="NanumGothic"/>
                <a:ea typeface="NanumGothic"/>
              </a:rPr>
              <a:t>충격파 · ESWT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969264"/>
            <a:ext cx="10881360" cy="17780"/>
          </a:xfrm>
          <a:prstGeom prst="rect">
            <a:avLst/>
          </a:prstGeom>
          <a:solidFill>
            <a:srgbClr val="D5D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906963" y="365760"/>
            <a:ext cx="781812" cy="347472"/>
          </a:xfrm>
          <a:prstGeom prst="roundRect">
            <a:avLst>
              <a:gd name="adj" fmla="val 8000"/>
            </a:avLst>
          </a:prstGeom>
          <a:solidFill>
            <a:srgbClr val="2C8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06963" y="365760"/>
            <a:ext cx="78181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FFFFFF"/>
                </a:solidFill>
                <a:latin typeface="NanumGothic"/>
                <a:ea typeface="NanumGothic"/>
              </a:rPr>
              <a:t>인접 근거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371600"/>
            <a:ext cx="1078992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800"/>
              </a:spcAft>
            </a:pPr>
            <a:r>
              <a:rPr sz="944" b="1" i="0">
                <a:solidFill>
                  <a:srgbClr val="2C898A"/>
                </a:solidFill>
                <a:latin typeface="NanumGothic"/>
                <a:ea typeface="NanumGothic"/>
              </a:rPr>
              <a:t>●  </a:t>
            </a:r>
            <a:r>
              <a:rPr sz="1350" b="0" i="0">
                <a:solidFill>
                  <a:srgbClr val="1A202C"/>
                </a:solidFill>
                <a:latin typeface="NanumGothic"/>
                <a:ea typeface="NanumGothic"/>
              </a:rPr>
              <a:t>경직(spasticity)≠경련이나, 둘 다 불수의 근수축·근긴장 항진을 공유하고 표적 부위(비복근·가자미근)가 같아 기전상 가장 근접한 인접 근거.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731520" y="2697480"/>
          <a:ext cx="10835640" cy="30175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566160"/>
                <a:gridCol w="2286000"/>
                <a:gridCol w="4983480"/>
              </a:tblGrid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NanumGothic"/>
                          <a:ea typeface="NanumGothic"/>
                        </a:rPr>
                        <a:t>연구</a:t>
                      </a:r>
                    </a:p>
                  </a:txBody>
                  <a:tcPr marL="73152" marR="54864" marT="18288" marB="18288" anchor="ctr">
                    <a:solidFill>
                      <a:srgbClr val="1B355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NanumGothic"/>
                          <a:ea typeface="NanumGothic"/>
                        </a:rPr>
                        <a:t>설계</a:t>
                      </a:r>
                    </a:p>
                  </a:txBody>
                  <a:tcPr marL="73152" marR="54864" marT="18288" marB="18288" anchor="ctr">
                    <a:solidFill>
                      <a:srgbClr val="1B355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NanumGothic"/>
                          <a:ea typeface="NanumGothic"/>
                        </a:rPr>
                        <a:t>핵심 결과</a:t>
                      </a:r>
                    </a:p>
                  </a:txBody>
                  <a:tcPr marL="73152" marR="54864" marT="18288" marB="18288" anchor="ctr">
                    <a:solidFill>
                      <a:srgbClr val="1B355E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1A202C"/>
                          </a:solidFill>
                          <a:latin typeface="NanumGothic"/>
                          <a:ea typeface="NanumGothic"/>
                        </a:rPr>
                        <a:t>Otero-Luis 2024 (SR/MA, 16 RCT)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A202C"/>
                          </a:solidFill>
                          <a:latin typeface="NanumGothic"/>
                          <a:ea typeface="NanumGothic"/>
                        </a:rPr>
                        <a:t>메타분석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A202C"/>
                          </a:solidFill>
                          <a:latin typeface="NanumGothic"/>
                          <a:ea typeface="NanumGothic"/>
                        </a:rPr>
                        <a:t>하지 MAS 평균차 −0.40; 즉시 최대, 12주까지 유지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1A202C"/>
                          </a:solidFill>
                          <a:latin typeface="NanumGothic"/>
                          <a:ea typeface="NanumGothic"/>
                        </a:rPr>
                        <a:t>Mihai 2020 (SR/MA, 7 RCT)</a:t>
                      </a:r>
                    </a:p>
                  </a:txBody>
                  <a:tcPr marL="73152" marR="54864" marT="18288" marB="18288" anchor="ctr"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A202C"/>
                          </a:solidFill>
                          <a:latin typeface="NanumGothic"/>
                          <a:ea typeface="NanumGothic"/>
                        </a:rPr>
                        <a:t>메타분석</a:t>
                      </a:r>
                    </a:p>
                  </a:txBody>
                  <a:tcPr marL="73152" marR="54864" marT="18288" marB="18288" anchor="ctr"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A202C"/>
                          </a:solidFill>
                          <a:latin typeface="NanumGothic"/>
                          <a:ea typeface="NanumGothic"/>
                        </a:rPr>
                        <a:t>하지 후유증 경직 SMD 0.53, 12주 지속</a:t>
                      </a:r>
                    </a:p>
                  </a:txBody>
                  <a:tcPr marL="73152" marR="54864" marT="18288" marB="18288" anchor="ctr">
                    <a:solidFill>
                      <a:srgbClr val="EEF2F6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1A202C"/>
                          </a:solidFill>
                          <a:latin typeface="NanumGothic"/>
                          <a:ea typeface="NanumGothic"/>
                        </a:rPr>
                        <a:t>Yang 2024 (뇌졸중, n=39)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A202C"/>
                          </a:solidFill>
                          <a:latin typeface="NanumGothic"/>
                          <a:ea typeface="NanumGothic"/>
                        </a:rPr>
                        <a:t>용량-반응 RCT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A202C"/>
                          </a:solidFill>
                          <a:latin typeface="NanumGothic"/>
                          <a:ea typeface="NanumGothic"/>
                        </a:rPr>
                        <a:t>고용량(4,000 pulses)군 24주 MAS 개선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1A202C"/>
                          </a:solidFill>
                          <a:latin typeface="NanumGothic"/>
                          <a:ea typeface="NanumGothic"/>
                        </a:rPr>
                        <a:t>Park 2015 (뇌성마비 소아)</a:t>
                      </a:r>
                    </a:p>
                  </a:txBody>
                  <a:tcPr marL="73152" marR="54864" marT="18288" marB="18288" anchor="ctr"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A202C"/>
                          </a:solidFill>
                          <a:latin typeface="NanumGothic"/>
                          <a:ea typeface="NanumGothic"/>
                        </a:rPr>
                        <a:t>pilot RCT</a:t>
                      </a:r>
                    </a:p>
                  </a:txBody>
                  <a:tcPr marL="73152" marR="54864" marT="18288" marB="18288" anchor="ctr"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A202C"/>
                          </a:solidFill>
                          <a:latin typeface="NanumGothic"/>
                          <a:ea typeface="NanumGothic"/>
                        </a:rPr>
                        <a:t>3회군이 1회군보다 MAS·ROM 유지 우수(세션수 의존)</a:t>
                      </a:r>
                    </a:p>
                  </a:txBody>
                  <a:tcPr marL="73152" marR="54864" marT="18288" marB="18288" anchor="ctr">
                    <a:solidFill>
                      <a:srgbClr val="EEF2F6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1A202C"/>
                          </a:solidFill>
                          <a:latin typeface="NanumGothic"/>
                          <a:ea typeface="NanumGothic"/>
                        </a:rPr>
                        <a:t>Özbek 2025 (SWE 객관화)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A202C"/>
                          </a:solidFill>
                          <a:latin typeface="NanumGothic"/>
                          <a:ea typeface="NanumGothic"/>
                        </a:rPr>
                        <a:t>RCT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A202C"/>
                          </a:solidFill>
                          <a:latin typeface="NanumGothic"/>
                          <a:ea typeface="NanumGothic"/>
                        </a:rPr>
                        <a:t>근경직 stiffness·MAS 감소(단, 원논문 표적은 상지)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731520" y="594360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1F6E70"/>
                </a:solidFill>
                <a:latin typeface="NanumGothic"/>
                <a:ea typeface="NanumGothic"/>
              </a:rPr>
              <a:t>소결: 종아리 근긴장·SWE stiffness의 단기 감소는 RCT·메타분석(Level I~II)로 비교적 견고 → '근긴장 완화'라는 경련 치료 표적과 맞닿음.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6455664"/>
            <a:ext cx="98755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5A6B7B"/>
                </a:solidFill>
                <a:latin typeface="NanumGothic"/>
                <a:ea typeface="NanumGothic"/>
              </a:rPr>
              <a:t>근거: Otero-Luis 2024·Mihai 2020·Yang 2024·Park 2015·Özbek 2025 (J Clin Med 등)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64240" y="6455664"/>
            <a:ext cx="82296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5A6B7B"/>
                </a:solidFill>
                <a:latin typeface="NanumGothic"/>
                <a:ea typeface="NanumGothic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10896"/>
            <a:ext cx="109728" cy="457200"/>
          </a:xfrm>
          <a:prstGeom prst="rect">
            <a:avLst/>
          </a:prstGeom>
          <a:solidFill>
            <a:srgbClr val="2C8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37744"/>
            <a:ext cx="969264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2500" b="1" i="0">
                <a:solidFill>
                  <a:srgbClr val="1B355E"/>
                </a:solidFill>
                <a:latin typeface="NanumGothic"/>
                <a:ea typeface="NanumGothic"/>
              </a:rPr>
              <a:t>ESWT 작용 기전 — 왜 근긴장이 낮아지나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109728"/>
            <a:ext cx="7315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1F6E70"/>
                </a:solidFill>
                <a:latin typeface="NanumGothic"/>
                <a:ea typeface="NanumGothic"/>
              </a:rPr>
              <a:t>충격파 · ESWT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969264"/>
            <a:ext cx="10881360" cy="17780"/>
          </a:xfrm>
          <a:prstGeom prst="rect">
            <a:avLst/>
          </a:prstGeom>
          <a:solidFill>
            <a:srgbClr val="D5D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1222431" y="365760"/>
            <a:ext cx="466344" cy="347472"/>
          </a:xfrm>
          <a:prstGeom prst="roundRect">
            <a:avLst>
              <a:gd name="adj" fmla="val 8000"/>
            </a:avLst>
          </a:prstGeom>
          <a:solidFill>
            <a:srgbClr val="2C8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222431" y="365760"/>
            <a:ext cx="466344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FFFFFF"/>
                </a:solidFill>
                <a:latin typeface="NanumGothic"/>
                <a:ea typeface="NanumGothic"/>
              </a:rPr>
              <a:t>기전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417320"/>
            <a:ext cx="5257800" cy="1060704"/>
          </a:xfrm>
          <a:prstGeom prst="roundRect">
            <a:avLst>
              <a:gd name="adj" fmla="val 8000"/>
            </a:avLst>
          </a:prstGeom>
          <a:solidFill>
            <a:srgbClr val="F5F8FB"/>
          </a:solidFill>
          <a:ln w="12700">
            <a:solidFill>
              <a:srgbClr val="D5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1417320"/>
            <a:ext cx="100584" cy="1060704"/>
          </a:xfrm>
          <a:prstGeom prst="rect">
            <a:avLst/>
          </a:prstGeom>
          <a:solidFill>
            <a:srgbClr val="2C8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1545336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1B355E"/>
                </a:solidFill>
                <a:latin typeface="NanumGothic"/>
                <a:ea typeface="NanumGothic"/>
              </a:rPr>
              <a:t>① Nitric Oxide↑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1929384"/>
            <a:ext cx="48920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1A202C"/>
                </a:solidFill>
                <a:latin typeface="NanumGothic"/>
                <a:ea typeface="NanumGothic"/>
              </a:rPr>
              <a:t>eNOS 인산화 → NO 증가. 신경전달 조절·항염(NF-κB 억제)·신생혈관형성.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417320"/>
            <a:ext cx="5257800" cy="1060704"/>
          </a:xfrm>
          <a:prstGeom prst="roundRect">
            <a:avLst>
              <a:gd name="adj" fmla="val 8000"/>
            </a:avLst>
          </a:prstGeom>
          <a:solidFill>
            <a:srgbClr val="F5F8FB"/>
          </a:solidFill>
          <a:ln w="12700">
            <a:solidFill>
              <a:srgbClr val="D5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17920" y="1417320"/>
            <a:ext cx="100584" cy="1060704"/>
          </a:xfrm>
          <a:prstGeom prst="rect">
            <a:avLst/>
          </a:prstGeom>
          <a:solidFill>
            <a:srgbClr val="2C8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0" y="1545336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1B355E"/>
                </a:solidFill>
                <a:latin typeface="NanumGothic"/>
                <a:ea typeface="NanumGothic"/>
              </a:rPr>
              <a:t>② 신경근접합부(NMJ)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1929384"/>
            <a:ext cx="48920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1A202C"/>
                </a:solidFill>
                <a:latin typeface="NanumGothic"/>
                <a:ea typeface="NanumGothic"/>
              </a:rPr>
              <a:t>ACh 수용체 변성, CMAP 진폭 감소가 6–8주 지속 → 근긴장 완화.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2624328"/>
            <a:ext cx="5257800" cy="1060704"/>
          </a:xfrm>
          <a:prstGeom prst="roundRect">
            <a:avLst>
              <a:gd name="adj" fmla="val 8000"/>
            </a:avLst>
          </a:prstGeom>
          <a:solidFill>
            <a:srgbClr val="F5F8FB"/>
          </a:solidFill>
          <a:ln w="12700">
            <a:solidFill>
              <a:srgbClr val="D5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31520" y="2624328"/>
            <a:ext cx="100584" cy="1060704"/>
          </a:xfrm>
          <a:prstGeom prst="rect">
            <a:avLst/>
          </a:prstGeom>
          <a:solidFill>
            <a:srgbClr val="2C8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5840" y="2752344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1B355E"/>
                </a:solidFill>
                <a:latin typeface="NanumGothic"/>
                <a:ea typeface="NanumGothic"/>
              </a:rPr>
              <a:t>③ 운동신경원 흥분성↓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3136392"/>
            <a:ext cx="48920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1A202C"/>
                </a:solidFill>
                <a:latin typeface="NanumGothic"/>
                <a:ea typeface="NanumGothic"/>
              </a:rPr>
              <a:t>건 압력 자극을 통한 반사 흥분성 저하(α-motor neuron).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2624328"/>
            <a:ext cx="5257800" cy="1060704"/>
          </a:xfrm>
          <a:prstGeom prst="roundRect">
            <a:avLst>
              <a:gd name="adj" fmla="val 8000"/>
            </a:avLst>
          </a:prstGeom>
          <a:solidFill>
            <a:srgbClr val="F5F8FB"/>
          </a:solidFill>
          <a:ln w="12700">
            <a:solidFill>
              <a:srgbClr val="D5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17920" y="2624328"/>
            <a:ext cx="100584" cy="1060704"/>
          </a:xfrm>
          <a:prstGeom prst="rect">
            <a:avLst/>
          </a:prstGeom>
          <a:solidFill>
            <a:srgbClr val="2C8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92240" y="2752344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1B355E"/>
                </a:solidFill>
                <a:latin typeface="NanumGothic"/>
                <a:ea typeface="NanumGothic"/>
              </a:rPr>
              <a:t>④ 유변학적·기계적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0" y="3136392"/>
            <a:ext cx="48920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1A202C"/>
                </a:solidFill>
                <a:latin typeface="NanumGothic"/>
                <a:ea typeface="NanumGothic"/>
              </a:rPr>
              <a:t>mechanotransduction으로 조직 재형성, 근경직 stiffness 감소.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474720" y="3831336"/>
            <a:ext cx="5257800" cy="1060704"/>
          </a:xfrm>
          <a:prstGeom prst="roundRect">
            <a:avLst>
              <a:gd name="adj" fmla="val 8000"/>
            </a:avLst>
          </a:prstGeom>
          <a:solidFill>
            <a:srgbClr val="F5F8FB"/>
          </a:solidFill>
          <a:ln w="12700">
            <a:solidFill>
              <a:srgbClr val="D5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474720" y="3831336"/>
            <a:ext cx="100584" cy="1060704"/>
          </a:xfrm>
          <a:prstGeom prst="rect">
            <a:avLst/>
          </a:prstGeom>
          <a:solidFill>
            <a:srgbClr val="2C8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749040" y="3959352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1B355E"/>
                </a:solidFill>
                <a:latin typeface="NanumGothic"/>
                <a:ea typeface="NanumGothic"/>
              </a:rPr>
              <a:t>⑤ 미세순환 개선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749040" y="4343400"/>
            <a:ext cx="48920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1A202C"/>
                </a:solidFill>
                <a:latin typeface="NanumGothic"/>
                <a:ea typeface="NanumGothic"/>
              </a:rPr>
              <a:t>국소 혈류·조직 관류 증가 → 대사성 기능이상 회복.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612648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1F6E70"/>
                </a:solidFill>
                <a:latin typeface="NanumGothic"/>
                <a:ea typeface="NanumGothic"/>
              </a:rPr>
              <a:t>야간경련 병태(운동신경원 과흥분·근방추 감작·국소순환 저하)와 개념적으로 중첩 → 경련 역치를 높일 생물학적 타당성(가설).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" y="6455664"/>
            <a:ext cx="98755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5A6B7B"/>
                </a:solidFill>
                <a:latin typeface="NanumGothic"/>
                <a:ea typeface="NanumGothic"/>
              </a:rPr>
              <a:t>근거: Yang 2021 (J Clin Med, ESWT 기전 리뷰)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064240" y="6455664"/>
            <a:ext cx="82296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5A6B7B"/>
                </a:solidFill>
                <a:latin typeface="NanumGothic"/>
                <a:ea typeface="NanumGothic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10896"/>
            <a:ext cx="109728" cy="457200"/>
          </a:xfrm>
          <a:prstGeom prst="rect">
            <a:avLst/>
          </a:prstGeom>
          <a:solidFill>
            <a:srgbClr val="2C8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37744"/>
            <a:ext cx="969264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2500" b="1" i="0">
                <a:solidFill>
                  <a:srgbClr val="1B355E"/>
                </a:solidFill>
                <a:latin typeface="NanumGothic"/>
                <a:ea typeface="NanumGothic"/>
              </a:rPr>
              <a:t>ESWT 대표 프로토콜 (종아리 표적)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109728"/>
            <a:ext cx="7315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1F6E70"/>
                </a:solidFill>
                <a:latin typeface="NanumGothic"/>
                <a:ea typeface="NanumGothic"/>
              </a:rPr>
              <a:t>충격파 · ESWT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969264"/>
            <a:ext cx="10881360" cy="17780"/>
          </a:xfrm>
          <a:prstGeom prst="rect">
            <a:avLst/>
          </a:prstGeom>
          <a:solidFill>
            <a:srgbClr val="D5D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1222431" y="365760"/>
            <a:ext cx="466344" cy="347472"/>
          </a:xfrm>
          <a:prstGeom prst="roundRect">
            <a:avLst>
              <a:gd name="adj" fmla="val 8000"/>
            </a:avLst>
          </a:prstGeom>
          <a:solidFill>
            <a:srgbClr val="1F6E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222431" y="365760"/>
            <a:ext cx="466344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FFFFFF"/>
                </a:solidFill>
                <a:latin typeface="NanumGothic"/>
                <a:ea typeface="NanumGothic"/>
              </a:rPr>
              <a:t>기법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31520" y="1371600"/>
          <a:ext cx="6949440" cy="36576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103120"/>
                <a:gridCol w="4846320"/>
              </a:tblGrid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50" b="1" i="0">
                          <a:solidFill>
                            <a:srgbClr val="FFFFFF"/>
                          </a:solidFill>
                          <a:latin typeface="NanumGothic"/>
                          <a:ea typeface="NanumGothic"/>
                        </a:rPr>
                        <a:t>파라미터</a:t>
                      </a:r>
                    </a:p>
                  </a:txBody>
                  <a:tcPr marL="73152" marR="54864" marT="18288" marB="18288" anchor="ctr">
                    <a:solidFill>
                      <a:srgbClr val="1B355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 i="0">
                          <a:solidFill>
                            <a:srgbClr val="FFFFFF"/>
                          </a:solidFill>
                          <a:latin typeface="NanumGothic"/>
                          <a:ea typeface="NanumGothic"/>
                        </a:rPr>
                        <a:t>대표 범위</a:t>
                      </a:r>
                    </a:p>
                  </a:txBody>
                  <a:tcPr marL="73152" marR="54864" marT="18288" marB="18288" anchor="ctr">
                    <a:solidFill>
                      <a:srgbClr val="1B355E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A202C"/>
                          </a:solidFill>
                          <a:latin typeface="NanumGothic"/>
                          <a:ea typeface="NanumGothic"/>
                        </a:rPr>
                        <a:t>유형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A202C"/>
                          </a:solidFill>
                          <a:latin typeface="NanumGothic"/>
                          <a:ea typeface="NanumGothic"/>
                        </a:rPr>
                        <a:t>Radial(rESWT) 다용 / 심부·정밀엔 Focused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A202C"/>
                          </a:solidFill>
                          <a:latin typeface="NanumGothic"/>
                          <a:ea typeface="NanumGothic"/>
                        </a:rPr>
                        <a:t>압력·에너지</a:t>
                      </a:r>
                    </a:p>
                  </a:txBody>
                  <a:tcPr marL="73152" marR="54864" marT="18288" marB="18288" anchor="ctr"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A202C"/>
                          </a:solidFill>
                          <a:latin typeface="NanumGothic"/>
                          <a:ea typeface="NanumGothic"/>
                        </a:rPr>
                        <a:t>Radial 1.5–2.5 bar / Focused ~0.10 mJ/mm²</a:t>
                      </a:r>
                    </a:p>
                  </a:txBody>
                  <a:tcPr marL="73152" marR="54864" marT="18288" marB="18288" anchor="ctr">
                    <a:solidFill>
                      <a:srgbClr val="EEF2F6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A202C"/>
                          </a:solidFill>
                          <a:latin typeface="NanumGothic"/>
                          <a:ea typeface="NanumGothic"/>
                        </a:rPr>
                        <a:t>충격수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A202C"/>
                          </a:solidFill>
                          <a:latin typeface="NanumGothic"/>
                          <a:ea typeface="NanumGothic"/>
                        </a:rPr>
                        <a:t>2,000–3,000 pulses / 근육 (비복근+가자미근 각 2,000)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A202C"/>
                          </a:solidFill>
                          <a:latin typeface="NanumGothic"/>
                          <a:ea typeface="NanumGothic"/>
                        </a:rPr>
                        <a:t>주파수</a:t>
                      </a:r>
                    </a:p>
                  </a:txBody>
                  <a:tcPr marL="73152" marR="54864" marT="18288" marB="18288" anchor="ctr"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A202C"/>
                          </a:solidFill>
                          <a:latin typeface="NanumGothic"/>
                          <a:ea typeface="NanumGothic"/>
                        </a:rPr>
                        <a:t>4–15 Hz (경직 4–10, MPS 12–15)</a:t>
                      </a:r>
                    </a:p>
                  </a:txBody>
                  <a:tcPr marL="73152" marR="54864" marT="18288" marB="18288" anchor="ctr">
                    <a:solidFill>
                      <a:srgbClr val="EEF2F6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A202C"/>
                          </a:solidFill>
                          <a:latin typeface="NanumGothic"/>
                          <a:ea typeface="NanumGothic"/>
                        </a:rPr>
                        <a:t>세션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A202C"/>
                          </a:solidFill>
                          <a:latin typeface="NanumGothic"/>
                          <a:ea typeface="NanumGothic"/>
                        </a:rPr>
                        <a:t>주 1~2회, 총 3–6회(2–4주) — 효과 세션수 의존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A202C"/>
                          </a:solidFill>
                          <a:latin typeface="NanumGothic"/>
                          <a:ea typeface="NanumGothic"/>
                        </a:rPr>
                        <a:t>표적</a:t>
                      </a:r>
                    </a:p>
                  </a:txBody>
                  <a:tcPr marL="73152" marR="54864" marT="18288" marB="18288" anchor="ctr"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A202C"/>
                          </a:solidFill>
                          <a:latin typeface="NanumGothic"/>
                          <a:ea typeface="NanumGothic"/>
                        </a:rPr>
                        <a:t>비복근 내·외측두·가자미근 운동점 (초음파 유도 권장)</a:t>
                      </a:r>
                    </a:p>
                  </a:txBody>
                  <a:tcPr marL="73152" marR="54864" marT="18288" marB="18288" anchor="ctr">
                    <a:solidFill>
                      <a:srgbClr val="EEF2F6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A202C"/>
                          </a:solidFill>
                          <a:latin typeface="NanumGothic"/>
                          <a:ea typeface="NanumGothic"/>
                        </a:rPr>
                        <a:t>효과 지속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A202C"/>
                          </a:solidFill>
                          <a:latin typeface="NanumGothic"/>
                          <a:ea typeface="NanumGothic"/>
                        </a:rPr>
                        <a:t>즉시~12주 단기 (이후 소실 경향)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7955279" y="1417320"/>
            <a:ext cx="3566160" cy="4572000"/>
          </a:xfrm>
          <a:prstGeom prst="roundRect">
            <a:avLst>
              <a:gd name="adj" fmla="val 8000"/>
            </a:avLst>
          </a:prstGeom>
          <a:solidFill>
            <a:srgbClr val="F5F8FB"/>
          </a:solidFill>
          <a:ln w="12700">
            <a:solidFill>
              <a:srgbClr val="D5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83879" y="1645920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B03A2E"/>
                </a:solidFill>
                <a:latin typeface="NanumGothic"/>
                <a:ea typeface="NanumGothic"/>
              </a:rPr>
              <a:t>안전 · 금기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83879" y="2103120"/>
            <a:ext cx="315468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839" b="1" i="0">
                <a:solidFill>
                  <a:srgbClr val="2C898A"/>
                </a:solidFill>
                <a:latin typeface="NanumGothic"/>
                <a:ea typeface="NanumGothic"/>
              </a:rPr>
              <a:t>●  </a:t>
            </a:r>
            <a:r>
              <a:rPr sz="1200" b="0" i="0">
                <a:solidFill>
                  <a:srgbClr val="1A202C"/>
                </a:solidFill>
                <a:latin typeface="NanumGothic"/>
                <a:ea typeface="NanumGothic"/>
              </a:rPr>
              <a:t>전반적으로 안전 — 일시적 국소 통증·발적 정도.</a:t>
            </a:r>
          </a:p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839" b="1" i="0">
                <a:solidFill>
                  <a:srgbClr val="2C898A"/>
                </a:solidFill>
                <a:latin typeface="NanumGothic"/>
                <a:ea typeface="NanumGothic"/>
              </a:rPr>
              <a:t>●  </a:t>
            </a:r>
            <a:r>
              <a:rPr sz="1200" b="0" i="0">
                <a:solidFill>
                  <a:srgbClr val="B03A2E"/>
                </a:solidFill>
                <a:latin typeface="NanumGothic"/>
                <a:ea typeface="NanumGothic"/>
              </a:rPr>
              <a:t>상대 금기: 항응고제, 심부정맥혈전, 감염부위, 악성종양 부위, 임신.</a:t>
            </a:r>
          </a:p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839" b="1" i="0">
                <a:solidFill>
                  <a:srgbClr val="2C898A"/>
                </a:solidFill>
                <a:latin typeface="NanumGothic"/>
                <a:ea typeface="NanumGothic"/>
              </a:rPr>
              <a:t>●  </a:t>
            </a:r>
            <a:r>
              <a:rPr sz="1200" b="0" i="0">
                <a:solidFill>
                  <a:srgbClr val="2E7D32"/>
                </a:solidFill>
                <a:latin typeface="NanumGothic"/>
                <a:ea typeface="NanumGothic"/>
              </a:rPr>
              <a:t>비침습 → quinine 등 약물 부작용 회피가 필요한 고령에 매력적.</a:t>
            </a:r>
          </a:p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1200" b="1" i="0">
                <a:solidFill>
                  <a:srgbClr val="5A6B7B"/>
                </a:solidFill>
                <a:latin typeface="NanumGothic"/>
                <a:ea typeface="NanumGothic"/>
              </a:rPr>
              <a:t/>
            </a:r>
            <a:r>
              <a:rPr sz="1200" b="1" i="0">
                <a:solidFill>
                  <a:srgbClr val="1F6E70"/>
                </a:solidFill>
                <a:latin typeface="NanumGothic"/>
                <a:ea typeface="NanumGothic"/>
              </a:rPr>
              <a:t>위치: 표준치료 아님. 보조·실험적.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6455664"/>
            <a:ext cx="98755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5A6B7B"/>
                </a:solidFill>
                <a:latin typeface="NanumGothic"/>
                <a:ea typeface="NanumGothic"/>
              </a:rPr>
              <a:t>근거: 문헌고찰 Part 3 프로토콜 종합 (Yang 2024·Di Giovanni 2026 등)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64240" y="6455664"/>
            <a:ext cx="82296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5A6B7B"/>
                </a:solidFill>
                <a:latin typeface="NanumGothic"/>
                <a:ea typeface="NanumGothic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10896"/>
            <a:ext cx="109728" cy="457200"/>
          </a:xfrm>
          <a:prstGeom prst="rect">
            <a:avLst/>
          </a:prstGeom>
          <a:solidFill>
            <a:srgbClr val="2C8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37744"/>
            <a:ext cx="969264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2500" b="1" i="0">
                <a:solidFill>
                  <a:srgbClr val="1B355E"/>
                </a:solidFill>
                <a:latin typeface="NanumGothic"/>
                <a:ea typeface="NanumGothic"/>
              </a:rPr>
              <a:t>ESWT — 근거 수준과 한계(정직한 평가)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109728"/>
            <a:ext cx="7315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1F6E70"/>
                </a:solidFill>
                <a:latin typeface="NanumGothic"/>
                <a:ea typeface="NanumGothic"/>
              </a:rPr>
              <a:t>충격파 · ESWT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969264"/>
            <a:ext cx="10881360" cy="17780"/>
          </a:xfrm>
          <a:prstGeom prst="rect">
            <a:avLst/>
          </a:prstGeom>
          <a:solidFill>
            <a:srgbClr val="D5D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1222431" y="365760"/>
            <a:ext cx="466344" cy="347472"/>
          </a:xfrm>
          <a:prstGeom prst="roundRect">
            <a:avLst>
              <a:gd name="adj" fmla="val 8000"/>
            </a:avLst>
          </a:prstGeom>
          <a:solidFill>
            <a:srgbClr val="2C8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222431" y="365760"/>
            <a:ext cx="466344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FFFFFF"/>
                </a:solidFill>
                <a:latin typeface="NanumGothic"/>
                <a:ea typeface="NanumGothic"/>
              </a:rPr>
              <a:t>한계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417320"/>
            <a:ext cx="10789920" cy="4206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1400"/>
              </a:spcAft>
            </a:pPr>
            <a:r>
              <a:rPr sz="1014" b="1" i="0">
                <a:solidFill>
                  <a:srgbClr val="2C898A"/>
                </a:solidFill>
                <a:latin typeface="NanumGothic"/>
                <a:ea typeface="NanumGothic"/>
              </a:rPr>
              <a:t>●  </a:t>
            </a:r>
            <a:r>
              <a:rPr sz="1450" b="1" i="0">
                <a:solidFill>
                  <a:srgbClr val="B03A2E"/>
                </a:solidFill>
                <a:latin typeface="NanumGothic"/>
                <a:ea typeface="NanumGothic"/>
              </a:rPr>
              <a:t>직접 근거 공백: 특발성 야간경련에 대한 ESWT의 RCT·전향연구·증례는 아직 없음. Li 2021은 요추질환 이차성 경련의 후향 자료.</a:t>
            </a:r>
          </a:p>
          <a:p>
            <a:pPr algn="l">
              <a:lnSpc>
                <a:spcPct val="108000"/>
              </a:lnSpc>
              <a:spcAft>
                <a:spcPts val="1400"/>
              </a:spcAft>
            </a:pPr>
            <a:r>
              <a:rPr sz="1014" b="1" i="0">
                <a:solidFill>
                  <a:srgbClr val="2C898A"/>
                </a:solidFill>
                <a:latin typeface="NanumGothic"/>
                <a:ea typeface="NanumGothic"/>
              </a:rPr>
              <a:t>●  </a:t>
            </a:r>
            <a:r>
              <a:rPr sz="1450" b="0" i="0">
                <a:solidFill>
                  <a:srgbClr val="1A202C"/>
                </a:solidFill>
                <a:latin typeface="NanumGothic"/>
                <a:ea typeface="NanumGothic"/>
              </a:rPr>
              <a:t>경직 ≠ 경련: 인접 근거의 대상은 상위운동신경원 병변의 경직으로, 병태생리가 다르다(개념적 외삽).</a:t>
            </a:r>
          </a:p>
          <a:p>
            <a:pPr algn="l">
              <a:lnSpc>
                <a:spcPct val="108000"/>
              </a:lnSpc>
              <a:spcAft>
                <a:spcPts val="1400"/>
              </a:spcAft>
            </a:pPr>
            <a:r>
              <a:rPr sz="1014" b="1" i="0">
                <a:solidFill>
                  <a:srgbClr val="2C898A"/>
                </a:solidFill>
                <a:latin typeface="NanumGothic"/>
                <a:ea typeface="NanumGothic"/>
              </a:rPr>
              <a:t>●  </a:t>
            </a:r>
            <a:r>
              <a:rPr sz="1450" b="0" i="0">
                <a:solidFill>
                  <a:srgbClr val="1A202C"/>
                </a:solidFill>
                <a:latin typeface="NanumGothic"/>
                <a:ea typeface="NanumGothic"/>
              </a:rPr>
              <a:t>단기·소규모: 인접 근거 효과는 대부분 12주 이내, 표본 &lt;50명, 프로토콜 이질성 큼.</a:t>
            </a:r>
          </a:p>
          <a:p>
            <a:pPr algn="l">
              <a:lnSpc>
                <a:spcPct val="108000"/>
              </a:lnSpc>
              <a:spcAft>
                <a:spcPts val="1400"/>
              </a:spcAft>
            </a:pPr>
            <a:r>
              <a:rPr sz="1014" b="1" i="0">
                <a:solidFill>
                  <a:srgbClr val="2C898A"/>
                </a:solidFill>
                <a:latin typeface="NanumGothic"/>
                <a:ea typeface="NanumGothic"/>
              </a:rPr>
              <a:t>●  </a:t>
            </a:r>
            <a:r>
              <a:rPr sz="1450" b="0" i="0">
                <a:solidFill>
                  <a:srgbClr val="1A202C"/>
                </a:solidFill>
                <a:latin typeface="NanumGothic"/>
                <a:ea typeface="NanumGothic"/>
              </a:rPr>
              <a:t>MPS 근거는 방향 불일치: 최근 이중맹검 위약대조에서 위약 대비 우월성 없음(비특이 효과 가능성).</a:t>
            </a:r>
          </a:p>
          <a:p>
            <a:pPr algn="l">
              <a:lnSpc>
                <a:spcPct val="108000"/>
              </a:lnSpc>
              <a:spcAft>
                <a:spcPts val="1400"/>
              </a:spcAft>
            </a:pPr>
            <a:r>
              <a:rPr sz="1450" b="1" i="0">
                <a:solidFill>
                  <a:srgbClr val="5A6B7B"/>
                </a:solidFill>
                <a:latin typeface="NanumGothic"/>
                <a:ea typeface="NanumGothic"/>
              </a:rPr>
              <a:t/>
            </a:r>
            <a:r>
              <a:rPr sz="1450" b="1" i="0">
                <a:solidFill>
                  <a:srgbClr val="1F6E70"/>
                </a:solidFill>
                <a:latin typeface="NanumGothic"/>
                <a:ea typeface="NanumGothic"/>
              </a:rPr>
              <a:t>종합: 생물학적 타당성은 높지만 직접 근거는 매우 제한적 → 난치성·약물부작용 회피가 필요한 환자의 보조요법으로 시도, 표적 RCT 필요.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455664"/>
            <a:ext cx="98755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5A6B7B"/>
                </a:solidFill>
                <a:latin typeface="NanumGothic"/>
                <a:ea typeface="NanumGothic"/>
              </a:rPr>
              <a:t>근거: 문헌고찰 Part 3 (D) 한계 종합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64240" y="6455664"/>
            <a:ext cx="82296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5A6B7B"/>
                </a:solidFill>
                <a:latin typeface="NanumGothic"/>
                <a:ea typeface="NanumGothic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10896"/>
            <a:ext cx="109728" cy="457200"/>
          </a:xfrm>
          <a:prstGeom prst="rect">
            <a:avLst/>
          </a:prstGeom>
          <a:solidFill>
            <a:srgbClr val="2C8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37744"/>
            <a:ext cx="969264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2500" b="1" i="0">
                <a:solidFill>
                  <a:srgbClr val="1B355E"/>
                </a:solidFill>
                <a:latin typeface="NanumGothic"/>
                <a:ea typeface="NanumGothic"/>
              </a:rPr>
              <a:t>약물 치료 개관 — 근거는 전반적으로 약하다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109728"/>
            <a:ext cx="7315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1F6E70"/>
                </a:solidFill>
                <a:latin typeface="NanumGothic"/>
                <a:ea typeface="NanumGothic"/>
              </a:rPr>
              <a:t>약제 · 개관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969264"/>
            <a:ext cx="10881360" cy="17780"/>
          </a:xfrm>
          <a:prstGeom prst="rect">
            <a:avLst/>
          </a:prstGeom>
          <a:solidFill>
            <a:srgbClr val="D5D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1222431" y="365760"/>
            <a:ext cx="466344" cy="347472"/>
          </a:xfrm>
          <a:prstGeom prst="roundRect">
            <a:avLst>
              <a:gd name="adj" fmla="val 8000"/>
            </a:avLst>
          </a:prstGeom>
          <a:solidFill>
            <a:srgbClr val="2C8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222431" y="365760"/>
            <a:ext cx="466344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FFFFFF"/>
                </a:solidFill>
                <a:latin typeface="NanumGothic"/>
                <a:ea typeface="NanumGothic"/>
              </a:rPr>
              <a:t>약제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371600"/>
            <a:ext cx="630936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1100"/>
              </a:spcAft>
            </a:pPr>
            <a:r>
              <a:rPr sz="979" b="1" i="0">
                <a:solidFill>
                  <a:srgbClr val="2C898A"/>
                </a:solidFill>
                <a:latin typeface="NanumGothic"/>
                <a:ea typeface="NanumGothic"/>
              </a:rPr>
              <a:t>●  </a:t>
            </a:r>
            <a:r>
              <a:rPr sz="1400" b="1" i="0">
                <a:solidFill>
                  <a:srgbClr val="1A202C"/>
                </a:solidFill>
                <a:latin typeface="NanumGothic"/>
                <a:ea typeface="NanumGothic"/>
              </a:rPr>
              <a:t>AAN 근거기반 리뷰·Cochrane 종합: 일상적으로 권고할 만큼 근거가 강한 약제는 없다. 비약물 실패 시 위험/이득을 설명하고 개별화.</a:t>
            </a:r>
          </a:p>
          <a:p>
            <a:pPr algn="l">
              <a:lnSpc>
                <a:spcPct val="108000"/>
              </a:lnSpc>
              <a:spcAft>
                <a:spcPts val="1100"/>
              </a:spcAft>
            </a:pPr>
            <a:r>
              <a:rPr sz="979" b="1" i="0">
                <a:solidFill>
                  <a:srgbClr val="2C898A"/>
                </a:solidFill>
                <a:latin typeface="NanumGothic"/>
                <a:ea typeface="NanumGothic"/>
              </a:rPr>
              <a:t>●  </a:t>
            </a:r>
            <a:r>
              <a:rPr sz="1400" b="0" i="0">
                <a:solidFill>
                  <a:srgbClr val="1A202C"/>
                </a:solidFill>
                <a:latin typeface="NanumGothic"/>
                <a:ea typeface="NanumGothic"/>
              </a:rPr>
              <a:t>두 축을 구분: NLC 특이 약물 vs RLS 약물(pramipexole/pregabalin).</a:t>
            </a:r>
          </a:p>
          <a:p>
            <a:pPr algn="l">
              <a:lnSpc>
                <a:spcPct val="108000"/>
              </a:lnSpc>
              <a:spcAft>
                <a:spcPts val="1100"/>
              </a:spcAft>
            </a:pPr>
            <a:r>
              <a:rPr sz="979" b="1" i="0">
                <a:solidFill>
                  <a:srgbClr val="2C898A"/>
                </a:solidFill>
                <a:latin typeface="NanumGothic"/>
                <a:ea typeface="NanumGothic"/>
              </a:rPr>
              <a:t>●  </a:t>
            </a:r>
            <a:r>
              <a:rPr sz="1400" b="0" i="0">
                <a:solidFill>
                  <a:srgbClr val="1A202C"/>
                </a:solidFill>
                <a:latin typeface="NanumGothic"/>
                <a:ea typeface="NanumGothic"/>
              </a:rPr>
              <a:t>고령: 다약제·신기능·낙상·인지 위험을 고려해 감량·서서히 적정.</a:t>
            </a:r>
          </a:p>
          <a:p>
            <a:pPr algn="l">
              <a:lnSpc>
                <a:spcPct val="108000"/>
              </a:lnSpc>
              <a:spcAft>
                <a:spcPts val="1100"/>
              </a:spcAft>
            </a:pPr>
            <a:r>
              <a:rPr sz="979" b="1" i="0">
                <a:solidFill>
                  <a:srgbClr val="2C898A"/>
                </a:solidFill>
                <a:latin typeface="NanumGothic"/>
                <a:ea typeface="NanumGothic"/>
              </a:rPr>
              <a:t>●  </a:t>
            </a:r>
            <a:r>
              <a:rPr sz="1400" b="0" i="0">
                <a:solidFill>
                  <a:srgbClr val="1A202C"/>
                </a:solidFill>
                <a:latin typeface="NanumGothic"/>
                <a:ea typeface="NanumGothic"/>
              </a:rPr>
              <a:t>NLC 약물 시험은 대개 취침 전 1회 투여 프로토콜.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60920" y="1463040"/>
            <a:ext cx="4160520" cy="4480560"/>
          </a:xfrm>
          <a:prstGeom prst="roundRect">
            <a:avLst>
              <a:gd name="adj" fmla="val 8000"/>
            </a:avLst>
          </a:prstGeom>
          <a:solidFill>
            <a:srgbClr val="F5F8FB"/>
          </a:solidFill>
          <a:ln w="12700">
            <a:solidFill>
              <a:srgbClr val="D5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35240" y="169164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1F6E70"/>
                </a:solidFill>
                <a:latin typeface="NanumGothic"/>
                <a:ea typeface="NanumGothic"/>
              </a:rPr>
              <a:t>근거·권고 요지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635240" y="2194560"/>
            <a:ext cx="146304" cy="365760"/>
          </a:xfrm>
          <a:prstGeom prst="rect">
            <a:avLst/>
          </a:prstGeom>
          <a:solidFill>
            <a:srgbClr val="B0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82127" y="2148840"/>
            <a:ext cx="36576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1B355E"/>
                </a:solidFill>
                <a:latin typeface="NanumGothic"/>
                <a:ea typeface="NanumGothic"/>
              </a:rPr>
              <a:t>Quinine  </a:t>
            </a:r>
            <a:r>
              <a:rPr sz="1150" b="0" i="0">
                <a:solidFill>
                  <a:srgbClr val="5A6B7B"/>
                </a:solidFill>
                <a:latin typeface="NanumGothic"/>
                <a:ea typeface="NanumGothic"/>
              </a:rPr>
              <a:t>효과 O · 독성으로 일상 회피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635240" y="2816352"/>
            <a:ext cx="146304" cy="36576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82127" y="2770632"/>
            <a:ext cx="36576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1B355E"/>
                </a:solidFill>
                <a:latin typeface="NanumGothic"/>
                <a:ea typeface="NanumGothic"/>
              </a:rPr>
              <a:t>Vitamin B 복합  </a:t>
            </a:r>
            <a:r>
              <a:rPr sz="1150" b="0" i="0">
                <a:solidFill>
                  <a:srgbClr val="5A6B7B"/>
                </a:solidFill>
                <a:latin typeface="NanumGothic"/>
                <a:ea typeface="NanumGothic"/>
              </a:rPr>
              <a:t>Level C · 안전, 시도가치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635240" y="3438144"/>
            <a:ext cx="146304" cy="365760"/>
          </a:xfrm>
          <a:prstGeom prst="rect">
            <a:avLst/>
          </a:prstGeom>
          <a:solidFill>
            <a:srgbClr val="B97A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82127" y="3392424"/>
            <a:ext cx="36576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1B355E"/>
                </a:solidFill>
                <a:latin typeface="NanumGothic"/>
                <a:ea typeface="NanumGothic"/>
              </a:rPr>
              <a:t>Diltiazem 30mg  </a:t>
            </a:r>
            <a:r>
              <a:rPr sz="1150" b="0" i="0">
                <a:solidFill>
                  <a:srgbClr val="5A6B7B"/>
                </a:solidFill>
                <a:latin typeface="NanumGothic"/>
                <a:ea typeface="NanumGothic"/>
              </a:rPr>
              <a:t>Level C · 소규모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35240" y="4059936"/>
            <a:ext cx="146304" cy="365760"/>
          </a:xfrm>
          <a:prstGeom prst="rect">
            <a:avLst/>
          </a:prstGeom>
          <a:solidFill>
            <a:srgbClr val="B97A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82127" y="4014216"/>
            <a:ext cx="36576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1B355E"/>
                </a:solidFill>
                <a:latin typeface="NanumGothic"/>
                <a:ea typeface="NanumGothic"/>
              </a:rPr>
              <a:t>Naftidrofuryl  </a:t>
            </a:r>
            <a:r>
              <a:rPr sz="1150" b="0" i="0">
                <a:solidFill>
                  <a:srgbClr val="5A6B7B"/>
                </a:solidFill>
                <a:latin typeface="NanumGothic"/>
                <a:ea typeface="NanumGothic"/>
              </a:rPr>
              <a:t>Level C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635240" y="4681728"/>
            <a:ext cx="146304" cy="365760"/>
          </a:xfrm>
          <a:prstGeom prst="rect">
            <a:avLst/>
          </a:prstGeom>
          <a:solidFill>
            <a:srgbClr val="B97A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882127" y="4636008"/>
            <a:ext cx="36576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1B355E"/>
                </a:solidFill>
                <a:latin typeface="NanumGothic"/>
                <a:ea typeface="NanumGothic"/>
              </a:rPr>
              <a:t>Gabapentin/Baclofen  </a:t>
            </a:r>
            <a:r>
              <a:rPr sz="1150" b="0" i="0">
                <a:solidFill>
                  <a:srgbClr val="5A6B7B"/>
                </a:solidFill>
                <a:latin typeface="NanumGothic"/>
                <a:ea typeface="NanumGothic"/>
              </a:rPr>
              <a:t>LSS 동반 시 제한적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635240" y="5303520"/>
            <a:ext cx="146304" cy="365760"/>
          </a:xfrm>
          <a:prstGeom prst="rect">
            <a:avLst/>
          </a:prstGeom>
          <a:solidFill>
            <a:srgbClr val="B0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882127" y="5257800"/>
            <a:ext cx="36576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1B355E"/>
                </a:solidFill>
                <a:latin typeface="NanumGothic"/>
                <a:ea typeface="NanumGothic"/>
              </a:rPr>
              <a:t>Magnesium(특발성)  </a:t>
            </a:r>
            <a:r>
              <a:rPr sz="1150" b="0" i="0">
                <a:solidFill>
                  <a:srgbClr val="5A6B7B"/>
                </a:solidFill>
                <a:latin typeface="NanumGothic"/>
                <a:ea typeface="NanumGothic"/>
              </a:rPr>
              <a:t>무효(권고 안 함)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6455664"/>
            <a:ext cx="98755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5A6B7B"/>
                </a:solidFill>
                <a:latin typeface="NanumGothic"/>
                <a:ea typeface="NanumGothic"/>
              </a:rPr>
              <a:t>근거: Katzberg 2010(AAN, Neurology); Allen &amp; Kirby 2012(AFP)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64240" y="6455664"/>
            <a:ext cx="82296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5A6B7B"/>
                </a:solidFill>
                <a:latin typeface="NanumGothic"/>
                <a:ea typeface="NanumGothic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10896"/>
            <a:ext cx="109728" cy="457200"/>
          </a:xfrm>
          <a:prstGeom prst="rect">
            <a:avLst/>
          </a:prstGeom>
          <a:solidFill>
            <a:srgbClr val="2C8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37744"/>
            <a:ext cx="969264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2500" b="1" i="0">
                <a:solidFill>
                  <a:srgbClr val="1B355E"/>
                </a:solidFill>
                <a:latin typeface="NanumGothic"/>
                <a:ea typeface="NanumGothic"/>
              </a:rPr>
              <a:t>약물 ① Quinine — 효과 있으나 안전성 경고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109728"/>
            <a:ext cx="7315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1F6E70"/>
                </a:solidFill>
                <a:latin typeface="NanumGothic"/>
                <a:ea typeface="NanumGothic"/>
              </a:rPr>
              <a:t>약제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969264"/>
            <a:ext cx="10881360" cy="17780"/>
          </a:xfrm>
          <a:prstGeom prst="rect">
            <a:avLst/>
          </a:prstGeom>
          <a:solidFill>
            <a:srgbClr val="D5D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1222431" y="365760"/>
            <a:ext cx="466344" cy="347472"/>
          </a:xfrm>
          <a:prstGeom prst="roundRect">
            <a:avLst>
              <a:gd name="adj" fmla="val 8000"/>
            </a:avLst>
          </a:prstGeom>
          <a:solidFill>
            <a:srgbClr val="B0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222431" y="365760"/>
            <a:ext cx="466344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FFFFFF"/>
                </a:solidFill>
                <a:latin typeface="NanumGothic"/>
                <a:ea typeface="NanumGothic"/>
              </a:rPr>
              <a:t>주의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371600"/>
            <a:ext cx="640080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1200"/>
              </a:spcAft>
            </a:pPr>
            <a:r>
              <a:rPr sz="979" b="1" i="0">
                <a:solidFill>
                  <a:srgbClr val="2C898A"/>
                </a:solidFill>
                <a:latin typeface="NanumGothic"/>
                <a:ea typeface="NanumGothic"/>
              </a:rPr>
              <a:t>●  </a:t>
            </a:r>
            <a:r>
              <a:rPr sz="1400" b="1" i="0">
                <a:solidFill>
                  <a:srgbClr val="1A202C"/>
                </a:solidFill>
                <a:latin typeface="NanumGothic"/>
                <a:ea typeface="NanumGothic"/>
              </a:rPr>
              <a:t>El-Tawil 2015 Cochrane(23개 시험): quinine(대개 취침 전 300mg)이 위약 대비 경련 빈도·강도·경련일수를 유의 감소(중등도 근거).</a:t>
            </a:r>
          </a:p>
          <a:p>
            <a:pPr algn="l">
              <a:lnSpc>
                <a:spcPct val="108000"/>
              </a:lnSpc>
              <a:spcAft>
                <a:spcPts val="1200"/>
              </a:spcAft>
            </a:pPr>
            <a:r>
              <a:rPr sz="979" b="1" i="0">
                <a:solidFill>
                  <a:srgbClr val="2C898A"/>
                </a:solidFill>
                <a:latin typeface="NanumGothic"/>
                <a:ea typeface="NanumGothic"/>
              </a:rPr>
              <a:t>●  </a:t>
            </a:r>
            <a:r>
              <a:rPr sz="1400" b="0" i="0">
                <a:solidFill>
                  <a:srgbClr val="1A202C"/>
                </a:solidFill>
                <a:latin typeface="NanumGothic"/>
                <a:ea typeface="NanumGothic"/>
              </a:rPr>
              <a:t>AAN(Katzberg 2010): 'likely effective(Level A)'이나 독성 때문에 일상 사용은 피하고, 매우 불능화된 불응성에서만 개별 시도.</a:t>
            </a:r>
          </a:p>
          <a:p>
            <a:pPr algn="l">
              <a:lnSpc>
                <a:spcPct val="108000"/>
              </a:lnSpc>
              <a:spcAft>
                <a:spcPts val="1200"/>
              </a:spcAft>
            </a:pPr>
            <a:r>
              <a:rPr sz="979" b="1" i="0">
                <a:solidFill>
                  <a:srgbClr val="2C898A"/>
                </a:solidFill>
                <a:latin typeface="NanumGothic"/>
                <a:ea typeface="NanumGothic"/>
              </a:rPr>
              <a:t>●  </a:t>
            </a:r>
            <a:r>
              <a:rPr sz="1400" b="1" i="0">
                <a:solidFill>
                  <a:srgbClr val="B03A2E"/>
                </a:solidFill>
                <a:latin typeface="NanumGothic"/>
                <a:ea typeface="NanumGothic"/>
              </a:rPr>
              <a:t>FDA: 야간경련에 미승인. 혈소판감소증·혈전성혈소판감소성자반증(TTP) 등 치명적 혈액학적 반응 위험으로 경고·REMS 시행.</a:t>
            </a:r>
          </a:p>
          <a:p>
            <a:pPr algn="l">
              <a:lnSpc>
                <a:spcPct val="108000"/>
              </a:lnSpc>
              <a:spcAft>
                <a:spcPts val="1200"/>
              </a:spcAft>
            </a:pPr>
            <a:r>
              <a:rPr sz="1400" b="1" i="0">
                <a:solidFill>
                  <a:srgbClr val="5A6B7B"/>
                </a:solidFill>
                <a:latin typeface="NanumGothic"/>
                <a:ea typeface="NanumGothic"/>
              </a:rPr>
              <a:t>      –  </a:t>
            </a:r>
            <a:r>
              <a:rPr sz="1400" b="0" i="0">
                <a:solidFill>
                  <a:srgbClr val="1A202C"/>
                </a:solidFill>
                <a:latin typeface="NanumGothic"/>
                <a:ea typeface="NanumGothic"/>
              </a:rPr>
              <a:t>FDA 유해사례(2005–2008) 중 quinine 중대사례의 ~66%가 야간경련 사용자.</a:t>
            </a:r>
          </a:p>
          <a:p>
            <a:pPr algn="l">
              <a:lnSpc>
                <a:spcPct val="108000"/>
              </a:lnSpc>
              <a:spcAft>
                <a:spcPts val="1200"/>
              </a:spcAft>
            </a:pPr>
            <a:r>
              <a:rPr sz="1400" b="1" i="0">
                <a:solidFill>
                  <a:srgbClr val="5A6B7B"/>
                </a:solidFill>
                <a:latin typeface="NanumGothic"/>
                <a:ea typeface="NanumGothic"/>
              </a:rPr>
              <a:t/>
            </a:r>
            <a:r>
              <a:rPr sz="1400" b="1" i="0">
                <a:solidFill>
                  <a:srgbClr val="1F6E70"/>
                </a:solidFill>
                <a:latin typeface="NanumGothic"/>
                <a:ea typeface="NanumGothic"/>
              </a:rPr>
              <a:t>결론: 최후 수단. 사용 시 부작용을 면밀히 감시할 수 있는 선별 환자에 한함.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06640" y="1463040"/>
            <a:ext cx="4114800" cy="4480560"/>
          </a:xfrm>
          <a:prstGeom prst="roundRect">
            <a:avLst>
              <a:gd name="adj" fmla="val 8000"/>
            </a:avLst>
          </a:prstGeom>
          <a:solidFill>
            <a:srgbClr val="B03A2E"/>
          </a:solidFill>
          <a:ln w="12700">
            <a:solidFill>
              <a:srgbClr val="D5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80960" y="1828800"/>
            <a:ext cx="3566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NanumGothic"/>
                <a:ea typeface="NanumGothic"/>
              </a:rPr>
              <a:t>⚠ 안전성 요지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80960" y="2468880"/>
            <a:ext cx="3566160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1300"/>
              </a:spcAft>
            </a:pPr>
            <a:r>
              <a:rPr sz="944" b="1" i="0">
                <a:solidFill>
                  <a:srgbClr val="2C898A"/>
                </a:solidFill>
                <a:latin typeface="NanumGothic"/>
                <a:ea typeface="NanumGothic"/>
              </a:rPr>
              <a:t>●  </a:t>
            </a:r>
            <a:r>
              <a:rPr sz="1350" b="0" i="0">
                <a:solidFill>
                  <a:srgbClr val="FFFFFF"/>
                </a:solidFill>
                <a:latin typeface="NanumGothic"/>
                <a:ea typeface="NanumGothic"/>
              </a:rPr>
              <a:t>혈소판감소증 · TTP/HUS</a:t>
            </a:r>
          </a:p>
          <a:p>
            <a:pPr algn="l">
              <a:lnSpc>
                <a:spcPct val="108000"/>
              </a:lnSpc>
              <a:spcAft>
                <a:spcPts val="1300"/>
              </a:spcAft>
            </a:pPr>
            <a:r>
              <a:rPr sz="944" b="1" i="0">
                <a:solidFill>
                  <a:srgbClr val="2C898A"/>
                </a:solidFill>
                <a:latin typeface="NanumGothic"/>
                <a:ea typeface="NanumGothic"/>
              </a:rPr>
              <a:t>●  </a:t>
            </a:r>
            <a:r>
              <a:rPr sz="1350" b="0" i="0">
                <a:solidFill>
                  <a:srgbClr val="FFFFFF"/>
                </a:solidFill>
                <a:latin typeface="NanumGothic"/>
                <a:ea typeface="NanumGothic"/>
              </a:rPr>
              <a:t>QT 연장 · 중증 과민반응</a:t>
            </a:r>
          </a:p>
          <a:p>
            <a:pPr algn="l">
              <a:lnSpc>
                <a:spcPct val="108000"/>
              </a:lnSpc>
              <a:spcAft>
                <a:spcPts val="1300"/>
              </a:spcAft>
            </a:pPr>
            <a:r>
              <a:rPr sz="944" b="1" i="0">
                <a:solidFill>
                  <a:srgbClr val="2C898A"/>
                </a:solidFill>
                <a:latin typeface="NanumGothic"/>
                <a:ea typeface="NanumGothic"/>
              </a:rPr>
              <a:t>●  </a:t>
            </a:r>
            <a:r>
              <a:rPr sz="1350" b="0" i="0">
                <a:solidFill>
                  <a:srgbClr val="FFFFFF"/>
                </a:solidFill>
                <a:latin typeface="NanumGothic"/>
                <a:ea typeface="NanumGothic"/>
              </a:rPr>
              <a:t>이명(tinnitus)</a:t>
            </a:r>
          </a:p>
          <a:p>
            <a:pPr algn="l">
              <a:lnSpc>
                <a:spcPct val="108000"/>
              </a:lnSpc>
              <a:spcAft>
                <a:spcPts val="1300"/>
              </a:spcAft>
            </a:pPr>
            <a:r>
              <a:rPr sz="944" b="1" i="0">
                <a:solidFill>
                  <a:srgbClr val="2C898A"/>
                </a:solidFill>
                <a:latin typeface="NanumGothic"/>
                <a:ea typeface="NanumGothic"/>
              </a:rPr>
              <a:t>●  </a:t>
            </a:r>
            <a:r>
              <a:rPr sz="1350" b="0" i="0">
                <a:solidFill>
                  <a:srgbClr val="FFFFFF"/>
                </a:solidFill>
                <a:latin typeface="NanumGothic"/>
                <a:ea typeface="NanumGothic"/>
              </a:rPr>
              <a:t>FDA 반복 안전성 경고, 야간경련에 판매 제한.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6455664"/>
            <a:ext cx="98755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5A6B7B"/>
                </a:solidFill>
                <a:latin typeface="NanumGothic"/>
                <a:ea typeface="NanumGothic"/>
              </a:rPr>
              <a:t>근거: El-Tawil 2015(Cochrane CD005044); Katzberg 2010(AAN); FDA Qualaquin 경고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64240" y="6455664"/>
            <a:ext cx="82296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5A6B7B"/>
                </a:solidFill>
                <a:latin typeface="NanumGothic"/>
                <a:ea typeface="NanumGothic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10896"/>
            <a:ext cx="109728" cy="457200"/>
          </a:xfrm>
          <a:prstGeom prst="rect">
            <a:avLst/>
          </a:prstGeom>
          <a:solidFill>
            <a:srgbClr val="2C8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37744"/>
            <a:ext cx="969264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2500" b="1" i="0">
                <a:solidFill>
                  <a:srgbClr val="1B355E"/>
                </a:solidFill>
                <a:latin typeface="NanumGothic"/>
                <a:ea typeface="NanumGothic"/>
              </a:rPr>
              <a:t>약물 ② 비교적 안전한 선택지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109728"/>
            <a:ext cx="7315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1F6E70"/>
                </a:solidFill>
                <a:latin typeface="NanumGothic"/>
                <a:ea typeface="NanumGothic"/>
              </a:rPr>
              <a:t>약제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969264"/>
            <a:ext cx="10881360" cy="17780"/>
          </a:xfrm>
          <a:prstGeom prst="rect">
            <a:avLst/>
          </a:prstGeom>
          <a:solidFill>
            <a:srgbClr val="D5D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696651" y="365760"/>
            <a:ext cx="992124" cy="347472"/>
          </a:xfrm>
          <a:prstGeom prst="roundRect">
            <a:avLst>
              <a:gd name="adj" fmla="val 8000"/>
            </a:avLst>
          </a:prstGeom>
          <a:solidFill>
            <a:srgbClr val="2C8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696651" y="365760"/>
            <a:ext cx="992124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FFFFFF"/>
                </a:solidFill>
                <a:latin typeface="NanumGothic"/>
                <a:ea typeface="NanumGothic"/>
              </a:rPr>
              <a:t>Level 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417320"/>
            <a:ext cx="3429000" cy="457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31520" y="1417320"/>
            <a:ext cx="3429000" cy="566928"/>
          </a:xfrm>
          <a:prstGeom prst="roundRect">
            <a:avLst>
              <a:gd name="adj" fmla="val 8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1417320"/>
            <a:ext cx="34290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FFFFFF"/>
                </a:solidFill>
                <a:latin typeface="NanumGothic"/>
                <a:ea typeface="NanumGothic"/>
              </a:rPr>
              <a:t>Vitamin B 복합체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7552" y="2194560"/>
            <a:ext cx="2971800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900"/>
              </a:spcAft>
            </a:pPr>
            <a:r>
              <a:rPr sz="1200" b="0" i="0">
                <a:solidFill>
                  <a:srgbClr val="1A202C"/>
                </a:solidFill>
                <a:latin typeface="NanumGothic"/>
                <a:ea typeface="NanumGothic"/>
              </a:rPr>
              <a:t>•  Chan 1998 이중맹검 RCT(고혈압 고령 28명, 12주)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900"/>
              </a:spcAft>
            </a:pPr>
            <a:r>
              <a:rPr sz="1200" b="0" i="0">
                <a:solidFill>
                  <a:srgbClr val="1A202C"/>
                </a:solidFill>
                <a:latin typeface="NanumGothic"/>
                <a:ea typeface="NanumGothic"/>
              </a:rPr>
              <a:t>•  fursulthiamine 50mg + hydroxocobalamin 250µg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900"/>
              </a:spcAft>
            </a:pPr>
            <a:r>
              <a:rPr sz="1200" b="0" i="0">
                <a:solidFill>
                  <a:srgbClr val="1A202C"/>
                </a:solidFill>
                <a:latin typeface="NanumGothic"/>
                <a:ea typeface="NanumGothic"/>
              </a:rPr>
              <a:t>  + pyridoxal phosphate 30mg + riboflavin 5mg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900"/>
              </a:spcAft>
            </a:pPr>
            <a:r>
              <a:rPr sz="1200" b="0" i="0">
                <a:solidFill>
                  <a:srgbClr val="1A202C"/>
                </a:solidFill>
                <a:latin typeface="NanumGothic"/>
                <a:ea typeface="NanumGothic"/>
              </a:rPr>
              <a:t>•  경련 빈도·강도·지속 유의 감소(치료군 86% 관해)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900"/>
              </a:spcAft>
            </a:pPr>
            <a:r>
              <a:rPr sz="1200" b="0" i="0">
                <a:solidFill>
                  <a:srgbClr val="1A202C"/>
                </a:solidFill>
                <a:latin typeface="NanumGothic"/>
                <a:ea typeface="NanumGothic"/>
              </a:rPr>
              <a:t>•  AAN 'possibly effective(Level C)' · 안전성 양호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34840" y="1417320"/>
            <a:ext cx="3429000" cy="457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434840" y="1417320"/>
            <a:ext cx="3429000" cy="566928"/>
          </a:xfrm>
          <a:prstGeom prst="roundRect">
            <a:avLst>
              <a:gd name="adj" fmla="val 8000"/>
            </a:avLst>
          </a:prstGeom>
          <a:solidFill>
            <a:srgbClr val="B97A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34840" y="1417320"/>
            <a:ext cx="34290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FFFFFF"/>
                </a:solidFill>
                <a:latin typeface="NanumGothic"/>
                <a:ea typeface="NanumGothic"/>
              </a:rPr>
              <a:t>Diltiazem 30 mg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90872" y="2194560"/>
            <a:ext cx="2971800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900"/>
              </a:spcAft>
            </a:pPr>
            <a:r>
              <a:rPr sz="1200" b="0" i="0">
                <a:solidFill>
                  <a:srgbClr val="1A202C"/>
                </a:solidFill>
                <a:latin typeface="NanumGothic"/>
                <a:ea typeface="NanumGothic"/>
              </a:rPr>
              <a:t>•  Voon 2001 이중맹검 교차(n=13), 취침 시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900"/>
              </a:spcAft>
            </a:pPr>
            <a:r>
              <a:rPr sz="1200" b="0" i="0">
                <a:solidFill>
                  <a:srgbClr val="1A202C"/>
                </a:solidFill>
                <a:latin typeface="NanumGothic"/>
                <a:ea typeface="NanumGothic"/>
              </a:rPr>
              <a:t>•  경련 횟수 5.8 → 0.16/2주 (P=0.04)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900"/>
              </a:spcAft>
            </a:pPr>
            <a:r>
              <a:rPr sz="1200" b="0" i="0">
                <a:solidFill>
                  <a:srgbClr val="1A202C"/>
                </a:solidFill>
                <a:latin typeface="NanumGothic"/>
                <a:ea typeface="NanumGothic"/>
              </a:rPr>
              <a:t>•  강도는 불변 · 소규모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900"/>
              </a:spcAft>
            </a:pPr>
            <a:r>
              <a:rPr sz="1200" b="0" i="0">
                <a:solidFill>
                  <a:srgbClr val="1A202C"/>
                </a:solidFill>
                <a:latin typeface="NanumGothic"/>
                <a:ea typeface="NanumGothic"/>
              </a:rPr>
              <a:t>•  AAN Level C · 저혈압 등 부작용 주의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38160" y="1417320"/>
            <a:ext cx="3429000" cy="457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138160" y="1417320"/>
            <a:ext cx="3429000" cy="566928"/>
          </a:xfrm>
          <a:prstGeom prst="roundRect">
            <a:avLst>
              <a:gd name="adj" fmla="val 8000"/>
            </a:avLst>
          </a:prstGeom>
          <a:solidFill>
            <a:srgbClr val="B97A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38160" y="1417320"/>
            <a:ext cx="34290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FFFFFF"/>
                </a:solidFill>
                <a:latin typeface="NanumGothic"/>
                <a:ea typeface="NanumGothic"/>
              </a:rPr>
              <a:t>Naftidrofuryl 300mg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94192" y="2194560"/>
            <a:ext cx="2971800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900"/>
              </a:spcAft>
            </a:pPr>
            <a:r>
              <a:rPr sz="1200" b="0" i="0">
                <a:solidFill>
                  <a:srgbClr val="1A202C"/>
                </a:solidFill>
                <a:latin typeface="NanumGothic"/>
                <a:ea typeface="NanumGothic"/>
              </a:rPr>
              <a:t>•  혈관확장제 · Young 1993 소규모(n=14)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900"/>
              </a:spcAft>
            </a:pPr>
            <a:r>
              <a:rPr sz="1200" b="0" i="0">
                <a:solidFill>
                  <a:srgbClr val="1A202C"/>
                </a:solidFill>
                <a:latin typeface="NanumGothic"/>
                <a:ea typeface="NanumGothic"/>
              </a:rPr>
              <a:t>•  경련 감소 · AAN Level C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900"/>
              </a:spcAft>
            </a:pPr>
            <a:r>
              <a:rPr sz="1200" b="0" i="0">
                <a:solidFill>
                  <a:srgbClr val="1A202C"/>
                </a:solidFill>
                <a:latin typeface="NanumGothic"/>
                <a:ea typeface="NanumGothic"/>
              </a:rPr>
              <a:t>•  국내 가용성 확인 필요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6455664"/>
            <a:ext cx="98755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5A6B7B"/>
                </a:solidFill>
                <a:latin typeface="NanumGothic"/>
                <a:ea typeface="NanumGothic"/>
              </a:rPr>
              <a:t>근거: Chan 1998(J Clin Pharmacol); Voon 2001(Age Ageing); Young 1993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64240" y="6455664"/>
            <a:ext cx="82296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5A6B7B"/>
                </a:solidFill>
                <a:latin typeface="NanumGothic"/>
                <a:ea typeface="NanumGothic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10896"/>
            <a:ext cx="109728" cy="457200"/>
          </a:xfrm>
          <a:prstGeom prst="rect">
            <a:avLst/>
          </a:prstGeom>
          <a:solidFill>
            <a:srgbClr val="2C8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37744"/>
            <a:ext cx="969264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2500" b="1" i="0">
                <a:solidFill>
                  <a:srgbClr val="1B355E"/>
                </a:solidFill>
                <a:latin typeface="NanumGothic"/>
                <a:ea typeface="NanumGothic"/>
              </a:rPr>
              <a:t>약물 ③ 최근·조건부 선택지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109728"/>
            <a:ext cx="7315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1F6E70"/>
                </a:solidFill>
                <a:latin typeface="NanumGothic"/>
                <a:ea typeface="NanumGothic"/>
              </a:rPr>
              <a:t>약제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969264"/>
            <a:ext cx="10881360" cy="17780"/>
          </a:xfrm>
          <a:prstGeom prst="rect">
            <a:avLst/>
          </a:prstGeom>
          <a:solidFill>
            <a:srgbClr val="D5D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906963" y="365760"/>
            <a:ext cx="781812" cy="347472"/>
          </a:xfrm>
          <a:prstGeom prst="roundRect">
            <a:avLst>
              <a:gd name="adj" fmla="val 8000"/>
            </a:avLst>
          </a:prstGeom>
          <a:solidFill>
            <a:srgbClr val="B97A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06963" y="365760"/>
            <a:ext cx="78181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FFFFFF"/>
                </a:solidFill>
                <a:latin typeface="NanumGothic"/>
                <a:ea typeface="NanumGothic"/>
              </a:rPr>
              <a:t>해석 주의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417320"/>
            <a:ext cx="5349240" cy="4526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31520" y="1417320"/>
            <a:ext cx="5349240" cy="566928"/>
          </a:xfrm>
          <a:prstGeom prst="roundRect">
            <a:avLst>
              <a:gd name="adj" fmla="val 8000"/>
            </a:avLst>
          </a:prstGeom>
          <a:solidFill>
            <a:srgbClr val="2447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1417320"/>
            <a:ext cx="53492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FFFFFF"/>
                </a:solidFill>
                <a:latin typeface="NanumGothic"/>
                <a:ea typeface="NanumGothic"/>
              </a:rPr>
              <a:t>Vitamin K2 (menaquinone-7)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240280"/>
            <a:ext cx="484632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1100"/>
              </a:spcAft>
            </a:pPr>
            <a:r>
              <a:rPr sz="875" b="1" i="0">
                <a:solidFill>
                  <a:srgbClr val="2C898A"/>
                </a:solidFill>
                <a:latin typeface="NanumGothic"/>
                <a:ea typeface="NanumGothic"/>
              </a:rPr>
              <a:t>●  </a:t>
            </a:r>
            <a:r>
              <a:rPr sz="1250" b="0" i="0">
                <a:solidFill>
                  <a:srgbClr val="1A202C"/>
                </a:solidFill>
                <a:latin typeface="NanumGothic"/>
                <a:ea typeface="NanumGothic"/>
              </a:rPr>
              <a:t>Tan 2024(JAMA Intern Med): 65세+ 199명, MK-7 180µg 8주.</a:t>
            </a:r>
          </a:p>
          <a:p>
            <a:pPr algn="l">
              <a:lnSpc>
                <a:spcPct val="108000"/>
              </a:lnSpc>
              <a:spcAft>
                <a:spcPts val="1100"/>
              </a:spcAft>
            </a:pPr>
            <a:r>
              <a:rPr sz="875" b="1" i="0">
                <a:solidFill>
                  <a:srgbClr val="2C898A"/>
                </a:solidFill>
                <a:latin typeface="NanumGothic"/>
                <a:ea typeface="NanumGothic"/>
              </a:rPr>
              <a:t>●  </a:t>
            </a:r>
            <a:r>
              <a:rPr sz="1250" b="0" i="0">
                <a:solidFill>
                  <a:srgbClr val="2E7D32"/>
                </a:solidFill>
                <a:latin typeface="NanumGothic"/>
                <a:ea typeface="NanumGothic"/>
              </a:rPr>
              <a:t>주간 경련 빈도 2.60 → 0.96로 유의 감소, 강도·지속 개선.</a:t>
            </a:r>
          </a:p>
          <a:p>
            <a:pPr algn="l">
              <a:lnSpc>
                <a:spcPct val="108000"/>
              </a:lnSpc>
              <a:spcAft>
                <a:spcPts val="1100"/>
              </a:spcAft>
            </a:pPr>
            <a:r>
              <a:rPr sz="875" b="1" i="0">
                <a:solidFill>
                  <a:srgbClr val="2C898A"/>
                </a:solidFill>
                <a:latin typeface="NanumGothic"/>
                <a:ea typeface="NanumGothic"/>
              </a:rPr>
              <a:t>●  </a:t>
            </a:r>
            <a:r>
              <a:rPr sz="1250" b="1" i="0">
                <a:solidFill>
                  <a:srgbClr val="B03A2E"/>
                </a:solidFill>
                <a:latin typeface="NanumGothic"/>
                <a:ea typeface="NanumGothic"/>
              </a:rPr>
              <a:t>⚠ 발표 후 '정정·교체 통지'(2025) — 결과 방향은 유지되나 데이터 정정.</a:t>
            </a:r>
          </a:p>
          <a:p>
            <a:pPr algn="l">
              <a:lnSpc>
                <a:spcPct val="108000"/>
              </a:lnSpc>
              <a:spcAft>
                <a:spcPts val="1100"/>
              </a:spcAft>
            </a:pPr>
            <a:r>
              <a:rPr sz="1250" b="1" i="0">
                <a:solidFill>
                  <a:srgbClr val="5A6B7B"/>
                </a:solidFill>
                <a:latin typeface="NanumGothic"/>
                <a:ea typeface="NanumGothic"/>
              </a:rPr>
              <a:t/>
            </a:r>
            <a:r>
              <a:rPr sz="1250" b="1" i="0">
                <a:solidFill>
                  <a:srgbClr val="1F6E70"/>
                </a:solidFill>
                <a:latin typeface="NanumGothic"/>
                <a:ea typeface="NanumGothic"/>
              </a:rPr>
              <a:t>확정적 근거로 과대해석 금지, 인용 시 정정 사실 명시.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417320"/>
            <a:ext cx="5349240" cy="4526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217920" y="1417320"/>
            <a:ext cx="5349240" cy="566928"/>
          </a:xfrm>
          <a:prstGeom prst="roundRect">
            <a:avLst>
              <a:gd name="adj" fmla="val 8000"/>
            </a:avLst>
          </a:prstGeom>
          <a:solidFill>
            <a:srgbClr val="1F6E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0" y="1417320"/>
            <a:ext cx="53492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FFFFFF"/>
                </a:solidFill>
                <a:latin typeface="NanumGothic"/>
                <a:ea typeface="NanumGothic"/>
              </a:rPr>
              <a:t>Gabapentin · Baclofen (LSS 동반 시)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2240280"/>
            <a:ext cx="484632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1100"/>
              </a:spcAft>
            </a:pPr>
            <a:r>
              <a:rPr sz="875" b="1" i="0">
                <a:solidFill>
                  <a:srgbClr val="2C898A"/>
                </a:solidFill>
                <a:latin typeface="NanumGothic"/>
                <a:ea typeface="NanumGothic"/>
              </a:rPr>
              <a:t>●  </a:t>
            </a:r>
            <a:r>
              <a:rPr sz="1250" b="0" i="0">
                <a:solidFill>
                  <a:srgbClr val="1A202C"/>
                </a:solidFill>
                <a:latin typeface="NanumGothic"/>
                <a:ea typeface="NanumGothic"/>
              </a:rPr>
              <a:t>NLC 특이 근거는 약함. gabapentin은 '고려 가능'(낮은 근거).</a:t>
            </a:r>
          </a:p>
          <a:p>
            <a:pPr algn="l">
              <a:lnSpc>
                <a:spcPct val="108000"/>
              </a:lnSpc>
              <a:spcAft>
                <a:spcPts val="1100"/>
              </a:spcAft>
            </a:pPr>
            <a:r>
              <a:rPr sz="875" b="1" i="0">
                <a:solidFill>
                  <a:srgbClr val="2C898A"/>
                </a:solidFill>
                <a:latin typeface="NanumGothic"/>
                <a:ea typeface="NanumGothic"/>
              </a:rPr>
              <a:t>●  </a:t>
            </a:r>
            <a:r>
              <a:rPr sz="1250" b="0" i="0">
                <a:solidFill>
                  <a:srgbClr val="1A202C"/>
                </a:solidFill>
                <a:latin typeface="NanumGothic"/>
                <a:ea typeface="NanumGothic"/>
              </a:rPr>
              <a:t>Kim 2024 RCT: 요추관협착 동반 야간 종아리경련에서 baclofen ≈ gabapentin(유사 효능·안전).</a:t>
            </a:r>
          </a:p>
          <a:p>
            <a:pPr algn="l">
              <a:lnSpc>
                <a:spcPct val="108000"/>
              </a:lnSpc>
              <a:spcAft>
                <a:spcPts val="1100"/>
              </a:spcAft>
            </a:pPr>
            <a:r>
              <a:rPr sz="875" b="1" i="0">
                <a:solidFill>
                  <a:srgbClr val="2C898A"/>
                </a:solidFill>
                <a:latin typeface="NanumGothic"/>
                <a:ea typeface="NanumGothic"/>
              </a:rPr>
              <a:t>●  </a:t>
            </a:r>
            <a:r>
              <a:rPr sz="1250" b="0" i="0">
                <a:solidFill>
                  <a:srgbClr val="1A202C"/>
                </a:solidFill>
                <a:latin typeface="NanumGothic"/>
                <a:ea typeface="NanumGothic"/>
              </a:rPr>
              <a:t>신경근 병변(요추질환) 연관 경련에서 제한적 역할.</a:t>
            </a:r>
          </a:p>
          <a:p>
            <a:pPr algn="l">
              <a:lnSpc>
                <a:spcPct val="108000"/>
              </a:lnSpc>
              <a:spcAft>
                <a:spcPts val="1100"/>
              </a:spcAft>
            </a:pPr>
            <a:r>
              <a:rPr sz="875" b="1" i="0">
                <a:solidFill>
                  <a:srgbClr val="2C898A"/>
                </a:solidFill>
                <a:latin typeface="NanumGothic"/>
                <a:ea typeface="NanumGothic"/>
              </a:rPr>
              <a:t>●  </a:t>
            </a:r>
            <a:r>
              <a:rPr sz="1250" b="0" i="0">
                <a:solidFill>
                  <a:srgbClr val="B03A2E"/>
                </a:solidFill>
                <a:latin typeface="NanumGothic"/>
                <a:ea typeface="NanumGothic"/>
              </a:rPr>
              <a:t>진정·어지럼 부작용, 고령 신중.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6455664"/>
            <a:ext cx="98755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5A6B7B"/>
                </a:solidFill>
                <a:latin typeface="NanumGothic"/>
                <a:ea typeface="NanumGothic"/>
              </a:rPr>
              <a:t>근거: Tan 2024(JAMA Intern Med; 정정통지 2025); Kim 2024(Am J Phys Med Rehabil)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64240" y="6455664"/>
            <a:ext cx="82296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5A6B7B"/>
                </a:solidFill>
                <a:latin typeface="NanumGothic"/>
                <a:ea typeface="NanumGothic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10896"/>
            <a:ext cx="109728" cy="457200"/>
          </a:xfrm>
          <a:prstGeom prst="rect">
            <a:avLst/>
          </a:prstGeom>
          <a:solidFill>
            <a:srgbClr val="2C8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37744"/>
            <a:ext cx="969264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2500" b="1" i="0">
                <a:solidFill>
                  <a:srgbClr val="1B355E"/>
                </a:solidFill>
                <a:latin typeface="NanumGothic"/>
                <a:ea typeface="NanumGothic"/>
              </a:rPr>
              <a:t>약물 ④ pramipexole·pregabalin은 'RLS 약'이다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109728"/>
            <a:ext cx="7315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1F6E70"/>
                </a:solidFill>
                <a:latin typeface="NanumGothic"/>
                <a:ea typeface="NanumGothic"/>
              </a:rPr>
              <a:t>약제 · 감별 핵심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969264"/>
            <a:ext cx="10881360" cy="17780"/>
          </a:xfrm>
          <a:prstGeom prst="rect">
            <a:avLst/>
          </a:prstGeom>
          <a:solidFill>
            <a:srgbClr val="D5D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1222431" y="365760"/>
            <a:ext cx="466344" cy="347472"/>
          </a:xfrm>
          <a:prstGeom prst="roundRect">
            <a:avLst>
              <a:gd name="adj" fmla="val 8000"/>
            </a:avLst>
          </a:prstGeom>
          <a:solidFill>
            <a:srgbClr val="2C8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222431" y="365760"/>
            <a:ext cx="466344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FFFFFF"/>
                </a:solidFill>
                <a:latin typeface="NanumGothic"/>
                <a:ea typeface="NanumGothic"/>
              </a:rPr>
              <a:t>감별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371600"/>
            <a:ext cx="1078992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800"/>
              </a:spcAft>
            </a:pPr>
            <a:r>
              <a:rPr sz="944" b="1" i="0">
                <a:solidFill>
                  <a:srgbClr val="2C898A"/>
                </a:solidFill>
                <a:latin typeface="NanumGothic"/>
                <a:ea typeface="NanumGothic"/>
              </a:rPr>
              <a:t>●  </a:t>
            </a:r>
            <a:r>
              <a:rPr sz="1350" b="1" i="0">
                <a:solidFill>
                  <a:srgbClr val="1A202C"/>
                </a:solidFill>
                <a:latin typeface="NanumGothic"/>
                <a:ea typeface="NanumGothic"/>
              </a:rPr>
              <a:t>환자가 복용 중인 pramipexole(미라펙스)+pregabalin(리리카)은 NLC 표준치료가 아니라 RLS 대표 치료제 → 임상상이 RLS(또는 중복)일 가능성. 감별이 먼저.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731520" y="2834640"/>
          <a:ext cx="10835640" cy="309067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754880"/>
                <a:gridCol w="6080760"/>
              </a:tblGrid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50" b="1" i="0">
                          <a:solidFill>
                            <a:srgbClr val="FFFFFF"/>
                          </a:solidFill>
                          <a:latin typeface="NanumGothic"/>
                          <a:ea typeface="NanumGothic"/>
                        </a:rPr>
                        <a:t>약물군</a:t>
                      </a:r>
                    </a:p>
                  </a:txBody>
                  <a:tcPr marL="73152" marR="54864" marT="18288" marB="18288" anchor="ctr">
                    <a:solidFill>
                      <a:srgbClr val="1B355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 i="0">
                          <a:solidFill>
                            <a:srgbClr val="FFFFFF"/>
                          </a:solidFill>
                          <a:latin typeface="NanumGothic"/>
                          <a:ea typeface="NanumGothic"/>
                        </a:rPr>
                        <a:t>RLS에서의 위치(2024/2025 AASM 지침)</a:t>
                      </a:r>
                    </a:p>
                  </a:txBody>
                  <a:tcPr marL="73152" marR="54864" marT="18288" marB="18288" anchor="ctr">
                    <a:solidFill>
                      <a:srgbClr val="1B355E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A202C"/>
                          </a:solidFill>
                          <a:latin typeface="NanumGothic"/>
                          <a:ea typeface="NanumGothic"/>
                        </a:rPr>
                        <a:t>α2δ 리간드 (gabapentin enacarbil·gabapentin·pregabalin)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A202C"/>
                          </a:solidFill>
                          <a:latin typeface="NanumGothic"/>
                          <a:ea typeface="NanumGothic"/>
                        </a:rPr>
                        <a:t>1차 권고. pregabalin 강한 권고. augmentation 적음(Allen 2014 NEJM: 1.7% vs pramipexole 9.0%)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A202C"/>
                          </a:solidFill>
                          <a:latin typeface="NanumGothic"/>
                          <a:ea typeface="NanumGothic"/>
                        </a:rPr>
                        <a:t>도파민 작용제 (pramipexole·ropinirole·rotigotine)</a:t>
                      </a:r>
                    </a:p>
                  </a:txBody>
                  <a:tcPr marL="73152" marR="54864" marT="18288" marB="18288" anchor="ctr"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A202C"/>
                          </a:solidFill>
                          <a:latin typeface="NanumGothic"/>
                          <a:ea typeface="NanumGothic"/>
                        </a:rPr>
                        <a:t>augmentation(연 7–10%) 위험으로 1차 권고 안 함(against)</a:t>
                      </a:r>
                    </a:p>
                  </a:txBody>
                  <a:tcPr marL="73152" marR="54864" marT="18288" marB="18288" anchor="ctr">
                    <a:solidFill>
                      <a:srgbClr val="EEF2F6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A202C"/>
                          </a:solidFill>
                          <a:latin typeface="NanumGothic"/>
                          <a:ea typeface="NanumGothic"/>
                        </a:rPr>
                        <a:t>철분 교정 (ferritin/TSAT)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A202C"/>
                          </a:solidFill>
                          <a:latin typeface="NanumGothic"/>
                          <a:ea typeface="NanumGothic"/>
                        </a:rPr>
                        <a:t>기반 치료로 강조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A202C"/>
                          </a:solidFill>
                          <a:latin typeface="NanumGothic"/>
                          <a:ea typeface="NanumGothic"/>
                        </a:rPr>
                        <a:t>NLC(특발성)에서 pramipexole</a:t>
                      </a:r>
                    </a:p>
                  </a:txBody>
                  <a:tcPr marL="73152" marR="54864" marT="18288" marB="18288" anchor="ctr"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A202C"/>
                          </a:solidFill>
                          <a:latin typeface="NanumGothic"/>
                          <a:ea typeface="NanumGothic"/>
                        </a:rPr>
                        <a:t>직접 근거 없음 — 유효하다면 오히려 RLS를 시사</a:t>
                      </a:r>
                    </a:p>
                  </a:txBody>
                  <a:tcPr marL="73152" marR="54864" marT="18288" marB="18288" anchor="ctr">
                    <a:solidFill>
                      <a:srgbClr val="EEF2F6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731520" y="6455664"/>
            <a:ext cx="98755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5A6B7B"/>
                </a:solidFill>
                <a:latin typeface="NanumGothic"/>
                <a:ea typeface="NanumGothic"/>
              </a:rPr>
              <a:t>근거: Winkelman 2025(AASM, J Clin Sleep Med); Allen 2014(NEJM NEJMoa1303646)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64240" y="6455664"/>
            <a:ext cx="82296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5A6B7B"/>
                </a:solidFill>
                <a:latin typeface="NanumGothic"/>
                <a:ea typeface="NanumGothic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10896"/>
            <a:ext cx="109728" cy="457200"/>
          </a:xfrm>
          <a:prstGeom prst="rect">
            <a:avLst/>
          </a:prstGeom>
          <a:solidFill>
            <a:srgbClr val="2C8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37744"/>
            <a:ext cx="969264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2500" b="1" i="0">
                <a:solidFill>
                  <a:srgbClr val="1B355E"/>
                </a:solidFill>
                <a:latin typeface="NanumGothic"/>
                <a:ea typeface="NanumGothic"/>
              </a:rPr>
              <a:t>급성 발작 시 대증 요법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109728"/>
            <a:ext cx="7315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1F6E70"/>
                </a:solidFill>
                <a:latin typeface="NanumGothic"/>
                <a:ea typeface="NanumGothic"/>
              </a:rPr>
              <a:t>보조 · 급성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969264"/>
            <a:ext cx="10881360" cy="17780"/>
          </a:xfrm>
          <a:prstGeom prst="rect">
            <a:avLst/>
          </a:prstGeom>
          <a:solidFill>
            <a:srgbClr val="D5D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1222431" y="365760"/>
            <a:ext cx="466344" cy="347472"/>
          </a:xfrm>
          <a:prstGeom prst="roundRect">
            <a:avLst>
              <a:gd name="adj" fmla="val 8000"/>
            </a:avLst>
          </a:prstGeom>
          <a:solidFill>
            <a:srgbClr val="2C8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222431" y="365760"/>
            <a:ext cx="466344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FFFFFF"/>
                </a:solidFill>
                <a:latin typeface="NanumGothic"/>
                <a:ea typeface="NanumGothic"/>
              </a:rPr>
              <a:t>보조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371600"/>
            <a:ext cx="640080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1200"/>
              </a:spcAft>
            </a:pPr>
            <a:r>
              <a:rPr sz="979" b="1" i="0">
                <a:solidFill>
                  <a:srgbClr val="2C898A"/>
                </a:solidFill>
                <a:latin typeface="NanumGothic"/>
                <a:ea typeface="NanumGothic"/>
              </a:rPr>
              <a:t>●  </a:t>
            </a:r>
            <a:r>
              <a:rPr sz="1400" b="1" i="0">
                <a:solidFill>
                  <a:srgbClr val="1A202C"/>
                </a:solidFill>
                <a:latin typeface="NanumGothic"/>
                <a:ea typeface="NanumGothic"/>
              </a:rPr>
              <a:t>즉시 신전: 발을 발등 쪽으로 굽혀(dorsiflexion) 종아리를 수동 신장하거나, 벽에 발바닥을 대고 체중을 싣는다.</a:t>
            </a:r>
          </a:p>
          <a:p>
            <a:pPr algn="l">
              <a:lnSpc>
                <a:spcPct val="108000"/>
              </a:lnSpc>
              <a:spcAft>
                <a:spcPts val="1200"/>
              </a:spcAft>
            </a:pPr>
            <a:r>
              <a:rPr sz="979" b="1" i="0">
                <a:solidFill>
                  <a:srgbClr val="2C898A"/>
                </a:solidFill>
                <a:latin typeface="NanumGothic"/>
                <a:ea typeface="NanumGothic"/>
              </a:rPr>
              <a:t>●  </a:t>
            </a:r>
            <a:r>
              <a:rPr sz="1400" b="0" i="0">
                <a:solidFill>
                  <a:srgbClr val="1A202C"/>
                </a:solidFill>
                <a:latin typeface="NanumGothic"/>
                <a:ea typeface="NanumGothic"/>
              </a:rPr>
              <a:t>보조: 걷기, 발 흔들기, 근육 마사지, 온찜질.</a:t>
            </a:r>
          </a:p>
          <a:p>
            <a:pPr algn="l">
              <a:lnSpc>
                <a:spcPct val="108000"/>
              </a:lnSpc>
              <a:spcAft>
                <a:spcPts val="1200"/>
              </a:spcAft>
            </a:pPr>
            <a:r>
              <a:rPr sz="979" b="1" i="0">
                <a:solidFill>
                  <a:srgbClr val="2C898A"/>
                </a:solidFill>
                <a:latin typeface="NanumGothic"/>
                <a:ea typeface="NanumGothic"/>
              </a:rPr>
              <a:t>●  </a:t>
            </a:r>
            <a:r>
              <a:rPr sz="1400" b="0" i="0">
                <a:solidFill>
                  <a:srgbClr val="1A202C"/>
                </a:solidFill>
                <a:latin typeface="NanumGothic"/>
                <a:ea typeface="NanumGothic"/>
              </a:rPr>
              <a:t>기전: 건·근 신전 → Ib(골지건) 구심성으로 경련을 반사적으로 억제(Khan &amp; Burne 2007).</a:t>
            </a:r>
          </a:p>
          <a:p>
            <a:pPr algn="l">
              <a:lnSpc>
                <a:spcPct val="108000"/>
              </a:lnSpc>
              <a:spcAft>
                <a:spcPts val="1200"/>
              </a:spcAft>
            </a:pPr>
            <a:r>
              <a:rPr sz="979" b="1" i="0">
                <a:solidFill>
                  <a:srgbClr val="2C898A"/>
                </a:solidFill>
                <a:latin typeface="NanumGothic"/>
                <a:ea typeface="NanumGothic"/>
              </a:rPr>
              <a:t>●  </a:t>
            </a:r>
            <a:r>
              <a:rPr sz="1400" b="0" i="0">
                <a:solidFill>
                  <a:srgbClr val="5A6B7B"/>
                </a:solidFill>
                <a:latin typeface="NanumGothic"/>
                <a:ea typeface="NanumGothic"/>
              </a:rPr>
              <a:t>흥미로운 기전 — 신맛 자극(pickle juice/식초): Miller 2010, 탈수 유발경련에서 지속시간 ~45% 단축. 구인두 TRP 채널(TRPA1/TRPV1) 자극 → 반사적 α-운동뉴런 억제 가설.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06640" y="1463040"/>
            <a:ext cx="4114800" cy="4480560"/>
          </a:xfrm>
          <a:prstGeom prst="roundRect">
            <a:avLst>
              <a:gd name="adj" fmla="val 8000"/>
            </a:avLst>
          </a:prstGeom>
          <a:solidFill>
            <a:srgbClr val="F5F8FB"/>
          </a:solidFill>
          <a:ln w="12700">
            <a:solidFill>
              <a:srgbClr val="D5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80960" y="173736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1F6E70"/>
                </a:solidFill>
                <a:latin typeface="NanumGothic"/>
                <a:ea typeface="NanumGothic"/>
              </a:rPr>
              <a:t>발작 시 순서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680960" y="2286000"/>
            <a:ext cx="457200" cy="457200"/>
          </a:xfrm>
          <a:prstGeom prst="roundRect">
            <a:avLst>
              <a:gd name="adj" fmla="val 8000"/>
            </a:avLst>
          </a:prstGeom>
          <a:solidFill>
            <a:srgbClr val="2C8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80960" y="2286000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NanumGothic"/>
                <a:ea typeface="NanumGothic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75320" y="2286000"/>
            <a:ext cx="31089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1A202C"/>
                </a:solidFill>
                <a:latin typeface="NanumGothic"/>
                <a:ea typeface="NanumGothic"/>
              </a:rPr>
              <a:t>족배굴곡으로 종아리 신장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680960" y="3017520"/>
            <a:ext cx="457200" cy="457200"/>
          </a:xfrm>
          <a:prstGeom prst="roundRect">
            <a:avLst>
              <a:gd name="adj" fmla="val 8000"/>
            </a:avLst>
          </a:prstGeom>
          <a:solidFill>
            <a:srgbClr val="2C8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80960" y="3017520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NanumGothic"/>
                <a:ea typeface="NanumGothic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75320" y="3017520"/>
            <a:ext cx="31089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1A202C"/>
                </a:solidFill>
                <a:latin typeface="NanumGothic"/>
                <a:ea typeface="NanumGothic"/>
              </a:rPr>
              <a:t>벽 밀기 자세로 체중 신장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680960" y="3749039"/>
            <a:ext cx="457200" cy="457200"/>
          </a:xfrm>
          <a:prstGeom prst="roundRect">
            <a:avLst>
              <a:gd name="adj" fmla="val 8000"/>
            </a:avLst>
          </a:prstGeom>
          <a:solidFill>
            <a:srgbClr val="2C8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80960" y="3749039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NanumGothic"/>
                <a:ea typeface="NanumGothi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75320" y="3749039"/>
            <a:ext cx="31089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1A202C"/>
                </a:solidFill>
                <a:latin typeface="NanumGothic"/>
                <a:ea typeface="NanumGothic"/>
              </a:rPr>
              <a:t>걷기·마사지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680960" y="4480560"/>
            <a:ext cx="457200" cy="457200"/>
          </a:xfrm>
          <a:prstGeom prst="roundRect">
            <a:avLst>
              <a:gd name="adj" fmla="val 8000"/>
            </a:avLst>
          </a:prstGeom>
          <a:solidFill>
            <a:srgbClr val="2C8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680960" y="4480560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NanumGothic"/>
                <a:ea typeface="NanumGothic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75320" y="4480560"/>
            <a:ext cx="31089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1A202C"/>
                </a:solidFill>
                <a:latin typeface="NanumGothic"/>
                <a:ea typeface="NanumGothic"/>
              </a:rPr>
              <a:t>온열·수분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680960" y="5212080"/>
            <a:ext cx="457200" cy="457200"/>
          </a:xfrm>
          <a:prstGeom prst="roundRect">
            <a:avLst>
              <a:gd name="adj" fmla="val 8000"/>
            </a:avLst>
          </a:prstGeom>
          <a:solidFill>
            <a:srgbClr val="2C8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680960" y="5212080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NanumGothic"/>
                <a:ea typeface="NanumGothic"/>
              </a:rP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75320" y="5212080"/>
            <a:ext cx="31089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1A202C"/>
                </a:solidFill>
                <a:latin typeface="NanumGothic"/>
                <a:ea typeface="NanumGothic"/>
              </a:rPr>
              <a:t>(연구단계) 신맛 자극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6455664"/>
            <a:ext cx="98755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5A6B7B"/>
                </a:solidFill>
                <a:latin typeface="NanumGothic"/>
                <a:ea typeface="NanumGothic"/>
              </a:rPr>
              <a:t>근거: Khan &amp; Burne 2007(J Neurophysiol); Miller 2010(Med Sci Sports Exerc)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064240" y="6455664"/>
            <a:ext cx="82296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5A6B7B"/>
                </a:solidFill>
                <a:latin typeface="NanumGothic"/>
                <a:ea typeface="NanumGothic"/>
              </a:rP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10896"/>
            <a:ext cx="109728" cy="457200"/>
          </a:xfrm>
          <a:prstGeom prst="rect">
            <a:avLst/>
          </a:prstGeom>
          <a:solidFill>
            <a:srgbClr val="2C8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37744"/>
            <a:ext cx="969264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2500" b="1" i="0">
                <a:solidFill>
                  <a:srgbClr val="1B355E"/>
                </a:solidFill>
                <a:latin typeface="NanumGothic"/>
                <a:ea typeface="NanumGothic"/>
              </a:rPr>
              <a:t>효과 없거나 권고되지 않는 것 (제외)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109728"/>
            <a:ext cx="7315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1F6E70"/>
                </a:solidFill>
                <a:latin typeface="NanumGothic"/>
                <a:ea typeface="NanumGothic"/>
              </a:rPr>
              <a:t>근거 부재 · 비권고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969264"/>
            <a:ext cx="10881360" cy="17780"/>
          </a:xfrm>
          <a:prstGeom prst="rect">
            <a:avLst/>
          </a:prstGeom>
          <a:solidFill>
            <a:srgbClr val="D5D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1117275" y="365760"/>
            <a:ext cx="571500" cy="347472"/>
          </a:xfrm>
          <a:prstGeom prst="roundRect">
            <a:avLst>
              <a:gd name="adj" fmla="val 8000"/>
            </a:avLst>
          </a:prstGeom>
          <a:solidFill>
            <a:srgbClr val="B0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117275" y="365760"/>
            <a:ext cx="57150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FFFFFF"/>
                </a:solidFill>
                <a:latin typeface="NanumGothic"/>
                <a:ea typeface="NanumGothic"/>
              </a:rPr>
              <a:t>비권고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417320"/>
            <a:ext cx="10835640" cy="1325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1417320"/>
            <a:ext cx="128016" cy="1325880"/>
          </a:xfrm>
          <a:prstGeom prst="rect">
            <a:avLst/>
          </a:prstGeom>
          <a:solidFill>
            <a:srgbClr val="B0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1563624"/>
            <a:ext cx="10241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 i="0">
                <a:solidFill>
                  <a:srgbClr val="B03A2E"/>
                </a:solidFill>
                <a:latin typeface="NanumGothic"/>
                <a:ea typeface="NanumGothic"/>
              </a:rPr>
              <a:t>마그네슘 (특발성 NLC)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1984248"/>
            <a:ext cx="1024128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1A202C"/>
                </a:solidFill>
                <a:latin typeface="NanumGothic"/>
                <a:ea typeface="NanumGothic"/>
              </a:rPr>
              <a:t>Garrison 2020 Cochrane(11 RCT, 735명): 고령 특발성 NLC에서 위약 대비 임상적으로 의미있는 이득 없음. 흔한 자가처방이나 예방 근거 없음(저마그네슘혈증 교정은 별개).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2926080"/>
            <a:ext cx="10835640" cy="1325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31520" y="2926080"/>
            <a:ext cx="128016" cy="1325880"/>
          </a:xfrm>
          <a:prstGeom prst="rect">
            <a:avLst/>
          </a:prstGeom>
          <a:solidFill>
            <a:srgbClr val="B0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51560" y="3072384"/>
            <a:ext cx="10241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 i="0">
                <a:solidFill>
                  <a:srgbClr val="B03A2E"/>
                </a:solidFill>
                <a:latin typeface="NanumGothic"/>
                <a:ea typeface="NanumGothic"/>
              </a:rPr>
              <a:t>혈관주위 스테로이드 주사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3493008"/>
            <a:ext cx="1024128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1A202C"/>
                </a:solidFill>
                <a:latin typeface="NanumGothic"/>
                <a:ea typeface="NanumGothic"/>
              </a:rPr>
              <a:t>야간경련 적응 인체 근거 0건(신규·비표준). 오히려 동맥내 오주입 → 색전·허혈, 조직·지방 위축, 건 약화 위험. RCT는 신경주위에서 스테로이드보다 D5W가 더 안전·효과적.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4434840"/>
            <a:ext cx="10835640" cy="1325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31520" y="4434840"/>
            <a:ext cx="128016" cy="1325880"/>
          </a:xfrm>
          <a:prstGeom prst="rect">
            <a:avLst/>
          </a:prstGeom>
          <a:solidFill>
            <a:srgbClr val="B97A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51560" y="4581144"/>
            <a:ext cx="10241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 i="0">
                <a:solidFill>
                  <a:srgbClr val="B97A0C"/>
                </a:solidFill>
                <a:latin typeface="NanumGothic"/>
                <a:ea typeface="NanumGothic"/>
              </a:rPr>
              <a:t>LSB·경막외/SNRB (특발성)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" y="5001768"/>
            <a:ext cx="1024128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1A202C"/>
                </a:solidFill>
                <a:latin typeface="NanumGothic"/>
                <a:ea typeface="NanumGothic"/>
              </a:rPr>
              <a:t>특발성 NLC 직접 근거 없음(Level V). LSB는 PAD/CLI·CRPS 확인 시에만, 경막외/SNRB는 방사통 동반 시 방사통 목적으로 — 경련 완화는 부수적 기대.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6455664"/>
            <a:ext cx="98755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5A6B7B"/>
                </a:solidFill>
                <a:latin typeface="NanumGothic"/>
                <a:ea typeface="NanumGothic"/>
              </a:rPr>
              <a:t>근거: Garrison 2020(Cochrane CD009402); 문헌고찰 Part 7·1·2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64240" y="6455664"/>
            <a:ext cx="82296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5A6B7B"/>
                </a:solidFill>
                <a:latin typeface="NanumGothic"/>
                <a:ea typeface="NanumGothic"/>
              </a:rP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10896"/>
            <a:ext cx="109728" cy="457200"/>
          </a:xfrm>
          <a:prstGeom prst="rect">
            <a:avLst/>
          </a:prstGeom>
          <a:solidFill>
            <a:srgbClr val="2C8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37744"/>
            <a:ext cx="969264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2500" b="1" i="0">
                <a:solidFill>
                  <a:srgbClr val="1B355E"/>
                </a:solidFill>
                <a:latin typeface="NanumGothic"/>
                <a:ea typeface="NanumGothic"/>
              </a:rPr>
              <a:t>기전상 타당하나 연구 단계 ① FGA 부위 주사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109728"/>
            <a:ext cx="7315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1F6E70"/>
                </a:solidFill>
                <a:latin typeface="NanumGothic"/>
                <a:ea typeface="NanumGothic"/>
              </a:rPr>
              <a:t>연구 단계 · 신규 가설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969264"/>
            <a:ext cx="10881360" cy="17780"/>
          </a:xfrm>
          <a:prstGeom prst="rect">
            <a:avLst/>
          </a:prstGeom>
          <a:solidFill>
            <a:srgbClr val="D5D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906963" y="365760"/>
            <a:ext cx="781812" cy="347472"/>
          </a:xfrm>
          <a:prstGeom prst="roundRect">
            <a:avLst>
              <a:gd name="adj" fmla="val 8000"/>
            </a:avLst>
          </a:prstGeom>
          <a:solidFill>
            <a:srgbClr val="2447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06963" y="365760"/>
            <a:ext cx="78181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FFFFFF"/>
                </a:solidFill>
                <a:latin typeface="NanumGothic"/>
                <a:ea typeface="NanumGothic"/>
              </a:rPr>
              <a:t>연구 단계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371600"/>
            <a:ext cx="640080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944" b="1" i="0">
                <a:solidFill>
                  <a:srgbClr val="2C898A"/>
                </a:solidFill>
                <a:latin typeface="NanumGothic"/>
                <a:ea typeface="NanumGothic"/>
              </a:rPr>
              <a:t>●  </a:t>
            </a:r>
            <a:r>
              <a:rPr sz="1350" b="1" i="0">
                <a:solidFill>
                  <a:srgbClr val="B03A2E"/>
                </a:solidFill>
                <a:latin typeface="NanumGothic"/>
                <a:ea typeface="NanumGothic"/>
              </a:rPr>
              <a:t>직접 근거 없음 — 'FGA(유리 비복근 건막) 주사로 경련 치료'는 탐색적/신규 가설. 근거를 창작하지 않는다.</a:t>
            </a:r>
          </a:p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944" b="1" i="0">
                <a:solidFill>
                  <a:srgbClr val="2C898A"/>
                </a:solidFill>
                <a:latin typeface="NanumGothic"/>
                <a:ea typeface="NanumGothic"/>
              </a:rPr>
              <a:t>●  </a:t>
            </a:r>
            <a:r>
              <a:rPr sz="1350" b="0" i="0">
                <a:solidFill>
                  <a:srgbClr val="1A202C"/>
                </a:solidFill>
                <a:latin typeface="NanumGothic"/>
                <a:ea typeface="NanumGothic"/>
              </a:rPr>
              <a:t>해부(Pedret 2020): FGA = 내측 비복근 원위 근-건 이행부(MTJ)의 건성 영역, 'tennis leg' 호발 부위.</a:t>
            </a:r>
          </a:p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944" b="1" i="0">
                <a:solidFill>
                  <a:srgbClr val="2C898A"/>
                </a:solidFill>
                <a:latin typeface="NanumGothic"/>
                <a:ea typeface="NanumGothic"/>
              </a:rPr>
              <a:t>●  </a:t>
            </a:r>
            <a:r>
              <a:rPr sz="1350" b="0" i="0">
                <a:solidFill>
                  <a:srgbClr val="1A202C"/>
                </a:solidFill>
                <a:latin typeface="NanumGothic"/>
                <a:ea typeface="NanumGothic"/>
              </a:rPr>
              <a:t>타당성: 이 부위는 골지건기관·근방추 등 기계수용체가 밀집 → 경련 반사 회로의 표적으로 그럴듯함.</a:t>
            </a:r>
          </a:p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944" b="1" i="0">
                <a:solidFill>
                  <a:srgbClr val="2C898A"/>
                </a:solidFill>
                <a:latin typeface="NanumGothic"/>
                <a:ea typeface="NanumGothic"/>
              </a:rPr>
              <a:t>●  </a:t>
            </a:r>
            <a:r>
              <a:rPr sz="1350" b="0" i="0">
                <a:solidFill>
                  <a:srgbClr val="1A202C"/>
                </a:solidFill>
                <a:latin typeface="NanumGothic"/>
                <a:ea typeface="NanumGothic"/>
              </a:rPr>
              <a:t>경련은 단축 위치의 MTJ 부근에서 잘 유발되고 건 구심성으로 억제된다(Khan &amp; Burne 2007).</a:t>
            </a:r>
          </a:p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1350" b="1" i="0">
                <a:solidFill>
                  <a:srgbClr val="5A6B7B"/>
                </a:solidFill>
                <a:latin typeface="NanumGothic"/>
                <a:ea typeface="NanumGothic"/>
              </a:rPr>
              <a:t/>
            </a:r>
            <a:r>
              <a:rPr sz="1350" b="1" i="0">
                <a:solidFill>
                  <a:srgbClr val="1F6E70"/>
                </a:solidFill>
                <a:latin typeface="NanumGothic"/>
                <a:ea typeface="NanumGothic"/>
              </a:rPr>
              <a:t>필요: 초음파 유도 필수(소복재정맥·비복신경·족척근 회피), 파일럿·용량탐색 후 RCT.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06640" y="1463040"/>
            <a:ext cx="4114800" cy="4480560"/>
          </a:xfrm>
          <a:prstGeom prst="roundRect">
            <a:avLst>
              <a:gd name="adj" fmla="val 8000"/>
            </a:avLst>
          </a:prstGeom>
          <a:solidFill>
            <a:srgbClr val="F5F8FB"/>
          </a:solidFill>
          <a:ln w="12700">
            <a:solidFill>
              <a:srgbClr val="D5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35240" y="169164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1F6E70"/>
                </a:solidFill>
                <a:latin typeface="NanumGothic"/>
                <a:ea typeface="NanumGothic"/>
              </a:rPr>
              <a:t>간접 토대(유추)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35240" y="2148840"/>
            <a:ext cx="365760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875" b="1" i="0">
                <a:solidFill>
                  <a:srgbClr val="2C898A"/>
                </a:solidFill>
                <a:latin typeface="NanumGothic"/>
                <a:ea typeface="NanumGothic"/>
              </a:rPr>
              <a:t>●  </a:t>
            </a:r>
            <a:r>
              <a:rPr sz="1250" b="0" i="0">
                <a:solidFill>
                  <a:srgbClr val="1A202C"/>
                </a:solidFill>
                <a:latin typeface="NanumGothic"/>
                <a:ea typeface="NanumGothic"/>
              </a:rPr>
              <a:t>비복근 유발점 주사가 야간경련 완화(Kim 2015).</a:t>
            </a:r>
          </a:p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875" b="1" i="0">
                <a:solidFill>
                  <a:srgbClr val="2C898A"/>
                </a:solidFill>
                <a:latin typeface="NanumGothic"/>
                <a:ea typeface="NanumGothic"/>
              </a:rPr>
              <a:t>●  </a:t>
            </a:r>
            <a:r>
              <a:rPr sz="1250" b="0" i="0">
                <a:solidFill>
                  <a:srgbClr val="1A202C"/>
                </a:solidFill>
                <a:latin typeface="NanumGothic"/>
                <a:ea typeface="NanumGothic"/>
              </a:rPr>
              <a:t>비복근 BTX가 야간경련 완화(Park 2017).</a:t>
            </a:r>
          </a:p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875" b="1" i="0">
                <a:solidFill>
                  <a:srgbClr val="2C898A"/>
                </a:solidFill>
                <a:latin typeface="NanumGothic"/>
                <a:ea typeface="NanumGothic"/>
              </a:rPr>
              <a:t>●  </a:t>
            </a:r>
            <a:r>
              <a:rPr sz="1250" b="0" i="0">
                <a:solidFill>
                  <a:srgbClr val="1A202C"/>
                </a:solidFill>
                <a:latin typeface="NanumGothic"/>
                <a:ea typeface="NanumGothic"/>
              </a:rPr>
              <a:t>FGA/MTJ는 이미 tennis leg·PRP·hydrodissection의 안전한 초음파 표적.</a:t>
            </a:r>
          </a:p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1250" b="1" i="0">
                <a:solidFill>
                  <a:srgbClr val="5A6B7B"/>
                </a:solidFill>
                <a:latin typeface="NanumGothic"/>
                <a:ea typeface="NanumGothic"/>
              </a:rPr>
              <a:t/>
            </a:r>
            <a:r>
              <a:rPr sz="1250" b="0" i="0">
                <a:solidFill>
                  <a:srgbClr val="5A6B7B"/>
                </a:solidFill>
                <a:latin typeface="NanumGothic"/>
                <a:ea typeface="NanumGothic"/>
              </a:rPr>
              <a:t>→ 세 갈래가 '가설'의 간접 토대(직접 외삽 불가).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6455664"/>
            <a:ext cx="98755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5A6B7B"/>
                </a:solidFill>
                <a:latin typeface="NanumGothic"/>
                <a:ea typeface="NanumGothic"/>
              </a:rPr>
              <a:t>근거: Pedret 2020(Scand J Med Sci Sports); Balius 2018; Kim 2015; Park 2017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64240" y="6455664"/>
            <a:ext cx="82296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5A6B7B"/>
                </a:solidFill>
                <a:latin typeface="NanumGothic"/>
                <a:ea typeface="NanumGothic"/>
              </a:rP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10896"/>
            <a:ext cx="109728" cy="457200"/>
          </a:xfrm>
          <a:prstGeom prst="rect">
            <a:avLst/>
          </a:prstGeom>
          <a:solidFill>
            <a:srgbClr val="2C8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37744"/>
            <a:ext cx="969264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2500" b="1" i="0">
                <a:solidFill>
                  <a:srgbClr val="1B355E"/>
                </a:solidFill>
                <a:latin typeface="NanumGothic"/>
                <a:ea typeface="NanumGothic"/>
              </a:rPr>
              <a:t>기전상 타당하나 연구 단계 ② 신경 표적·조건부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109728"/>
            <a:ext cx="7315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1F6E70"/>
                </a:solidFill>
                <a:latin typeface="NanumGothic"/>
                <a:ea typeface="NanumGothic"/>
              </a:rPr>
              <a:t>연구 단계 · 조건부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969264"/>
            <a:ext cx="10881360" cy="17780"/>
          </a:xfrm>
          <a:prstGeom prst="rect">
            <a:avLst/>
          </a:prstGeom>
          <a:solidFill>
            <a:srgbClr val="D5D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906963" y="365760"/>
            <a:ext cx="781812" cy="347472"/>
          </a:xfrm>
          <a:prstGeom prst="roundRect">
            <a:avLst>
              <a:gd name="adj" fmla="val 8000"/>
            </a:avLst>
          </a:prstGeom>
          <a:solidFill>
            <a:srgbClr val="2447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06963" y="365760"/>
            <a:ext cx="78181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FFFFFF"/>
                </a:solidFill>
                <a:latin typeface="NanumGothic"/>
                <a:ea typeface="NanumGothic"/>
              </a:rPr>
              <a:t>연구 단계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31520" y="1417320"/>
          <a:ext cx="10835640" cy="32004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017520"/>
                <a:gridCol w="4023360"/>
                <a:gridCol w="3794760"/>
              </a:tblGrid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NanumGothic"/>
                          <a:ea typeface="NanumGothic"/>
                        </a:rPr>
                        <a:t>접근</a:t>
                      </a:r>
                    </a:p>
                  </a:txBody>
                  <a:tcPr marL="73152" marR="54864" marT="18288" marB="18288" anchor="ctr">
                    <a:solidFill>
                      <a:srgbClr val="1B355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NanumGothic"/>
                          <a:ea typeface="NanumGothic"/>
                        </a:rPr>
                        <a:t>위치·조건</a:t>
                      </a:r>
                    </a:p>
                  </a:txBody>
                  <a:tcPr marL="73152" marR="54864" marT="18288" marB="18288" anchor="ctr">
                    <a:solidFill>
                      <a:srgbClr val="1B355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NanumGothic"/>
                          <a:ea typeface="NanumGothic"/>
                        </a:rPr>
                        <a:t>핵심 주의</a:t>
                      </a:r>
                    </a:p>
                  </a:txBody>
                  <a:tcPr marL="73152" marR="54864" marT="18288" marB="18288" anchor="ctr">
                    <a:solidFill>
                      <a:srgbClr val="1B355E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1A202C"/>
                          </a:solidFill>
                          <a:latin typeface="NanumGothic"/>
                          <a:ea typeface="NanumGothic"/>
                        </a:rPr>
                        <a:t>경골/총비골 신경차단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A202C"/>
                          </a:solidFill>
                          <a:latin typeface="NanumGothic"/>
                          <a:ea typeface="NanumGothic"/>
                        </a:rPr>
                        <a:t>불응성에 선택적(직접근거 제한)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A202C"/>
                          </a:solidFill>
                          <a:latin typeface="NanumGothic"/>
                          <a:ea typeface="NanumGothic"/>
                        </a:rPr>
                        <a:t>족저굴곡 약화·족하수 → 고령 낙상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1A202C"/>
                          </a:solidFill>
                          <a:latin typeface="NanumGothic"/>
                          <a:ea typeface="NanumGothic"/>
                        </a:rPr>
                        <a:t>경골신경 phenol/신경파괴</a:t>
                      </a:r>
                    </a:p>
                  </a:txBody>
                  <a:tcPr marL="73152" marR="54864" marT="18288" marB="18288" anchor="ctr"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A202C"/>
                          </a:solidFill>
                          <a:latin typeface="NanumGothic"/>
                          <a:ea typeface="NanumGothic"/>
                        </a:rPr>
                        <a:t>경직(spastic equinus) 영역 확립</a:t>
                      </a:r>
                    </a:p>
                  </a:txBody>
                  <a:tcPr marL="73152" marR="54864" marT="18288" marB="18288" anchor="ctr"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A202C"/>
                          </a:solidFill>
                          <a:latin typeface="NanumGothic"/>
                          <a:ea typeface="NanumGothic"/>
                        </a:rPr>
                        <a:t>야간경련은 근거 전이(미검증)</a:t>
                      </a:r>
                    </a:p>
                  </a:txBody>
                  <a:tcPr marL="73152" marR="54864" marT="18288" marB="18288" anchor="ctr">
                    <a:solidFill>
                      <a:srgbClr val="EEF2F6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1A202C"/>
                          </a:solidFill>
                          <a:latin typeface="NanumGothic"/>
                          <a:ea typeface="NanumGothic"/>
                        </a:rPr>
                        <a:t>PTNS/비골신경 자극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A202C"/>
                          </a:solidFill>
                          <a:latin typeface="NanumGothic"/>
                          <a:ea typeface="NanumGothic"/>
                        </a:rPr>
                        <a:t>RLS·방광에 근거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A202C"/>
                          </a:solidFill>
                          <a:latin typeface="NanumGothic"/>
                          <a:ea typeface="NanumGothic"/>
                        </a:rPr>
                        <a:t>야간경련 직접 근거 없음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1A202C"/>
                          </a:solidFill>
                          <a:latin typeface="NanumGothic"/>
                          <a:ea typeface="NanumGothic"/>
                        </a:rPr>
                        <a:t>요추교감신경차단(LSB)</a:t>
                      </a:r>
                    </a:p>
                  </a:txBody>
                  <a:tcPr marL="73152" marR="54864" marT="18288" marB="18288" anchor="ctr"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A202C"/>
                          </a:solidFill>
                          <a:latin typeface="NanumGothic"/>
                          <a:ea typeface="NanumGothic"/>
                        </a:rPr>
                        <a:t>PAD/CLI·CRPS 확인 시만</a:t>
                      </a:r>
                    </a:p>
                  </a:txBody>
                  <a:tcPr marL="73152" marR="54864" marT="18288" marB="18288" anchor="ctr"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A202C"/>
                          </a:solidFill>
                          <a:latin typeface="NanumGothic"/>
                          <a:ea typeface="NanumGothic"/>
                        </a:rPr>
                        <a:t>특발성 경련엔 권고 안 함</a:t>
                      </a:r>
                    </a:p>
                  </a:txBody>
                  <a:tcPr marL="73152" marR="54864" marT="18288" marB="18288" anchor="ctr">
                    <a:solidFill>
                      <a:srgbClr val="EEF2F6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1A202C"/>
                          </a:solidFill>
                          <a:latin typeface="NanumGothic"/>
                          <a:ea typeface="NanumGothic"/>
                        </a:rPr>
                        <a:t>경막외/SNRB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A202C"/>
                          </a:solidFill>
                          <a:latin typeface="NanumGothic"/>
                          <a:ea typeface="NanumGothic"/>
                        </a:rPr>
                        <a:t>방사통·신경인성 파행 동반 시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A202C"/>
                          </a:solidFill>
                          <a:latin typeface="NanumGothic"/>
                          <a:ea typeface="NanumGothic"/>
                        </a:rPr>
                        <a:t>경련 완화는 부수적 기대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731520" y="5806440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1F6E70"/>
                </a:solidFill>
                <a:latin typeface="NanumGothic"/>
                <a:ea typeface="NanumGothic"/>
              </a:rPr>
              <a:t>공통 원칙: 이들은 '특발성 야간경련'의 표준치료가 아니다. 원인(PAD·협착·정맥부전)이 확인되면 그 원인 표적치료로서 의미가 있다.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6455664"/>
            <a:ext cx="98755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5A6B7B"/>
                </a:solidFill>
                <a:latin typeface="NanumGothic"/>
                <a:ea typeface="NanumGothic"/>
              </a:rPr>
              <a:t>근거: 문헌고찰 Part 1·2·4 (Imura 2015; Deltombe 2010; Charlesworth 2023)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64240" y="6455664"/>
            <a:ext cx="82296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5A6B7B"/>
                </a:solidFill>
                <a:latin typeface="NanumGothic"/>
                <a:ea typeface="NanumGothic"/>
              </a:rPr>
              <a:t>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10896"/>
            <a:ext cx="109728" cy="457200"/>
          </a:xfrm>
          <a:prstGeom prst="rect">
            <a:avLst/>
          </a:prstGeom>
          <a:solidFill>
            <a:srgbClr val="2C8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37744"/>
            <a:ext cx="969264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2500" b="1" i="0">
                <a:solidFill>
                  <a:srgbClr val="1B355E"/>
                </a:solidFill>
                <a:latin typeface="NanumGothic"/>
                <a:ea typeface="NanumGothic"/>
              </a:rPr>
              <a:t>종합 치료 알고리즘 / 사다리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109728"/>
            <a:ext cx="7315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1F6E70"/>
                </a:solidFill>
                <a:latin typeface="NanumGothic"/>
                <a:ea typeface="NanumGothic"/>
              </a:rPr>
              <a:t>종합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969264"/>
            <a:ext cx="10881360" cy="17780"/>
          </a:xfrm>
          <a:prstGeom prst="rect">
            <a:avLst/>
          </a:prstGeom>
          <a:solidFill>
            <a:srgbClr val="D5D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1222431" y="365760"/>
            <a:ext cx="466344" cy="347472"/>
          </a:xfrm>
          <a:prstGeom prst="roundRect">
            <a:avLst>
              <a:gd name="adj" fmla="val 8000"/>
            </a:avLst>
          </a:prstGeom>
          <a:solidFill>
            <a:srgbClr val="2C8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222431" y="365760"/>
            <a:ext cx="466344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FFFFFF"/>
                </a:solidFill>
                <a:latin typeface="NanumGothic"/>
                <a:ea typeface="NanumGothic"/>
              </a:rPr>
              <a:t>정리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371600"/>
            <a:ext cx="685800" cy="822960"/>
          </a:xfrm>
          <a:prstGeom prst="roundRect">
            <a:avLst>
              <a:gd name="adj" fmla="val 8000"/>
            </a:avLst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371600"/>
            <a:ext cx="68580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FFFFFF"/>
                </a:solidFill>
                <a:latin typeface="NanumGothic"/>
                <a:ea typeface="NanumGothic"/>
              </a:rPr>
              <a:t>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554480" y="1371600"/>
            <a:ext cx="10012680" cy="822960"/>
          </a:xfrm>
          <a:prstGeom prst="roundRect">
            <a:avLst>
              <a:gd name="adj" fmla="val 8000"/>
            </a:avLst>
          </a:prstGeom>
          <a:solidFill>
            <a:srgbClr val="F5F8FB"/>
          </a:solidFill>
          <a:ln w="12700">
            <a:solidFill>
              <a:srgbClr val="D5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828800" y="1481328"/>
            <a:ext cx="310896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1B355E"/>
                </a:solidFill>
                <a:latin typeface="NanumGothic"/>
                <a:ea typeface="NanumGothic"/>
              </a:rPr>
              <a:t>진단·감별 (workup)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0" y="1463040"/>
            <a:ext cx="658368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80" b="0" i="0">
                <a:solidFill>
                  <a:srgbClr val="1A202C"/>
                </a:solidFill>
                <a:latin typeface="NanumGothic"/>
                <a:ea typeface="NanumGothic"/>
              </a:rPr>
              <a:t>NLC vs RLS vs 신경·혈관성 · IRLSSG 기준 · 약물력. 단서 있을 때만 ABI·요추MRI·전해질·TSH.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2322576"/>
            <a:ext cx="685800" cy="822960"/>
          </a:xfrm>
          <a:prstGeom prst="roundRect">
            <a:avLst>
              <a:gd name="adj" fmla="val 8000"/>
            </a:avLst>
          </a:prstGeom>
          <a:solidFill>
            <a:srgbClr val="2447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2322576"/>
            <a:ext cx="68580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FFFFFF"/>
                </a:solidFill>
                <a:latin typeface="NanumGothic"/>
                <a:ea typeface="NanumGothic"/>
              </a:rPr>
              <a:t>2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554480" y="2322576"/>
            <a:ext cx="10012680" cy="822960"/>
          </a:xfrm>
          <a:prstGeom prst="roundRect">
            <a:avLst>
              <a:gd name="adj" fmla="val 8000"/>
            </a:avLst>
          </a:prstGeom>
          <a:solidFill>
            <a:srgbClr val="F5F8FB"/>
          </a:solidFill>
          <a:ln w="12700">
            <a:solidFill>
              <a:srgbClr val="D5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828800" y="2432304"/>
            <a:ext cx="310896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244774"/>
                </a:solidFill>
                <a:latin typeface="NanumGothic"/>
                <a:ea typeface="NanumGothic"/>
              </a:rPr>
              <a:t>이차 원인 교정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54880" y="2414016"/>
            <a:ext cx="658368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80" b="0" i="0">
                <a:solidFill>
                  <a:srgbClr val="1A202C"/>
                </a:solidFill>
                <a:latin typeface="NanumGothic"/>
                <a:ea typeface="NanumGothic"/>
              </a:rPr>
              <a:t>PAD·요추관협착·신경병증·정맥부전·전해질 교정. 유발약물(이뇨제·statin·LABA) 조정. CVI→압박스타킹, LSS→재활·BTX.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3273552"/>
            <a:ext cx="685800" cy="822960"/>
          </a:xfrm>
          <a:prstGeom prst="roundRect">
            <a:avLst>
              <a:gd name="adj" fmla="val 8000"/>
            </a:avLst>
          </a:prstGeom>
          <a:solidFill>
            <a:srgbClr val="2C8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3273552"/>
            <a:ext cx="68580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FFFFFF"/>
                </a:solidFill>
                <a:latin typeface="NanumGothic"/>
                <a:ea typeface="NanumGothic"/>
              </a:rPr>
              <a:t>3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554480" y="3273552"/>
            <a:ext cx="10012680" cy="822960"/>
          </a:xfrm>
          <a:prstGeom prst="roundRect">
            <a:avLst>
              <a:gd name="adj" fmla="val 8000"/>
            </a:avLst>
          </a:prstGeom>
          <a:solidFill>
            <a:srgbClr val="F5F8FB"/>
          </a:solidFill>
          <a:ln w="12700">
            <a:solidFill>
              <a:srgbClr val="D5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828800" y="3383280"/>
            <a:ext cx="310896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2C898A"/>
                </a:solidFill>
                <a:latin typeface="NanumGothic"/>
                <a:ea typeface="NanumGothic"/>
              </a:rPr>
              <a:t>비약물 1차 (모든 환자)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54880" y="3364992"/>
            <a:ext cx="658368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80" b="0" i="0">
                <a:solidFill>
                  <a:srgbClr val="1A202C"/>
                </a:solidFill>
                <a:latin typeface="NanumGothic"/>
                <a:ea typeface="NanumGothic"/>
              </a:rPr>
              <a:t>취침 전 종아리+햄스트링 스트레칭 ★핵심 · 자세·수분·온열 · 급성엔 dorsiflexion 신장.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" y="4224528"/>
            <a:ext cx="685800" cy="822960"/>
          </a:xfrm>
          <a:prstGeom prst="roundRect">
            <a:avLst>
              <a:gd name="adj" fmla="val 8000"/>
            </a:avLst>
          </a:prstGeom>
          <a:solidFill>
            <a:srgbClr val="1F6E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" y="4224528"/>
            <a:ext cx="68580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FFFFFF"/>
                </a:solidFill>
                <a:latin typeface="NanumGothic"/>
                <a:ea typeface="NanumGothic"/>
              </a:rPr>
              <a:t>4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554480" y="4224528"/>
            <a:ext cx="10012680" cy="822960"/>
          </a:xfrm>
          <a:prstGeom prst="roundRect">
            <a:avLst>
              <a:gd name="adj" fmla="val 8000"/>
            </a:avLst>
          </a:prstGeom>
          <a:solidFill>
            <a:srgbClr val="F5F8FB"/>
          </a:solidFill>
          <a:ln w="12700">
            <a:solidFill>
              <a:srgbClr val="D5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828800" y="4334256"/>
            <a:ext cx="310896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1F6E70"/>
                </a:solidFill>
                <a:latin typeface="NanumGothic"/>
                <a:ea typeface="NanumGothic"/>
              </a:rPr>
              <a:t>표적 약물 (개별화)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754880" y="4315968"/>
            <a:ext cx="658368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80" b="0" i="0">
                <a:solidFill>
                  <a:srgbClr val="1A202C"/>
                </a:solidFill>
                <a:latin typeface="NanumGothic"/>
                <a:ea typeface="NanumGothic"/>
              </a:rPr>
              <a:t>비교적 안전: Vit B(Level C). 고려: diltiazem·naftidrofuryl·gabapentin. 마그네슘 특발성 무효. quinine은 최후·선별.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31520" y="5175504"/>
            <a:ext cx="685800" cy="822960"/>
          </a:xfrm>
          <a:prstGeom prst="roundRect">
            <a:avLst>
              <a:gd name="adj" fmla="val 8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1520" y="5175504"/>
            <a:ext cx="68580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FFFFFF"/>
                </a:solidFill>
                <a:latin typeface="NanumGothic"/>
                <a:ea typeface="NanumGothic"/>
              </a:rPr>
              <a:t>5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554480" y="5175504"/>
            <a:ext cx="10012680" cy="822960"/>
          </a:xfrm>
          <a:prstGeom prst="roundRect">
            <a:avLst>
              <a:gd name="adj" fmla="val 8000"/>
            </a:avLst>
          </a:prstGeom>
          <a:solidFill>
            <a:srgbClr val="F5F8FB"/>
          </a:solidFill>
          <a:ln w="12700">
            <a:solidFill>
              <a:srgbClr val="D5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828800" y="5285232"/>
            <a:ext cx="310896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2E7D32"/>
                </a:solidFill>
                <a:latin typeface="NanumGothic"/>
                <a:ea typeface="NanumGothic"/>
              </a:rPr>
              <a:t>불응성 국소치료 (선택)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754880" y="5266944"/>
            <a:ext cx="658368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80" b="0" i="0">
                <a:solidFill>
                  <a:srgbClr val="1A202C"/>
                </a:solidFill>
                <a:latin typeface="NanumGothic"/>
                <a:ea typeface="NanumGothic"/>
              </a:rPr>
              <a:t>유발점 뚜렷 → 국소마취제/dry needling. 난치성 → 비복근 BTX(근력약화 설명). 보조 → ESWT.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6455664"/>
            <a:ext cx="98755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5A6B7B"/>
                </a:solidFill>
                <a:latin typeface="NanumGothic"/>
                <a:ea typeface="NanumGothic"/>
              </a:rPr>
              <a:t>근거: 문헌고찰 종합 결론 · 치료 사다리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064240" y="6455664"/>
            <a:ext cx="82296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5A6B7B"/>
                </a:solidFill>
                <a:latin typeface="NanumGothic"/>
                <a:ea typeface="NanumGothic"/>
              </a:rPr>
              <a:t>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10896"/>
            <a:ext cx="109728" cy="457200"/>
          </a:xfrm>
          <a:prstGeom prst="rect">
            <a:avLst/>
          </a:prstGeom>
          <a:solidFill>
            <a:srgbClr val="2C8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37744"/>
            <a:ext cx="969264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2500" b="1" i="0">
                <a:solidFill>
                  <a:srgbClr val="1B355E"/>
                </a:solidFill>
                <a:latin typeface="NanumGothic"/>
                <a:ea typeface="NanumGothic"/>
              </a:rPr>
              <a:t>9개 항목 근거 요약표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109728"/>
            <a:ext cx="7315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1F6E70"/>
                </a:solidFill>
                <a:latin typeface="NanumGothic"/>
                <a:ea typeface="NanumGothic"/>
              </a:rPr>
              <a:t>종합 · 근거표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969264"/>
            <a:ext cx="10881360" cy="17780"/>
          </a:xfrm>
          <a:prstGeom prst="rect">
            <a:avLst/>
          </a:prstGeom>
          <a:solidFill>
            <a:srgbClr val="D5D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1222431" y="365760"/>
            <a:ext cx="466344" cy="347472"/>
          </a:xfrm>
          <a:prstGeom prst="roundRect">
            <a:avLst>
              <a:gd name="adj" fmla="val 8000"/>
            </a:avLst>
          </a:prstGeom>
          <a:solidFill>
            <a:srgbClr val="2C8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222431" y="365760"/>
            <a:ext cx="466344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FFFFFF"/>
                </a:solidFill>
                <a:latin typeface="NanumGothic"/>
                <a:ea typeface="NanumGothic"/>
              </a:rPr>
              <a:t>요약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31520" y="1325880"/>
          <a:ext cx="10835640" cy="424281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291840"/>
                <a:gridCol w="2743200"/>
                <a:gridCol w="2148840"/>
                <a:gridCol w="2651760"/>
              </a:tblGrid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50" b="1" i="0">
                          <a:solidFill>
                            <a:srgbClr val="FFFFFF"/>
                          </a:solidFill>
                          <a:latin typeface="NanumGothic"/>
                          <a:ea typeface="NanumGothic"/>
                        </a:rPr>
                        <a:t>치료</a:t>
                      </a:r>
                    </a:p>
                  </a:txBody>
                  <a:tcPr marL="73152" marR="54864" marT="18288" marB="18288" anchor="ctr">
                    <a:solidFill>
                      <a:srgbClr val="1B355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 i="0">
                          <a:solidFill>
                            <a:srgbClr val="FFFFFF"/>
                          </a:solidFill>
                          <a:latin typeface="NanumGothic"/>
                          <a:ea typeface="NanumGothic"/>
                        </a:rPr>
                        <a:t>경련 직접근거</a:t>
                      </a:r>
                    </a:p>
                  </a:txBody>
                  <a:tcPr marL="73152" marR="54864" marT="18288" marB="18288" anchor="ctr">
                    <a:solidFill>
                      <a:srgbClr val="1B355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 i="0">
                          <a:solidFill>
                            <a:srgbClr val="FFFFFF"/>
                          </a:solidFill>
                          <a:latin typeface="NanumGothic"/>
                          <a:ea typeface="NanumGothic"/>
                        </a:rPr>
                        <a:t>근거수준</a:t>
                      </a:r>
                    </a:p>
                  </a:txBody>
                  <a:tcPr marL="73152" marR="54864" marT="18288" marB="18288" anchor="ctr">
                    <a:solidFill>
                      <a:srgbClr val="1B355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 i="0">
                          <a:solidFill>
                            <a:srgbClr val="FFFFFF"/>
                          </a:solidFill>
                          <a:latin typeface="NanumGothic"/>
                          <a:ea typeface="NanumGothic"/>
                        </a:rPr>
                        <a:t>권고</a:t>
                      </a:r>
                    </a:p>
                  </a:txBody>
                  <a:tcPr marL="73152" marR="54864" marT="18288" marB="18288" anchor="ctr">
                    <a:solidFill>
                      <a:srgbClr val="1B355E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A202C"/>
                          </a:solidFill>
                          <a:latin typeface="NanumGothic"/>
                          <a:ea typeface="NanumGothic"/>
                        </a:rPr>
                        <a:t>요추교감신경차단(LSB)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202C"/>
                          </a:solidFill>
                          <a:latin typeface="NanumGothic"/>
                          <a:ea typeface="NanumGothic"/>
                        </a:rPr>
                        <a:t>없음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202C"/>
                          </a:solidFill>
                          <a:latin typeface="NanumGothic"/>
                          <a:ea typeface="NanumGothic"/>
                        </a:rPr>
                        <a:t>Level V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202C"/>
                          </a:solidFill>
                          <a:latin typeface="NanumGothic"/>
                          <a:ea typeface="NanumGothic"/>
                        </a:rPr>
                        <a:t>특발성 X · PAD/CRPS만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A202C"/>
                          </a:solidFill>
                          <a:latin typeface="NanumGothic"/>
                          <a:ea typeface="NanumGothic"/>
                        </a:rPr>
                        <a:t>경막외/SNRB</a:t>
                      </a:r>
                    </a:p>
                  </a:txBody>
                  <a:tcPr marL="73152" marR="54864" marT="18288" marB="18288" anchor="ctr"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202C"/>
                          </a:solidFill>
                          <a:latin typeface="NanumGothic"/>
                          <a:ea typeface="NanumGothic"/>
                        </a:rPr>
                        <a:t>없음</a:t>
                      </a:r>
                    </a:p>
                  </a:txBody>
                  <a:tcPr marL="73152" marR="54864" marT="18288" marB="18288" anchor="ctr"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202C"/>
                          </a:solidFill>
                          <a:latin typeface="NanumGothic"/>
                          <a:ea typeface="NanumGothic"/>
                        </a:rPr>
                        <a:t>II~IV(연관)/V</a:t>
                      </a:r>
                    </a:p>
                  </a:txBody>
                  <a:tcPr marL="73152" marR="54864" marT="18288" marB="18288" anchor="ctr"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202C"/>
                          </a:solidFill>
                          <a:latin typeface="NanumGothic"/>
                          <a:ea typeface="NanumGothic"/>
                        </a:rPr>
                        <a:t>방사통 목적, 경련 부수</a:t>
                      </a:r>
                    </a:p>
                  </a:txBody>
                  <a:tcPr marL="73152" marR="54864" marT="18288" marB="18288" anchor="ctr">
                    <a:solidFill>
                      <a:srgbClr val="EEF2F6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A202C"/>
                          </a:solidFill>
                          <a:latin typeface="NanumGothic"/>
                          <a:ea typeface="NanumGothic"/>
                        </a:rPr>
                        <a:t>체외충격파(ESWT)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202C"/>
                          </a:solidFill>
                          <a:latin typeface="NanumGothic"/>
                          <a:ea typeface="NanumGothic"/>
                        </a:rPr>
                        <a:t>후향 1편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202C"/>
                          </a:solidFill>
                          <a:latin typeface="NanumGothic"/>
                          <a:ea typeface="NanumGothic"/>
                        </a:rPr>
                        <a:t>경직 I~II/경련 III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202C"/>
                          </a:solidFill>
                          <a:latin typeface="NanumGothic"/>
                          <a:ea typeface="NanumGothic"/>
                        </a:rPr>
                        <a:t>보조 시도 가능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A202C"/>
                          </a:solidFill>
                          <a:latin typeface="NanumGothic"/>
                          <a:ea typeface="NanumGothic"/>
                        </a:rPr>
                        <a:t>경골/비골 신경주사</a:t>
                      </a:r>
                    </a:p>
                  </a:txBody>
                  <a:tcPr marL="73152" marR="54864" marT="18288" marB="18288" anchor="ctr"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202C"/>
                          </a:solidFill>
                          <a:latin typeface="NanumGothic"/>
                          <a:ea typeface="NanumGothic"/>
                        </a:rPr>
                        <a:t>1편+BTX RCT</a:t>
                      </a:r>
                    </a:p>
                  </a:txBody>
                  <a:tcPr marL="73152" marR="54864" marT="18288" marB="18288" anchor="ctr"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202C"/>
                          </a:solidFill>
                          <a:latin typeface="NanumGothic"/>
                          <a:ea typeface="NanumGothic"/>
                        </a:rPr>
                        <a:t>II(BTX)/III~IV</a:t>
                      </a:r>
                    </a:p>
                  </a:txBody>
                  <a:tcPr marL="73152" marR="54864" marT="18288" marB="18288" anchor="ctr"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202C"/>
                          </a:solidFill>
                          <a:latin typeface="NanumGothic"/>
                          <a:ea typeface="NanumGothic"/>
                        </a:rPr>
                        <a:t>낙상 주의·선택적</a:t>
                      </a:r>
                    </a:p>
                  </a:txBody>
                  <a:tcPr marL="73152" marR="54864" marT="18288" marB="18288" anchor="ctr">
                    <a:solidFill>
                      <a:srgbClr val="EEF2F6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A202C"/>
                          </a:solidFill>
                          <a:latin typeface="NanumGothic"/>
                          <a:ea typeface="NanumGothic"/>
                        </a:rPr>
                        <a:t>FGA 부위 주사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202C"/>
                          </a:solidFill>
                          <a:latin typeface="NanumGothic"/>
                          <a:ea typeface="NanumGothic"/>
                        </a:rPr>
                        <a:t>없음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202C"/>
                          </a:solidFill>
                          <a:latin typeface="NanumGothic"/>
                          <a:ea typeface="NanumGothic"/>
                        </a:rPr>
                        <a:t>Level V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202C"/>
                          </a:solidFill>
                          <a:latin typeface="NanumGothic"/>
                          <a:ea typeface="NanumGothic"/>
                        </a:rPr>
                        <a:t>연구단계 가설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A202C"/>
                          </a:solidFill>
                          <a:latin typeface="NanumGothic"/>
                          <a:ea typeface="NanumGothic"/>
                        </a:rPr>
                        <a:t>근육내/유발점 주사</a:t>
                      </a:r>
                    </a:p>
                  </a:txBody>
                  <a:tcPr marL="73152" marR="54864" marT="18288" marB="18288" anchor="ctr"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202C"/>
                          </a:solidFill>
                          <a:latin typeface="NanumGothic"/>
                          <a:ea typeface="NanumGothic"/>
                        </a:rPr>
                        <a:t>BTX·유발점 소규모</a:t>
                      </a:r>
                    </a:p>
                  </a:txBody>
                  <a:tcPr marL="73152" marR="54864" marT="18288" marB="18288" anchor="ctr"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202C"/>
                          </a:solidFill>
                          <a:latin typeface="NanumGothic"/>
                          <a:ea typeface="NanumGothic"/>
                        </a:rPr>
                        <a:t>II(BTX)/III</a:t>
                      </a:r>
                    </a:p>
                  </a:txBody>
                  <a:tcPr marL="73152" marR="54864" marT="18288" marB="18288" anchor="ctr"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202C"/>
                          </a:solidFill>
                          <a:latin typeface="NanumGothic"/>
                          <a:ea typeface="NanumGothic"/>
                        </a:rPr>
                        <a:t>MTrP 뚜렷·불응성</a:t>
                      </a:r>
                    </a:p>
                  </a:txBody>
                  <a:tcPr marL="73152" marR="54864" marT="18288" marB="18288" anchor="ctr">
                    <a:solidFill>
                      <a:srgbClr val="EEF2F6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A202C"/>
                          </a:solidFill>
                          <a:latin typeface="NanumGothic"/>
                          <a:ea typeface="NanumGothic"/>
                        </a:rPr>
                        <a:t>혈관주위 스테로이드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202C"/>
                          </a:solidFill>
                          <a:latin typeface="NanumGothic"/>
                          <a:ea typeface="NanumGothic"/>
                        </a:rPr>
                        <a:t>없음 + 위해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202C"/>
                          </a:solidFill>
                          <a:latin typeface="NanumGothic"/>
                          <a:ea typeface="NanumGothic"/>
                        </a:rPr>
                        <a:t>Level V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202C"/>
                          </a:solidFill>
                          <a:latin typeface="NanumGothic"/>
                          <a:ea typeface="NanumGothic"/>
                        </a:rPr>
                        <a:t>권고 안 함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A202C"/>
                          </a:solidFill>
                          <a:latin typeface="NanumGothic"/>
                          <a:ea typeface="NanumGothic"/>
                        </a:rPr>
                        <a:t>취침 전 약물(RLS약)</a:t>
                      </a:r>
                    </a:p>
                  </a:txBody>
                  <a:tcPr marL="73152" marR="54864" marT="18288" marB="18288" anchor="ctr"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202C"/>
                          </a:solidFill>
                          <a:latin typeface="NanumGothic"/>
                          <a:ea typeface="NanumGothic"/>
                        </a:rPr>
                        <a:t>NLC 근거 없음</a:t>
                      </a:r>
                    </a:p>
                  </a:txBody>
                  <a:tcPr marL="73152" marR="54864" marT="18288" marB="18288" anchor="ctr"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202C"/>
                          </a:solidFill>
                          <a:latin typeface="NanumGothic"/>
                          <a:ea typeface="NanumGothic"/>
                        </a:rPr>
                        <a:t>가이드라인(RLS)</a:t>
                      </a:r>
                    </a:p>
                  </a:txBody>
                  <a:tcPr marL="73152" marR="54864" marT="18288" marB="18288" anchor="ctr"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202C"/>
                          </a:solidFill>
                          <a:latin typeface="NanumGothic"/>
                          <a:ea typeface="NanumGothic"/>
                        </a:rPr>
                        <a:t>NLC/RLS 감별 핵심</a:t>
                      </a:r>
                    </a:p>
                  </a:txBody>
                  <a:tcPr marL="73152" marR="54864" marT="18288" marB="18288" anchor="ctr">
                    <a:solidFill>
                      <a:srgbClr val="EEF2F6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A202C"/>
                          </a:solidFill>
                          <a:latin typeface="NanumGothic"/>
                          <a:ea typeface="NanumGothic"/>
                        </a:rPr>
                        <a:t>기타(스트레칭·원인치료)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202C"/>
                          </a:solidFill>
                          <a:latin typeface="NanumGothic"/>
                          <a:ea typeface="NanumGothic"/>
                        </a:rPr>
                        <a:t>스트레칭 RCT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202C"/>
                          </a:solidFill>
                          <a:latin typeface="NanumGothic"/>
                          <a:ea typeface="NanumGothic"/>
                        </a:rPr>
                        <a:t>I~II(일부)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202C"/>
                          </a:solidFill>
                          <a:latin typeface="NanumGothic"/>
                          <a:ea typeface="NanumGothic"/>
                        </a:rPr>
                        <a:t>1차 · 최우선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731520" y="6455664"/>
            <a:ext cx="98755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5A6B7B"/>
                </a:solidFill>
                <a:latin typeface="NanumGothic"/>
                <a:ea typeface="NanumGothic"/>
              </a:rPr>
              <a:t>근거: 근거수준: I(SR/MA)·II(RCT)·III(비무작위)·IV(관찰)·V(전문가/기전)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64240" y="6455664"/>
            <a:ext cx="82296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5A6B7B"/>
                </a:solidFill>
                <a:latin typeface="NanumGothic"/>
                <a:ea typeface="NanumGothic"/>
              </a:rPr>
              <a:t>32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C8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4008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9FE0D8"/>
                </a:solidFill>
                <a:latin typeface="NanumGothic"/>
                <a:ea typeface="NanumGothic"/>
              </a:rPr>
              <a:t>핵심 메시지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097280"/>
            <a:ext cx="10515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2300" b="1" i="0">
                <a:solidFill>
                  <a:srgbClr val="FFFFFF"/>
                </a:solidFill>
                <a:latin typeface="NanumGothic"/>
                <a:ea typeface="NanumGothic"/>
              </a:rPr>
              <a:t>"밤에 깨는 다리 증상"의 성패는 시술이 아니라 감별에서 갈린다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185416"/>
            <a:ext cx="146304" cy="603504"/>
          </a:xfrm>
          <a:prstGeom prst="rect">
            <a:avLst/>
          </a:prstGeom>
          <a:solidFill>
            <a:srgbClr val="2C8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2148840"/>
            <a:ext cx="274320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 i="0">
                <a:solidFill>
                  <a:srgbClr val="9FE0D8"/>
                </a:solidFill>
                <a:latin typeface="NanumGothic"/>
                <a:ea typeface="NanumGothic"/>
              </a:rPr>
              <a:t>가장 확실한 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31920" y="2148840"/>
            <a:ext cx="758952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FFFFFF"/>
                </a:solidFill>
                <a:latin typeface="NanumGothic"/>
                <a:ea typeface="NanumGothic"/>
              </a:rPr>
              <a:t>정확한 감별 · 원인질환 교정 · 취침 전 스트레칭 · 유발약물 검토가 관리의 근간.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3026664"/>
            <a:ext cx="146304" cy="603504"/>
          </a:xfrm>
          <a:prstGeom prst="rect">
            <a:avLst/>
          </a:prstGeom>
          <a:solidFill>
            <a:srgbClr val="2C8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43000" y="2990088"/>
            <a:ext cx="274320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 i="0">
                <a:solidFill>
                  <a:srgbClr val="9FE0D8"/>
                </a:solidFill>
                <a:latin typeface="NanumGothic"/>
                <a:ea typeface="NanumGothic"/>
              </a:rPr>
              <a:t>효과 있는 주사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31920" y="2990088"/>
            <a:ext cx="758952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FFFFFF"/>
                </a:solidFill>
                <a:latin typeface="NanumGothic"/>
                <a:ea typeface="NanumGothic"/>
              </a:rPr>
              <a:t>BTX(비복근, RCT) / 국소마취제 유발점주사·dry needling(MTrP 동반) / 심비골신경 차단(Imura). 불응성에 선택적.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3867912"/>
            <a:ext cx="146304" cy="603504"/>
          </a:xfrm>
          <a:prstGeom prst="rect">
            <a:avLst/>
          </a:prstGeom>
          <a:solidFill>
            <a:srgbClr val="2C8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43000" y="3831336"/>
            <a:ext cx="274320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 i="0">
                <a:solidFill>
                  <a:srgbClr val="9FE0D8"/>
                </a:solidFill>
                <a:latin typeface="NanumGothic"/>
                <a:ea typeface="NanumGothic"/>
              </a:rPr>
              <a:t>타당하나 제한적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31920" y="3831336"/>
            <a:ext cx="758952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FFFFFF"/>
                </a:solidFill>
                <a:latin typeface="NanumGothic"/>
                <a:ea typeface="NanumGothic"/>
              </a:rPr>
              <a:t>ESWT는 경직 근거는 강하나 경련 직접근거는 약함 → 보조·근거형성 중.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" y="4709160"/>
            <a:ext cx="146304" cy="603504"/>
          </a:xfrm>
          <a:prstGeom prst="rect">
            <a:avLst/>
          </a:prstGeom>
          <a:solidFill>
            <a:srgbClr val="2C8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43000" y="4672584"/>
            <a:ext cx="274320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 i="0">
                <a:solidFill>
                  <a:srgbClr val="9FE0D8"/>
                </a:solidFill>
                <a:latin typeface="NanumGothic"/>
                <a:ea typeface="NanumGothic"/>
              </a:rPr>
              <a:t>근거 없음·비권고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31920" y="4672584"/>
            <a:ext cx="758952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FFFFFF"/>
                </a:solidFill>
                <a:latin typeface="NanumGothic"/>
                <a:ea typeface="NanumGothic"/>
              </a:rPr>
              <a:t>마그네슘(특발성 무효), 혈관주위 스테로이드(위해), FGA·특발성 LSB는 표준치료 아님.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" y="5550408"/>
            <a:ext cx="146304" cy="603504"/>
          </a:xfrm>
          <a:prstGeom prst="rect">
            <a:avLst/>
          </a:prstGeom>
          <a:solidFill>
            <a:srgbClr val="2C8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43000" y="5513832"/>
            <a:ext cx="274320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 i="0">
                <a:solidFill>
                  <a:srgbClr val="9FE0D8"/>
                </a:solidFill>
                <a:latin typeface="NanumGothic"/>
                <a:ea typeface="NanumGothic"/>
              </a:rPr>
              <a:t>약물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931920" y="5513832"/>
            <a:ext cx="758952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FFFFFF"/>
                </a:solidFill>
                <a:latin typeface="NanumGothic"/>
                <a:ea typeface="NanumGothic"/>
              </a:rPr>
              <a:t>근거 약함 → 개별화. quinine은 FDA 경고로 일상 회피. pramipexole/pregabalin은 RLS 약 → 감별.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10896"/>
            <a:ext cx="109728" cy="457200"/>
          </a:xfrm>
          <a:prstGeom prst="rect">
            <a:avLst/>
          </a:prstGeom>
          <a:solidFill>
            <a:srgbClr val="2C8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37744"/>
            <a:ext cx="969264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2500" b="1" i="0">
                <a:solidFill>
                  <a:srgbClr val="1B355E"/>
                </a:solidFill>
                <a:latin typeface="NanumGothic"/>
                <a:ea typeface="NanumGothic"/>
              </a:rPr>
              <a:t>참고문헌 (1/2) — 비약물 · 주사 · 기전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109728"/>
            <a:ext cx="7315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1F6E70"/>
                </a:solidFill>
                <a:latin typeface="NanumGothic"/>
                <a:ea typeface="NanumGothic"/>
              </a:rPr>
              <a:t>참고문헌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969264"/>
            <a:ext cx="10881360" cy="17780"/>
          </a:xfrm>
          <a:prstGeom prst="rect">
            <a:avLst/>
          </a:prstGeom>
          <a:solidFill>
            <a:srgbClr val="D5D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381183" y="365760"/>
            <a:ext cx="1307592" cy="347472"/>
          </a:xfrm>
          <a:prstGeom prst="roundRect">
            <a:avLst>
              <a:gd name="adj" fmla="val 8000"/>
            </a:avLst>
          </a:prstGeom>
          <a:solidFill>
            <a:srgbClr val="2C8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381183" y="365760"/>
            <a:ext cx="130759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FFFFFF"/>
                </a:solidFill>
                <a:latin typeface="NanumGothic"/>
                <a:ea typeface="NanumGothic"/>
              </a:rPr>
              <a:t>References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371600"/>
            <a:ext cx="5257800" cy="4846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700"/>
              </a:spcAft>
            </a:pPr>
            <a:r>
              <a:rPr sz="1050" b="0" i="0">
                <a:solidFill>
                  <a:srgbClr val="1A202C"/>
                </a:solidFill>
                <a:latin typeface="NanumGothic"/>
                <a:ea typeface="NanumGothic"/>
              </a:rPr>
              <a:t>Hallegraeff JM, et al. Stretching before sleep reduces nocturnal leg cramps in older adults: RCT. J Physiother. 2012;58(1):17-22. PMID 22341378.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700"/>
              </a:spcAft>
            </a:pPr>
            <a:r>
              <a:rPr sz="1050" b="0" i="0">
                <a:solidFill>
                  <a:srgbClr val="1A202C"/>
                </a:solidFill>
                <a:latin typeface="NanumGothic"/>
                <a:ea typeface="NanumGothic"/>
              </a:rPr>
              <a:t>Garrison SR, et al. Nocturnal leg cramps and prescription use: sequence symmetry analysis. Arch Intern Med. 2012;172(2):120-6. PMID 22157068.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700"/>
              </a:spcAft>
            </a:pPr>
            <a:r>
              <a:rPr sz="1050" b="0" i="0">
                <a:solidFill>
                  <a:srgbClr val="1A202C"/>
                </a:solidFill>
                <a:latin typeface="NanumGothic"/>
                <a:ea typeface="NanumGothic"/>
              </a:rPr>
              <a:t>Park SJ, et al. Botulinum toxin for nocturnal calf cramps in LSS: RCT. Arch Phys Med Rehabil. 2017;98(5):957-63. PMID 28209505.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700"/>
              </a:spcAft>
            </a:pPr>
            <a:r>
              <a:rPr sz="1050" b="0" i="0">
                <a:solidFill>
                  <a:srgbClr val="1A202C"/>
                </a:solidFill>
                <a:latin typeface="NanumGothic"/>
                <a:ea typeface="NanumGothic"/>
              </a:rPr>
              <a:t>Restivo DA, et al. Efficacy of Botulinum Toxin A for cramps in diabetic neuropathy. Ann Neurol. 2018;84(5):674-82. PMID 30225985.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700"/>
              </a:spcAft>
            </a:pPr>
            <a:r>
              <a:rPr sz="1050" b="0" i="0">
                <a:solidFill>
                  <a:srgbClr val="1A202C"/>
                </a:solidFill>
                <a:latin typeface="NanumGothic"/>
                <a:ea typeface="NanumGothic"/>
              </a:rPr>
              <a:t>Kim DH, et al. Myofascial trigger point injections on nocturnal calf cramps. J Am Board Fam Med. 2015;28(1):21-7. PMID 25567819.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700"/>
              </a:spcAft>
            </a:pPr>
            <a:r>
              <a:rPr sz="1050" b="0" i="0">
                <a:solidFill>
                  <a:srgbClr val="1A202C"/>
                </a:solidFill>
                <a:latin typeface="NanumGothic"/>
                <a:ea typeface="NanumGothic"/>
              </a:rPr>
              <a:t>Prateepavanich P, et al. MTrP of gastrocnemius and nocturnal calf cramps. J Med Assoc Thai. 1999;82(5):451-9. PMID 10443094.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1371600"/>
            <a:ext cx="5257800" cy="4846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700"/>
              </a:spcAft>
            </a:pPr>
            <a:r>
              <a:rPr sz="1050" b="0" i="0">
                <a:solidFill>
                  <a:srgbClr val="1A202C"/>
                </a:solidFill>
                <a:latin typeface="NanumGothic"/>
                <a:ea typeface="NanumGothic"/>
              </a:rPr>
              <a:t>Temel MH, et al. Dry needling on nocturnal calf cramps: RCS. Turk J Osteoporos. 2023;29(3):170-6.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700"/>
              </a:spcAft>
            </a:pPr>
            <a:r>
              <a:rPr sz="1050" b="0" i="0">
                <a:solidFill>
                  <a:srgbClr val="1A202C"/>
                </a:solidFill>
                <a:latin typeface="NanumGothic"/>
                <a:ea typeface="NanumGothic"/>
              </a:rPr>
              <a:t>Bagcier F, Yurdakul OV. Dry needling of MTrP in nocturnal calf cramp. J Am Board Fam Med. 2021;34(1):245-6. PMID 33452105.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700"/>
              </a:spcAft>
            </a:pPr>
            <a:r>
              <a:rPr sz="1050" b="0" i="0">
                <a:solidFill>
                  <a:srgbClr val="1A202C"/>
                </a:solidFill>
                <a:latin typeface="NanumGothic"/>
                <a:ea typeface="NanumGothic"/>
              </a:rPr>
              <a:t>Imura T, et al. Nocturnal leg cramps treated by deep peroneal nerve medial branch block. Brain Behav. 2015;5(9):e00370. PMID 26445706.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700"/>
              </a:spcAft>
            </a:pPr>
            <a:r>
              <a:rPr sz="1050" b="0" i="0">
                <a:solidFill>
                  <a:srgbClr val="1A202C"/>
                </a:solidFill>
                <a:latin typeface="NanumGothic"/>
                <a:ea typeface="NanumGothic"/>
              </a:rPr>
              <a:t>Minetto MA, et al. Mechanisms of cramp contractions: peripheral or central? J Physiol. 2011;589:5759-73. PMID 21969448.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700"/>
              </a:spcAft>
            </a:pPr>
            <a:r>
              <a:rPr sz="1050" b="0" i="0">
                <a:solidFill>
                  <a:srgbClr val="1A202C"/>
                </a:solidFill>
                <a:latin typeface="NanumGothic"/>
                <a:ea typeface="NanumGothic"/>
              </a:rPr>
              <a:t>Miller TM, Layzer RB. Muscle cramps. Muscle Nerve. 2005;32(4):431-42. PMID 15902691.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700"/>
              </a:spcAft>
            </a:pPr>
            <a:r>
              <a:rPr sz="1050" b="0" i="0">
                <a:solidFill>
                  <a:srgbClr val="1A202C"/>
                </a:solidFill>
                <a:latin typeface="NanumGothic"/>
                <a:ea typeface="NanumGothic"/>
              </a:rPr>
              <a:t>Khan SI, Burne JA. Reflex inhibition of cramp by tendon stimulation. J Neurophysiol. 2007;98(3):1102-7. PMID 17634341.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6455664"/>
            <a:ext cx="98755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5A6B7B"/>
                </a:solidFill>
                <a:latin typeface="NanumGothic"/>
                <a:ea typeface="NanumGothic"/>
              </a:rPr>
              <a:t>근거: PubMed/PMC 대조 검증 완료 — 조작·확인불가 인용 없음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64240" y="6455664"/>
            <a:ext cx="82296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5A6B7B"/>
                </a:solidFill>
                <a:latin typeface="NanumGothic"/>
                <a:ea typeface="NanumGothic"/>
              </a:rPr>
              <a:t>34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10896"/>
            <a:ext cx="109728" cy="457200"/>
          </a:xfrm>
          <a:prstGeom prst="rect">
            <a:avLst/>
          </a:prstGeom>
          <a:solidFill>
            <a:srgbClr val="2C8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37744"/>
            <a:ext cx="969264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2500" b="1" i="0">
                <a:solidFill>
                  <a:srgbClr val="1B355E"/>
                </a:solidFill>
                <a:latin typeface="NanumGothic"/>
                <a:ea typeface="NanumGothic"/>
              </a:rPr>
              <a:t>참고문헌 (2/2) — 충격파 · 약물 · 감별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109728"/>
            <a:ext cx="7315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1F6E70"/>
                </a:solidFill>
                <a:latin typeface="NanumGothic"/>
                <a:ea typeface="NanumGothic"/>
              </a:rPr>
              <a:t>참고문헌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969264"/>
            <a:ext cx="10881360" cy="17780"/>
          </a:xfrm>
          <a:prstGeom prst="rect">
            <a:avLst/>
          </a:prstGeom>
          <a:solidFill>
            <a:srgbClr val="D5D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381183" y="365760"/>
            <a:ext cx="1307592" cy="347472"/>
          </a:xfrm>
          <a:prstGeom prst="roundRect">
            <a:avLst>
              <a:gd name="adj" fmla="val 8000"/>
            </a:avLst>
          </a:prstGeom>
          <a:solidFill>
            <a:srgbClr val="2C8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381183" y="365760"/>
            <a:ext cx="130759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FFFFFF"/>
                </a:solidFill>
                <a:latin typeface="NanumGothic"/>
                <a:ea typeface="NanumGothic"/>
              </a:rPr>
              <a:t>References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371600"/>
            <a:ext cx="5257800" cy="4846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700"/>
              </a:spcAft>
            </a:pPr>
            <a:r>
              <a:rPr sz="1050" b="0" i="0">
                <a:solidFill>
                  <a:srgbClr val="1A202C"/>
                </a:solidFill>
                <a:latin typeface="NanumGothic"/>
                <a:ea typeface="NanumGothic"/>
              </a:rPr>
              <a:t>Li BZ, et al. ESWT reduces leg cramps in lumbar degenerative disorders: retrospective. Biomed Res Int. 2021;2021:3554397. PMID 34734084.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700"/>
              </a:spcAft>
            </a:pPr>
            <a:r>
              <a:rPr sz="1050" b="0" i="0">
                <a:solidFill>
                  <a:srgbClr val="1A202C"/>
                </a:solidFill>
                <a:latin typeface="NanumGothic"/>
                <a:ea typeface="NanumGothic"/>
              </a:rPr>
              <a:t>Otero-Luis I, et al. ESWT for spasticity: systematic review &amp; meta-analysis. J Clin Med. 2024;13(5):1323. PMID 38592705.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700"/>
              </a:spcAft>
            </a:pPr>
            <a:r>
              <a:rPr sz="1050" b="0" i="0">
                <a:solidFill>
                  <a:srgbClr val="1A202C"/>
                </a:solidFill>
                <a:latin typeface="NanumGothic"/>
                <a:ea typeface="NanumGothic"/>
              </a:rPr>
              <a:t>Mihai EE, et al. Long-term ESWT on lower-limb post-stroke spasticity: SR/MA. J Clin Med. 2020;10(1):86. PMID 33383655.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700"/>
              </a:spcAft>
            </a:pPr>
            <a:r>
              <a:rPr sz="1050" b="0" i="0">
                <a:solidFill>
                  <a:srgbClr val="1A202C"/>
                </a:solidFill>
                <a:latin typeface="NanumGothic"/>
                <a:ea typeface="NanumGothic"/>
              </a:rPr>
              <a:t>Yang E, et al. Recent advances in spasticity: ESWT (mechanism review). J Clin Med. 2021;10(20):4723. PMID 34682846.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700"/>
              </a:spcAft>
            </a:pPr>
            <a:r>
              <a:rPr sz="1050" b="0" i="0">
                <a:solidFill>
                  <a:srgbClr val="1A202C"/>
                </a:solidFill>
                <a:latin typeface="NanumGothic"/>
                <a:ea typeface="NanumGothic"/>
              </a:rPr>
              <a:t>El-Tawil S, et al. Quinine for muscle cramps. Cochrane Database Syst Rev. 2015;(4):CD005044. PMID 25842375.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700"/>
              </a:spcAft>
            </a:pPr>
            <a:r>
              <a:rPr sz="1050" b="0" i="0">
                <a:solidFill>
                  <a:srgbClr val="1A202C"/>
                </a:solidFill>
                <a:latin typeface="NanumGothic"/>
                <a:ea typeface="NanumGothic"/>
              </a:rPr>
              <a:t>Katzberg HD, et al. Symptomatic treatment for muscle cramps (AAN evidence review). Neurology. 2010;74(8):691-6. PMID 20177124.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700"/>
              </a:spcAft>
            </a:pPr>
            <a:r>
              <a:rPr sz="1050" b="0" i="0">
                <a:solidFill>
                  <a:srgbClr val="1A202C"/>
                </a:solidFill>
                <a:latin typeface="NanumGothic"/>
                <a:ea typeface="NanumGothic"/>
              </a:rPr>
              <a:t>Garrison SR, et al. Magnesium for skeletal muscle cramps. Cochrane Database Syst Rev. 2020;9:CD009402. PMID 32956536.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1371600"/>
            <a:ext cx="5257800" cy="4846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700"/>
              </a:spcAft>
            </a:pPr>
            <a:r>
              <a:rPr sz="1050" b="0" i="0">
                <a:solidFill>
                  <a:srgbClr val="1A202C"/>
                </a:solidFill>
                <a:latin typeface="NanumGothic"/>
                <a:ea typeface="NanumGothic"/>
              </a:rPr>
              <a:t>Chan P, et al. Vitamin B complex for nocturnal leg cramps: RCT. J Clin Pharmacol. 1998;38(12):1151-4. PMID 11301568.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700"/>
              </a:spcAft>
            </a:pPr>
            <a:r>
              <a:rPr sz="1050" b="0" i="0">
                <a:solidFill>
                  <a:srgbClr val="1A202C"/>
                </a:solidFill>
                <a:latin typeface="NanumGothic"/>
                <a:ea typeface="NanumGothic"/>
              </a:rPr>
              <a:t>Voon WC, Sheu SH. Diltiazem for nocturnal leg cramps. Age Ageing. 2001;30(1):91-2. PMID 11322688.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700"/>
              </a:spcAft>
            </a:pPr>
            <a:r>
              <a:rPr sz="1050" b="0" i="0">
                <a:solidFill>
                  <a:srgbClr val="1A202C"/>
                </a:solidFill>
                <a:latin typeface="NanumGothic"/>
                <a:ea typeface="NanumGothic"/>
              </a:rPr>
              <a:t>Tan J, et al. Vitamin K2 in nocturnal leg cramps: RCT. JAMA Intern Med. 2024;184(12):1443-7. PMID 39466236 (정정·교체 2025).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700"/>
              </a:spcAft>
            </a:pPr>
            <a:r>
              <a:rPr sz="1050" b="0" i="0">
                <a:solidFill>
                  <a:srgbClr val="1A202C"/>
                </a:solidFill>
                <a:latin typeface="NanumGothic"/>
                <a:ea typeface="NanumGothic"/>
              </a:rPr>
              <a:t>Allen RP, et al. Pregabalin vs pramipexole for RLS. N Engl J Med. 2014;370(7):621-31. PMID 24521108.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700"/>
              </a:spcAft>
            </a:pPr>
            <a:r>
              <a:rPr sz="1050" b="0" i="0">
                <a:solidFill>
                  <a:srgbClr val="1A202C"/>
                </a:solidFill>
                <a:latin typeface="NanumGothic"/>
                <a:ea typeface="NanumGothic"/>
              </a:rPr>
              <a:t>Winkelman JW, et al. AASM clinical practice guideline: RLS/PLMD. J Clin Sleep Med. 2025;21(1):137-52. PMID 39324694.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700"/>
              </a:spcAft>
            </a:pPr>
            <a:r>
              <a:rPr sz="1050" b="0" i="0">
                <a:solidFill>
                  <a:srgbClr val="1A202C"/>
                </a:solidFill>
                <a:latin typeface="NanumGothic"/>
                <a:ea typeface="NanumGothic"/>
              </a:rPr>
              <a:t>Pedret C, et al. Ultrasound classification of medial gastrocnemius injuries. Scand J Med Sci Sports. 2020;30(12):2456-65. PMID 32854168.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700"/>
              </a:spcAft>
            </a:pPr>
            <a:r>
              <a:rPr sz="1050" b="0" i="0">
                <a:solidFill>
                  <a:srgbClr val="1A202C"/>
                </a:solidFill>
                <a:latin typeface="NanumGothic"/>
                <a:ea typeface="NanumGothic"/>
              </a:rPr>
              <a:t>Allen RE, Kirby KA. Nocturnal leg cramps. Am Fam Physician. 2012;86(4):350-5. PMID 22963024.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6455664"/>
            <a:ext cx="98755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5A6B7B"/>
                </a:solidFill>
                <a:latin typeface="NanumGothic"/>
                <a:ea typeface="NanumGothic"/>
              </a:rPr>
              <a:t>근거: PubMed/PMC 대조 검증 완료 — 조작·확인불가 인용 없음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64240" y="6455664"/>
            <a:ext cx="82296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5A6B7B"/>
                </a:solidFill>
                <a:latin typeface="NanumGothic"/>
                <a:ea typeface="NanumGothic"/>
              </a:rPr>
              <a:t>35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